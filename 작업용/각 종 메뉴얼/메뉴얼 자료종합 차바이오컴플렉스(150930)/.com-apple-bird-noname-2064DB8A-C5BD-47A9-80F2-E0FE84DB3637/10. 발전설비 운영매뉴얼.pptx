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83" r:id="rId2"/>
    <p:sldId id="285" r:id="rId3"/>
    <p:sldId id="272" r:id="rId4"/>
    <p:sldId id="291" r:id="rId5"/>
    <p:sldId id="290" r:id="rId6"/>
    <p:sldId id="293" r:id="rId7"/>
    <p:sldId id="275" r:id="rId8"/>
    <p:sldId id="292" r:id="rId9"/>
    <p:sldId id="294" r:id="rId10"/>
  </p:sldIdLst>
  <p:sldSz cx="9906000" cy="6858000" type="A4"/>
  <p:notesSz cx="9866313" cy="14093825"/>
  <p:embeddedFontLst>
    <p:embeddedFont>
      <p:font typeface="맑은 고딕" panose="020B0503020000020004" pitchFamily="50" charset="-127"/>
      <p:regular r:id="rId13"/>
      <p:bold r:id="rId14"/>
    </p:embeddedFont>
    <p:embeddedFont>
      <p:font typeface="HY헤드라인M" panose="02030600000101010101" pitchFamily="18" charset="-127"/>
      <p:regular r:id="rId15"/>
    </p:embeddedFont>
    <p:embeddedFont>
      <p:font typeface="Trebuchet MS" panose="020B0603020202020204" pitchFamily="34" charset="0"/>
      <p:regular r:id="rId16"/>
      <p:bold r:id="rId17"/>
      <p:italic r:id="rId18"/>
      <p:boldItalic r:id="rId19"/>
    </p:embeddedFont>
  </p:embeddedFontLst>
  <p:defaultTextStyle>
    <a:defPPr>
      <a:defRPr lang="ko-KR"/>
    </a:defPPr>
    <a:lvl1pPr algn="l" rtl="0" fontAlgn="base" latinLnBrk="1">
      <a:spcBef>
        <a:spcPct val="5000"/>
      </a:spcBef>
      <a:spcAft>
        <a:spcPct val="0"/>
      </a:spcAft>
      <a:defRPr kumimoji="1" sz="1000" kern="1200">
        <a:solidFill>
          <a:schemeClr val="tx1"/>
        </a:solidFill>
        <a:latin typeface="Trebuchet MS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5000"/>
      </a:spcBef>
      <a:spcAft>
        <a:spcPct val="0"/>
      </a:spcAft>
      <a:defRPr kumimoji="1" sz="1000" kern="1200">
        <a:solidFill>
          <a:schemeClr val="tx1"/>
        </a:solidFill>
        <a:latin typeface="Trebuchet MS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5000"/>
      </a:spcBef>
      <a:spcAft>
        <a:spcPct val="0"/>
      </a:spcAft>
      <a:defRPr kumimoji="1" sz="1000" kern="1200">
        <a:solidFill>
          <a:schemeClr val="tx1"/>
        </a:solidFill>
        <a:latin typeface="Trebuchet MS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5000"/>
      </a:spcBef>
      <a:spcAft>
        <a:spcPct val="0"/>
      </a:spcAft>
      <a:defRPr kumimoji="1" sz="1000" kern="1200">
        <a:solidFill>
          <a:schemeClr val="tx1"/>
        </a:solidFill>
        <a:latin typeface="Trebuchet MS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5000"/>
      </a:spcBef>
      <a:spcAft>
        <a:spcPct val="0"/>
      </a:spcAft>
      <a:defRPr kumimoji="1" sz="1000" kern="1200">
        <a:solidFill>
          <a:schemeClr val="tx1"/>
        </a:solidFill>
        <a:latin typeface="Trebuchet MS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Trebuchet MS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Trebuchet MS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Trebuchet MS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Trebuchet MS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3890"/>
    <a:srgbClr val="0000FF"/>
    <a:srgbClr val="FF33CC"/>
    <a:srgbClr val="009900"/>
    <a:srgbClr val="99FF66"/>
    <a:srgbClr val="FF99FF"/>
    <a:srgbClr val="FFCCFF"/>
    <a:srgbClr val="5F5F5F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34" autoAdjust="0"/>
    <p:restoredTop sz="97341" autoAdjust="0"/>
  </p:normalViewPr>
  <p:slideViewPr>
    <p:cSldViewPr>
      <p:cViewPr varScale="1">
        <p:scale>
          <a:sx n="102" d="100"/>
          <a:sy n="102" d="100"/>
        </p:scale>
        <p:origin x="-102" y="-168"/>
      </p:cViewPr>
      <p:guideLst>
        <p:guide orient="horz" pos="4110"/>
        <p:guide pos="4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0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56088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2625" tIns="66312" rIns="132625" bIns="66312" numCol="1" anchor="t" anchorCtr="0" compatLnSpc="1">
            <a:prstTxWarp prst="textNoShape">
              <a:avLst/>
            </a:prstTxWarp>
          </a:bodyPr>
          <a:lstStyle>
            <a:lvl1pPr defTabSz="1325563">
              <a:spcBef>
                <a:spcPct val="0"/>
              </a:spcBef>
              <a:defRPr sz="1700" b="1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65775" y="0"/>
            <a:ext cx="4257675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2625" tIns="66312" rIns="132625" bIns="66312" numCol="1" anchor="t" anchorCtr="0" compatLnSpc="1">
            <a:prstTxWarp prst="textNoShape">
              <a:avLst/>
            </a:prstTxWarp>
          </a:bodyPr>
          <a:lstStyle>
            <a:lvl1pPr algn="r" defTabSz="1325563">
              <a:spcBef>
                <a:spcPct val="0"/>
              </a:spcBef>
              <a:defRPr sz="1700" b="1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22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13385800"/>
            <a:ext cx="4256088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2625" tIns="66312" rIns="132625" bIns="66312" numCol="1" anchor="b" anchorCtr="0" compatLnSpc="1">
            <a:prstTxWarp prst="textNoShape">
              <a:avLst/>
            </a:prstTxWarp>
          </a:bodyPr>
          <a:lstStyle>
            <a:lvl1pPr defTabSz="1325563">
              <a:spcBef>
                <a:spcPct val="0"/>
              </a:spcBef>
              <a:defRPr sz="1700" b="1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22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65775" y="13385800"/>
            <a:ext cx="4257675" cy="696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2625" tIns="66312" rIns="132625" bIns="66312" numCol="1" anchor="b" anchorCtr="0" compatLnSpc="1">
            <a:prstTxWarp prst="textNoShape">
              <a:avLst/>
            </a:prstTxWarp>
          </a:bodyPr>
          <a:lstStyle>
            <a:lvl1pPr algn="r" defTabSz="1325563">
              <a:spcBef>
                <a:spcPct val="0"/>
              </a:spcBef>
              <a:defRPr sz="1700" b="1"/>
            </a:lvl1pPr>
          </a:lstStyle>
          <a:p>
            <a:pPr>
              <a:defRPr/>
            </a:pPr>
            <a:fld id="{A7727C2D-11A8-4AA3-8D38-70238288134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95015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273550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2625" tIns="66312" rIns="132625" bIns="66312" numCol="1" anchor="t" anchorCtr="0" compatLnSpc="1">
            <a:prstTxWarp prst="textNoShape">
              <a:avLst/>
            </a:prstTxWarp>
          </a:bodyPr>
          <a:lstStyle>
            <a:lvl1pPr defTabSz="1325563">
              <a:spcBef>
                <a:spcPct val="0"/>
              </a:spcBef>
              <a:defRPr sz="17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89588" y="0"/>
            <a:ext cx="4275137" cy="703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2625" tIns="66312" rIns="132625" bIns="66312" numCol="1" anchor="t" anchorCtr="0" compatLnSpc="1">
            <a:prstTxWarp prst="textNoShape">
              <a:avLst/>
            </a:prstTxWarp>
          </a:bodyPr>
          <a:lstStyle>
            <a:lvl1pPr algn="r" defTabSz="1325563">
              <a:spcBef>
                <a:spcPct val="0"/>
              </a:spcBef>
              <a:defRPr sz="17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6013" y="1057275"/>
            <a:ext cx="7635875" cy="5286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84250" y="6692900"/>
            <a:ext cx="7897813" cy="634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2625" tIns="66312" rIns="132625" bIns="663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13387388"/>
            <a:ext cx="427355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2625" tIns="66312" rIns="132625" bIns="66312" numCol="1" anchor="b" anchorCtr="0" compatLnSpc="1">
            <a:prstTxWarp prst="textNoShape">
              <a:avLst/>
            </a:prstTxWarp>
          </a:bodyPr>
          <a:lstStyle>
            <a:lvl1pPr defTabSz="1325563">
              <a:spcBef>
                <a:spcPct val="0"/>
              </a:spcBef>
              <a:defRPr sz="17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89588" y="13387388"/>
            <a:ext cx="4275137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32625" tIns="66312" rIns="132625" bIns="66312" numCol="1" anchor="b" anchorCtr="0" compatLnSpc="1">
            <a:prstTxWarp prst="textNoShape">
              <a:avLst/>
            </a:prstTxWarp>
          </a:bodyPr>
          <a:lstStyle>
            <a:lvl1pPr algn="r" defTabSz="1325563">
              <a:spcBef>
                <a:spcPct val="0"/>
              </a:spcBef>
              <a:defRPr sz="1700">
                <a:latin typeface="굴림" pitchFamily="50" charset="-127"/>
              </a:defRPr>
            </a:lvl1pPr>
          </a:lstStyle>
          <a:p>
            <a:pPr>
              <a:defRPr/>
            </a:pPr>
            <a:fld id="{DF3F2E9C-9D07-4A7F-BFC8-28B8F8FBFC7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72991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1947F1-4923-4103-ADA7-3092866DCA28}" type="slidenum">
              <a:rPr lang="en-US" altLang="ko-KR" smtClean="0"/>
              <a:pPr/>
              <a:t>4</a:t>
            </a:fld>
            <a:endParaRPr lang="en-US" altLang="ko-KR" smtClean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3950" y="1057275"/>
            <a:ext cx="7624763" cy="5280025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6038" y="6692900"/>
            <a:ext cx="7234237" cy="6343650"/>
          </a:xfrm>
          <a:noFill/>
          <a:ln/>
        </p:spPr>
        <p:txBody>
          <a:bodyPr lIns="124274" tIns="62136" rIns="124274" bIns="62136"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060"/>
          <p:cNvGraphicFramePr>
            <a:graphicFrameLocks noChangeAspect="1"/>
          </p:cNvGraphicFramePr>
          <p:nvPr/>
        </p:nvGraphicFramePr>
        <p:xfrm>
          <a:off x="185738" y="6411913"/>
          <a:ext cx="3810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5" name="패키지" r:id="rId3" imgW="380880" imgH="485640" progId="Package">
                  <p:embed/>
                </p:oleObj>
              </mc:Choice>
              <mc:Fallback>
                <p:oleObj name="패키지" r:id="rId3" imgW="380880" imgH="485640" progId="Package">
                  <p:embed/>
                  <p:pic>
                    <p:nvPicPr>
                      <p:cNvPr id="0" name="Object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738" y="6411913"/>
                        <a:ext cx="381000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064"/>
          <p:cNvSpPr>
            <a:spLocks noChangeArrowheads="1"/>
          </p:cNvSpPr>
          <p:nvPr userDrawn="1"/>
        </p:nvSpPr>
        <p:spPr bwMode="auto">
          <a:xfrm>
            <a:off x="0" y="6553200"/>
            <a:ext cx="9906000" cy="304800"/>
          </a:xfrm>
          <a:prstGeom prst="rect">
            <a:avLst/>
          </a:prstGeom>
          <a:gradFill rotWithShape="0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1600200"/>
            <a:ext cx="89154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8"/>
            <a:ext cx="222885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8"/>
            <a:ext cx="653415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"/>
          <p:cNvSpPr>
            <a:spLocks noChangeArrowheads="1"/>
          </p:cNvSpPr>
          <p:nvPr/>
        </p:nvSpPr>
        <p:spPr bwMode="auto">
          <a:xfrm>
            <a:off x="-9525" y="0"/>
            <a:ext cx="2709317" cy="6858000"/>
          </a:xfrm>
          <a:prstGeom prst="rect">
            <a:avLst/>
          </a:prstGeom>
          <a:solidFill>
            <a:srgbClr val="DDDDD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>
            <a:off x="-9525" y="692696"/>
            <a:ext cx="9915525" cy="1440904"/>
          </a:xfrm>
          <a:prstGeom prst="rect">
            <a:avLst/>
          </a:prstGeom>
          <a:solidFill>
            <a:srgbClr val="0099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50000"/>
              </a:spcBef>
            </a:pPr>
            <a:endParaRPr lang="ko-KR" altLang="en-US" sz="1800">
              <a:solidFill>
                <a:srgbClr val="000000"/>
              </a:solidFill>
            </a:endParaRPr>
          </a:p>
        </p:txBody>
      </p:sp>
      <p:sp>
        <p:nvSpPr>
          <p:cNvPr id="24" name="Rectangle 5"/>
          <p:cNvSpPr>
            <a:spLocks noChangeArrowheads="1"/>
          </p:cNvSpPr>
          <p:nvPr/>
        </p:nvSpPr>
        <p:spPr bwMode="auto">
          <a:xfrm>
            <a:off x="1104900" y="1124744"/>
            <a:ext cx="7696200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4" tIns="45712" rIns="91424" bIns="45712"/>
          <a:lstStyle/>
          <a:p>
            <a:pPr algn="ctr" latinLnBrk="0">
              <a:spcBef>
                <a:spcPct val="0"/>
              </a:spcBef>
            </a:pPr>
            <a:r>
              <a:rPr kumimoji="0" lang="ko-KR" altLang="en-US" sz="3200" b="1" dirty="0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발전설비 운영 </a:t>
            </a:r>
            <a:r>
              <a:rPr kumimoji="0" lang="ko-KR" altLang="en-US" sz="3200" b="1" dirty="0" err="1" smtClean="0">
                <a:solidFill>
                  <a:srgbClr val="000000"/>
                </a:solidFill>
                <a:latin typeface="HY헤드라인M" pitchFamily="18" charset="-127"/>
                <a:ea typeface="HY헤드라인M" pitchFamily="18" charset="-127"/>
              </a:rPr>
              <a:t>메뉴얼</a:t>
            </a:r>
            <a:endParaRPr kumimoji="0" lang="ko-KR" altLang="en-US" sz="3200" b="1" dirty="0">
              <a:solidFill>
                <a:srgbClr val="000000"/>
              </a:solidFill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25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690" y="2489795"/>
            <a:ext cx="511175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862540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/>
          <p:cNvSpPr txBox="1">
            <a:spLocks noChangeArrowheads="1"/>
          </p:cNvSpPr>
          <p:nvPr/>
        </p:nvSpPr>
        <p:spPr bwMode="auto">
          <a:xfrm>
            <a:off x="239691" y="897591"/>
            <a:ext cx="1712913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600075">
              <a:spcBef>
                <a:spcPct val="50000"/>
              </a:spcBef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발전설비  구성도</a:t>
            </a:r>
          </a:p>
        </p:txBody>
      </p:sp>
      <p:graphicFrame>
        <p:nvGraphicFramePr>
          <p:cNvPr id="279769" name="Group 2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678196"/>
              </p:ext>
            </p:extLst>
          </p:nvPr>
        </p:nvGraphicFramePr>
        <p:xfrm>
          <a:off x="344488" y="1186516"/>
          <a:ext cx="9217025" cy="1950720"/>
        </p:xfrm>
        <a:graphic>
          <a:graphicData uri="http://schemas.openxmlformats.org/drawingml/2006/table">
            <a:tbl>
              <a:tblPr/>
              <a:tblGrid>
                <a:gridCol w="1393802"/>
                <a:gridCol w="5786478"/>
                <a:gridCol w="2036745"/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    분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차병원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종합연구원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     고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용   량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1000KW  *   2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★ 2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 단독운전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   류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1899/726A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23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   압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380/220 V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회전수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1800 RPM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7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형   식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공냉식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행정기관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제작사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대흥기전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납품사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상동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162" name="Text Box 136"/>
          <p:cNvSpPr txBox="1">
            <a:spLocks noChangeArrowheads="1"/>
          </p:cNvSpPr>
          <p:nvPr/>
        </p:nvSpPr>
        <p:spPr bwMode="auto">
          <a:xfrm>
            <a:off x="128588" y="3262929"/>
            <a:ext cx="2232025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 anchorCtr="1">
            <a:spAutoFit/>
          </a:bodyPr>
          <a:lstStyle/>
          <a:p>
            <a:pPr defTabSz="600075">
              <a:spcBef>
                <a:spcPct val="50000"/>
              </a:spcBef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발전설비  운영 지침</a:t>
            </a:r>
          </a:p>
        </p:txBody>
      </p:sp>
      <p:graphicFrame>
        <p:nvGraphicFramePr>
          <p:cNvPr id="279768" name="Group 2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963025"/>
              </p:ext>
            </p:extLst>
          </p:nvPr>
        </p:nvGraphicFramePr>
        <p:xfrm>
          <a:off x="379445" y="3563004"/>
          <a:ext cx="9217025" cy="3034348"/>
        </p:xfrm>
        <a:graphic>
          <a:graphicData uri="http://schemas.openxmlformats.org/drawingml/2006/table">
            <a:tbl>
              <a:tblPr/>
              <a:tblGrid>
                <a:gridCol w="1368425"/>
                <a:gridCol w="5761038"/>
                <a:gridCol w="2087562"/>
              </a:tblGrid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       분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점      검       내      용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  고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일일 점검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온도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변색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냉각수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(80%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이상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확보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발전기실온도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(40℃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주간 점검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윤활류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냉각수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LEVEL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점검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정리정돈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외부 먼지제거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발전기 예열히터 상태 점검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(24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시간 가동 확인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밧데리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비중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충전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방전 전압 측정관리  점검관리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◆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일지 기록 관리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월간 점검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♣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무부하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시운전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(4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(5~10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 가동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주파수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회전수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오일압력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냉각수 온도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이상음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냉각수 호스 체결상태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누수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누유상태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확인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윤활유 상태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♣ 부하 시운전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(30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 가동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벨트 장력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오일상태 점검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오염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점도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-"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ATS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절체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정상 작동 점검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◆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일지 기록 관리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분기 점검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♣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발전기 비상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부하량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측정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부하량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및 비상조명 확인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한전 정전 대비 발전기 자동 기동 및 부하 정상 공급 확인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◆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일지 기록 관리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특별 점검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발전기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경정비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및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오버홀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공사 후 부하 시운전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 이상 가동 확인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◆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일지 기록 관리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한쪽 모서리가 잘린 사각형 8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발전설비의 개요</a:t>
            </a:r>
            <a:endParaRPr kumimoji="1" lang="ko-KR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40434"/>
            <a:ext cx="9906000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862540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Oval 419"/>
          <p:cNvSpPr>
            <a:spLocks noChangeArrowheads="1"/>
          </p:cNvSpPr>
          <p:nvPr/>
        </p:nvSpPr>
        <p:spPr bwMode="auto">
          <a:xfrm>
            <a:off x="1935834" y="857250"/>
            <a:ext cx="247650" cy="247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G1</a:t>
            </a:r>
          </a:p>
        </p:txBody>
      </p:sp>
      <p:sp>
        <p:nvSpPr>
          <p:cNvPr id="6148" name="Oval 420"/>
          <p:cNvSpPr>
            <a:spLocks noChangeArrowheads="1"/>
          </p:cNvSpPr>
          <p:nvPr/>
        </p:nvSpPr>
        <p:spPr bwMode="auto">
          <a:xfrm>
            <a:off x="6603908" y="846138"/>
            <a:ext cx="247650" cy="2476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G2</a:t>
            </a:r>
          </a:p>
        </p:txBody>
      </p:sp>
      <p:sp>
        <p:nvSpPr>
          <p:cNvPr id="6149" name="Rectangle 435"/>
          <p:cNvSpPr>
            <a:spLocks noChangeArrowheads="1"/>
          </p:cNvSpPr>
          <p:nvPr/>
        </p:nvSpPr>
        <p:spPr bwMode="auto">
          <a:xfrm>
            <a:off x="4167188" y="785813"/>
            <a:ext cx="1066800" cy="357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0"/>
              </a:spcBef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단독운전</a:t>
            </a:r>
          </a:p>
        </p:txBody>
      </p:sp>
      <p:graphicFrame>
        <p:nvGraphicFramePr>
          <p:cNvPr id="259800" name="Group 7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855631"/>
              </p:ext>
            </p:extLst>
          </p:nvPr>
        </p:nvGraphicFramePr>
        <p:xfrm>
          <a:off x="2666984" y="5072063"/>
          <a:ext cx="1296987" cy="1195389"/>
        </p:xfrm>
        <a:graphic>
          <a:graphicData uri="http://schemas.openxmlformats.org/drawingml/2006/table">
            <a:tbl>
              <a:tblPr/>
              <a:tblGrid>
                <a:gridCol w="325437"/>
                <a:gridCol w="971550"/>
              </a:tblGrid>
              <a:tr h="32226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LV-6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90513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비상조명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EPS-C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EPS-D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  UPS,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정류반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9801" name="Group 7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38725"/>
              </p:ext>
            </p:extLst>
          </p:nvPr>
        </p:nvGraphicFramePr>
        <p:xfrm>
          <a:off x="704850" y="5084763"/>
          <a:ext cx="1368425" cy="1224281"/>
        </p:xfrm>
        <a:graphic>
          <a:graphicData uri="http://schemas.openxmlformats.org/drawingml/2006/table">
            <a:tbl>
              <a:tblPr/>
              <a:tblGrid>
                <a:gridCol w="342900"/>
                <a:gridCol w="1025525"/>
              </a:tblGrid>
              <a:tr h="32385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LV-3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5588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상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명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EPS-A 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4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EPS-B 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111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TR-9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(110V)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9799" name="Group 7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038291"/>
              </p:ext>
            </p:extLst>
          </p:nvPr>
        </p:nvGraphicFramePr>
        <p:xfrm>
          <a:off x="5443550" y="5072063"/>
          <a:ext cx="1295400" cy="1239573"/>
        </p:xfrm>
        <a:graphic>
          <a:graphicData uri="http://schemas.openxmlformats.org/drawingml/2006/table">
            <a:tbl>
              <a:tblPr/>
              <a:tblGrid>
                <a:gridCol w="325437"/>
                <a:gridCol w="969963"/>
              </a:tblGrid>
              <a:tr h="30205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LV-17,18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8387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비상동력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실험실동력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57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EPS -7F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82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TR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배기휀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발전기 조작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    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59812" name="Group 7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323536"/>
              </p:ext>
            </p:extLst>
          </p:nvPr>
        </p:nvGraphicFramePr>
        <p:xfrm>
          <a:off x="7453313" y="5072061"/>
          <a:ext cx="1223963" cy="1285896"/>
        </p:xfrm>
        <a:graphic>
          <a:graphicData uri="http://schemas.openxmlformats.org/drawingml/2006/table">
            <a:tbl>
              <a:tblPr/>
              <a:tblGrid>
                <a:gridCol w="306388"/>
                <a:gridCol w="917575"/>
              </a:tblGrid>
              <a:tr h="367658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LV-21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53557"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비상동력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중앙감시반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UPS</a:t>
                      </a: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97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엘리베이터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49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굴림체" pitchFamily="49" charset="-127"/>
                          <a:ea typeface="굴림체" pitchFamily="49" charset="-127"/>
                        </a:rPr>
                        <a:t>에스컬레이터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굴림체" pitchFamily="49" charset="-127"/>
                        <a:ea typeface="굴림체" pitchFamily="49" charset="-127"/>
                      </a:endParaRPr>
                    </a:p>
                  </a:txBody>
                  <a:tcPr marL="38100" marR="38100" marT="19050" marB="19050" anchor="ctr" anchorCtr="1" horzOverflow="overflow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한쪽 모서리가 잘린 사각형 14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발전운전 계통도</a:t>
            </a:r>
            <a:endParaRPr kumimoji="1" lang="ko-KR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3" name="그림 12" descr="발전기.JPG"/>
          <p:cNvPicPr>
            <a:picLocks noChangeAspect="1"/>
          </p:cNvPicPr>
          <p:nvPr/>
        </p:nvPicPr>
        <p:blipFill>
          <a:blip r:embed="rId2"/>
          <a:srcRect l="2419" t="3846" r="4032" b="3846"/>
          <a:stretch>
            <a:fillRect/>
          </a:stretch>
        </p:blipFill>
        <p:spPr>
          <a:xfrm>
            <a:off x="452406" y="1357298"/>
            <a:ext cx="8429684" cy="3643338"/>
          </a:xfrm>
          <a:prstGeom prst="rect">
            <a:avLst/>
          </a:prstGeom>
        </p:spPr>
      </p:pic>
      <p:pic>
        <p:nvPicPr>
          <p:cNvPr id="6211" name="그림 106" descr="사진 065.jpg"/>
          <p:cNvPicPr>
            <a:picLocks noChangeAspect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6246720" y="1128713"/>
            <a:ext cx="992188" cy="50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210" name="그림 105" descr="사진 065.jpg"/>
          <p:cNvPicPr>
            <a:picLocks noChangeAspect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1586584" y="1143000"/>
            <a:ext cx="992187" cy="500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9"/>
          <p:cNvSpPr>
            <a:spLocks noChangeArrowheads="1"/>
          </p:cNvSpPr>
          <p:nvPr/>
        </p:nvSpPr>
        <p:spPr bwMode="auto">
          <a:xfrm>
            <a:off x="0" y="640434"/>
            <a:ext cx="9906000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862540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0" name="그림 42" descr="전기실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9563" y="811762"/>
            <a:ext cx="9286875" cy="5706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직사각형 43"/>
          <p:cNvSpPr/>
          <p:nvPr/>
        </p:nvSpPr>
        <p:spPr>
          <a:xfrm>
            <a:off x="1160463" y="1375206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LBS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160463" y="1589518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160463" y="1803831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MOF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1160463" y="2018143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160463" y="2232456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1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1160463" y="2446768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2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1160463" y="2661081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3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160463" y="2875393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4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160463" y="3089706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5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160463" y="3304018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6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1160463" y="3518331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7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160463" y="3732643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VCB 8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482975" y="137520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900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TR1</a:t>
            </a:r>
            <a:endParaRPr lang="ko-KR" altLang="en-US" sz="9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3482975" y="166095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TR2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482975" y="194670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TR3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3482975" y="223245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TR4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482975" y="251820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TR5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3482975" y="280395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TR6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3482975" y="308970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TR7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3482975" y="337545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TR8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7042150" y="3589768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TR9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4875213" y="1024368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7042150" y="3946956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LV-20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7042150" y="4161268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LV-21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7042150" y="4375581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LV-21-1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875213" y="1238681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4875213" y="1452993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LV-3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875213" y="1667306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LV-4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875213" y="1881618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LV-5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4875213" y="2095931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LV-6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4875213" y="2310243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LV-6-1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4875213" y="2524556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LV-7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4875213" y="2738868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LV-8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4875213" y="2953181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LV-9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4875213" y="3167493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LV-10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875213" y="3381806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LV-11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875213" y="3596118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LV-12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875213" y="3810431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LV-13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4875213" y="4024743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LV-15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4875213" y="4239056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LV-17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4875213" y="4453368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LV-18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875213" y="4674031"/>
            <a:ext cx="619125" cy="2016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LV-19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042150" y="4589893"/>
            <a:ext cx="619125" cy="214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LV-23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875213" y="4875643"/>
            <a:ext cx="619125" cy="2016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LV-22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84" name="직선 연결선 183"/>
          <p:cNvCxnSpPr/>
          <p:nvPr/>
        </p:nvCxnSpPr>
        <p:spPr>
          <a:xfrm>
            <a:off x="5494338" y="1589518"/>
            <a:ext cx="387350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연결선 184"/>
          <p:cNvCxnSpPr/>
          <p:nvPr/>
        </p:nvCxnSpPr>
        <p:spPr>
          <a:xfrm rot="5400000">
            <a:off x="4810919" y="2660287"/>
            <a:ext cx="214312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직선 연결선 186"/>
          <p:cNvCxnSpPr>
            <a:endCxn id="64" idx="1"/>
          </p:cNvCxnSpPr>
          <p:nvPr/>
        </p:nvCxnSpPr>
        <p:spPr>
          <a:xfrm flipV="1">
            <a:off x="5881688" y="3732643"/>
            <a:ext cx="1160462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직사각형 188"/>
          <p:cNvSpPr/>
          <p:nvPr/>
        </p:nvSpPr>
        <p:spPr>
          <a:xfrm>
            <a:off x="3482975" y="137520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7970838" y="1089456"/>
            <a:ext cx="850900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UPS</a:t>
            </a:r>
          </a:p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SYN P/L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7970838" y="166095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UPS1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8745538" y="1660956"/>
            <a:ext cx="619125" cy="285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UPS2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3" name="직선 연결선 192"/>
          <p:cNvCxnSpPr/>
          <p:nvPr/>
        </p:nvCxnSpPr>
        <p:spPr>
          <a:xfrm>
            <a:off x="5494338" y="2446768"/>
            <a:ext cx="619125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직선 연결선 194"/>
          <p:cNvCxnSpPr/>
          <p:nvPr/>
        </p:nvCxnSpPr>
        <p:spPr>
          <a:xfrm>
            <a:off x="6113463" y="1232331"/>
            <a:ext cx="1857375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연결선 196"/>
          <p:cNvCxnSpPr/>
          <p:nvPr/>
        </p:nvCxnSpPr>
        <p:spPr>
          <a:xfrm rot="5400000">
            <a:off x="5542757" y="1803037"/>
            <a:ext cx="1143000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직선 연결선 199"/>
          <p:cNvCxnSpPr>
            <a:endCxn id="191" idx="0"/>
          </p:cNvCxnSpPr>
          <p:nvPr/>
        </p:nvCxnSpPr>
        <p:spPr>
          <a:xfrm rot="5400000">
            <a:off x="8138319" y="1517287"/>
            <a:ext cx="285750" cy="1588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연결선 201"/>
          <p:cNvCxnSpPr/>
          <p:nvPr/>
        </p:nvCxnSpPr>
        <p:spPr>
          <a:xfrm rot="5400000">
            <a:off x="8947943" y="1553800"/>
            <a:ext cx="214313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직선 연결선 203"/>
          <p:cNvCxnSpPr/>
          <p:nvPr/>
        </p:nvCxnSpPr>
        <p:spPr>
          <a:xfrm>
            <a:off x="8280400" y="1464106"/>
            <a:ext cx="774700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38" name="그룹 218"/>
          <p:cNvGrpSpPr>
            <a:grpSpLocks/>
          </p:cNvGrpSpPr>
          <p:nvPr/>
        </p:nvGrpSpPr>
        <p:grpSpPr bwMode="auto">
          <a:xfrm>
            <a:off x="8048625" y="2214993"/>
            <a:ext cx="465138" cy="582613"/>
            <a:chOff x="7429520" y="2000240"/>
            <a:chExt cx="428628" cy="714380"/>
          </a:xfrm>
        </p:grpSpPr>
        <p:sp>
          <p:nvSpPr>
            <p:cNvPr id="206" name="직사각형 205"/>
            <p:cNvSpPr/>
            <p:nvPr/>
          </p:nvSpPr>
          <p:spPr>
            <a:xfrm>
              <a:off x="7429520" y="2000240"/>
              <a:ext cx="428628" cy="7143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08" name="직선 연결선 207"/>
            <p:cNvCxnSpPr/>
            <p:nvPr/>
          </p:nvCxnSpPr>
          <p:spPr>
            <a:xfrm>
              <a:off x="7572883" y="2072263"/>
              <a:ext cx="141901" cy="1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직선 연결선 208"/>
            <p:cNvCxnSpPr/>
            <p:nvPr/>
          </p:nvCxnSpPr>
          <p:spPr>
            <a:xfrm>
              <a:off x="7511442" y="2120925"/>
              <a:ext cx="286727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직선 연결선 210"/>
            <p:cNvCxnSpPr/>
            <p:nvPr/>
          </p:nvCxnSpPr>
          <p:spPr>
            <a:xfrm>
              <a:off x="7561180" y="2165696"/>
              <a:ext cx="14336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직선 연결선 211"/>
            <p:cNvCxnSpPr/>
            <p:nvPr/>
          </p:nvCxnSpPr>
          <p:spPr>
            <a:xfrm>
              <a:off x="7501202" y="2214359"/>
              <a:ext cx="285264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직선 연결선 212"/>
            <p:cNvCxnSpPr/>
            <p:nvPr/>
          </p:nvCxnSpPr>
          <p:spPr>
            <a:xfrm>
              <a:off x="7561180" y="2257183"/>
              <a:ext cx="143363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직선 연결선 213"/>
            <p:cNvCxnSpPr/>
            <p:nvPr/>
          </p:nvCxnSpPr>
          <p:spPr>
            <a:xfrm>
              <a:off x="7501202" y="2307793"/>
              <a:ext cx="285264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직선 연결선 214"/>
            <p:cNvCxnSpPr/>
            <p:nvPr/>
          </p:nvCxnSpPr>
          <p:spPr>
            <a:xfrm>
              <a:off x="7561180" y="2593935"/>
              <a:ext cx="143363" cy="1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직선 연결선 215"/>
            <p:cNvCxnSpPr/>
            <p:nvPr/>
          </p:nvCxnSpPr>
          <p:spPr>
            <a:xfrm>
              <a:off x="7501202" y="2642597"/>
              <a:ext cx="285264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직선 연결선 217"/>
            <p:cNvCxnSpPr/>
            <p:nvPr/>
          </p:nvCxnSpPr>
          <p:spPr>
            <a:xfrm rot="5400000">
              <a:off x="7500764" y="2427258"/>
              <a:ext cx="286140" cy="4388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239" name="그룹 219"/>
          <p:cNvGrpSpPr>
            <a:grpSpLocks/>
          </p:cNvGrpSpPr>
          <p:nvPr/>
        </p:nvGrpSpPr>
        <p:grpSpPr bwMode="auto">
          <a:xfrm>
            <a:off x="8823325" y="2221343"/>
            <a:ext cx="463550" cy="582613"/>
            <a:chOff x="7429520" y="2000240"/>
            <a:chExt cx="428628" cy="714380"/>
          </a:xfrm>
        </p:grpSpPr>
        <p:sp>
          <p:nvSpPr>
            <p:cNvPr id="221" name="직사각형 220"/>
            <p:cNvSpPr/>
            <p:nvPr/>
          </p:nvSpPr>
          <p:spPr>
            <a:xfrm>
              <a:off x="7429520" y="2000240"/>
              <a:ext cx="428628" cy="71438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22" name="직선 연결선 221"/>
            <p:cNvCxnSpPr/>
            <p:nvPr/>
          </p:nvCxnSpPr>
          <p:spPr>
            <a:xfrm>
              <a:off x="7571907" y="2072263"/>
              <a:ext cx="143855" cy="1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직선 연결선 222"/>
            <p:cNvCxnSpPr/>
            <p:nvPr/>
          </p:nvCxnSpPr>
          <p:spPr>
            <a:xfrm>
              <a:off x="7511723" y="2120925"/>
              <a:ext cx="286242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직선 연결선 223"/>
            <p:cNvCxnSpPr/>
            <p:nvPr/>
          </p:nvCxnSpPr>
          <p:spPr>
            <a:xfrm>
              <a:off x="7561631" y="2165696"/>
              <a:ext cx="14238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직선 연결선 224"/>
            <p:cNvCxnSpPr/>
            <p:nvPr/>
          </p:nvCxnSpPr>
          <p:spPr>
            <a:xfrm>
              <a:off x="7501448" y="2214359"/>
              <a:ext cx="284773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직선 연결선 225"/>
            <p:cNvCxnSpPr/>
            <p:nvPr/>
          </p:nvCxnSpPr>
          <p:spPr>
            <a:xfrm>
              <a:off x="7561631" y="2257183"/>
              <a:ext cx="142387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직선 연결선 226"/>
            <p:cNvCxnSpPr/>
            <p:nvPr/>
          </p:nvCxnSpPr>
          <p:spPr>
            <a:xfrm>
              <a:off x="7501448" y="2307793"/>
              <a:ext cx="284773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직선 연결선 227"/>
            <p:cNvCxnSpPr/>
            <p:nvPr/>
          </p:nvCxnSpPr>
          <p:spPr>
            <a:xfrm>
              <a:off x="7561631" y="2593935"/>
              <a:ext cx="142387" cy="1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직선 연결선 228"/>
            <p:cNvCxnSpPr/>
            <p:nvPr/>
          </p:nvCxnSpPr>
          <p:spPr>
            <a:xfrm>
              <a:off x="7501448" y="2642597"/>
              <a:ext cx="284773" cy="19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직선 연결선 229"/>
            <p:cNvCxnSpPr/>
            <p:nvPr/>
          </p:nvCxnSpPr>
          <p:spPr>
            <a:xfrm rot="5400000">
              <a:off x="7500765" y="2427983"/>
              <a:ext cx="286140" cy="2936"/>
            </a:xfrm>
            <a:prstGeom prst="line">
              <a:avLst/>
            </a:prstGeom>
            <a:ln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1" name="직선 연결선 240"/>
          <p:cNvCxnSpPr>
            <a:stCxn id="191" idx="2"/>
          </p:cNvCxnSpPr>
          <p:nvPr/>
        </p:nvCxnSpPr>
        <p:spPr>
          <a:xfrm rot="16200000" flipH="1">
            <a:off x="8146256" y="2080850"/>
            <a:ext cx="2682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직선 연결선 241"/>
          <p:cNvCxnSpPr/>
          <p:nvPr/>
        </p:nvCxnSpPr>
        <p:spPr>
          <a:xfrm rot="16200000" flipH="1">
            <a:off x="8920956" y="2080850"/>
            <a:ext cx="26828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직선 연결선 243"/>
          <p:cNvCxnSpPr/>
          <p:nvPr/>
        </p:nvCxnSpPr>
        <p:spPr>
          <a:xfrm>
            <a:off x="5494338" y="4589893"/>
            <a:ext cx="231775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직선 연결선 245"/>
          <p:cNvCxnSpPr/>
          <p:nvPr/>
        </p:nvCxnSpPr>
        <p:spPr>
          <a:xfrm rot="5400000">
            <a:off x="5441951" y="4304143"/>
            <a:ext cx="571500" cy="3175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직선 연결선 246"/>
          <p:cNvCxnSpPr/>
          <p:nvPr/>
        </p:nvCxnSpPr>
        <p:spPr>
          <a:xfrm>
            <a:off x="5726113" y="4018393"/>
            <a:ext cx="1316037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직사각형 249"/>
          <p:cNvSpPr/>
          <p:nvPr/>
        </p:nvSpPr>
        <p:spPr>
          <a:xfrm>
            <a:off x="7042150" y="4804206"/>
            <a:ext cx="619125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정류반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51" name="직선 연결선 250"/>
          <p:cNvCxnSpPr/>
          <p:nvPr/>
        </p:nvCxnSpPr>
        <p:spPr>
          <a:xfrm>
            <a:off x="7661275" y="3732643"/>
            <a:ext cx="233363" cy="158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직선 연결선 251"/>
          <p:cNvCxnSpPr/>
          <p:nvPr/>
        </p:nvCxnSpPr>
        <p:spPr>
          <a:xfrm rot="5400000">
            <a:off x="7395369" y="4231912"/>
            <a:ext cx="100012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직선 연결선 252"/>
          <p:cNvCxnSpPr/>
          <p:nvPr/>
        </p:nvCxnSpPr>
        <p:spPr>
          <a:xfrm>
            <a:off x="7661275" y="4732768"/>
            <a:ext cx="233363" cy="1588"/>
          </a:xfrm>
          <a:prstGeom prst="line">
            <a:avLst/>
          </a:prstGeom>
          <a:ln w="28575">
            <a:solidFill>
              <a:srgbClr val="FF0000"/>
            </a:solidFill>
            <a:head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직선 연결선 255"/>
          <p:cNvCxnSpPr/>
          <p:nvPr/>
        </p:nvCxnSpPr>
        <p:spPr>
          <a:xfrm>
            <a:off x="5494338" y="2375331"/>
            <a:ext cx="619125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직선 연결선 257"/>
          <p:cNvCxnSpPr/>
          <p:nvPr/>
        </p:nvCxnSpPr>
        <p:spPr>
          <a:xfrm rot="5400000">
            <a:off x="4864100" y="3696131"/>
            <a:ext cx="2500313" cy="158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직선 연결선 259"/>
          <p:cNvCxnSpPr/>
          <p:nvPr/>
        </p:nvCxnSpPr>
        <p:spPr>
          <a:xfrm>
            <a:off x="6113463" y="4947081"/>
            <a:ext cx="928687" cy="0"/>
          </a:xfrm>
          <a:prstGeom prst="line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모서리가 둥근 직사각형 261"/>
          <p:cNvSpPr/>
          <p:nvPr/>
        </p:nvSpPr>
        <p:spPr>
          <a:xfrm>
            <a:off x="1006475" y="1160893"/>
            <a:ext cx="928688" cy="3000375"/>
          </a:xfrm>
          <a:prstGeom prst="round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7" name="직사각형 266"/>
          <p:cNvSpPr/>
          <p:nvPr/>
        </p:nvSpPr>
        <p:spPr>
          <a:xfrm>
            <a:off x="3287713" y="5232831"/>
            <a:ext cx="852487" cy="21431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호기 </a:t>
            </a:r>
            <a:r>
              <a:rPr lang="en-US" altLang="ko-KR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P/L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8" name="직사각형 267"/>
          <p:cNvSpPr/>
          <p:nvPr/>
        </p:nvSpPr>
        <p:spPr>
          <a:xfrm>
            <a:off x="3287713" y="5447143"/>
            <a:ext cx="852487" cy="21431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전등</a:t>
            </a:r>
            <a:r>
              <a:rPr lang="en-US" altLang="ko-KR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동력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9" name="직사각형 268"/>
          <p:cNvSpPr/>
          <p:nvPr/>
        </p:nvSpPr>
        <p:spPr>
          <a:xfrm>
            <a:off x="3287713" y="5661456"/>
            <a:ext cx="852487" cy="214312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TIE P/L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0" name="직사각형 269"/>
          <p:cNvSpPr/>
          <p:nvPr/>
        </p:nvSpPr>
        <p:spPr>
          <a:xfrm>
            <a:off x="3287713" y="5875768"/>
            <a:ext cx="852487" cy="214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전등</a:t>
            </a:r>
            <a:r>
              <a:rPr lang="en-US" altLang="ko-KR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동력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1" name="직사각형 270"/>
          <p:cNvSpPr/>
          <p:nvPr/>
        </p:nvSpPr>
        <p:spPr>
          <a:xfrm>
            <a:off x="3287713" y="6090081"/>
            <a:ext cx="852487" cy="2143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호기 </a:t>
            </a:r>
            <a:r>
              <a:rPr lang="en-US" altLang="ko-KR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P/L</a:t>
            </a: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72" name="직선 연결선 271"/>
          <p:cNvCxnSpPr/>
          <p:nvPr/>
        </p:nvCxnSpPr>
        <p:spPr>
          <a:xfrm>
            <a:off x="4643438" y="1589518"/>
            <a:ext cx="231775" cy="1588"/>
          </a:xfrm>
          <a:prstGeom prst="line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3" name="직선 연결선 272"/>
          <p:cNvCxnSpPr/>
          <p:nvPr/>
        </p:nvCxnSpPr>
        <p:spPr>
          <a:xfrm rot="5400000">
            <a:off x="2679700" y="3553256"/>
            <a:ext cx="3929063" cy="1587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직선 연결선 276"/>
          <p:cNvCxnSpPr/>
          <p:nvPr/>
        </p:nvCxnSpPr>
        <p:spPr>
          <a:xfrm>
            <a:off x="4119600" y="5518581"/>
            <a:ext cx="527552" cy="13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직선 연결선 278"/>
          <p:cNvCxnSpPr/>
          <p:nvPr/>
        </p:nvCxnSpPr>
        <p:spPr>
          <a:xfrm>
            <a:off x="4487863" y="2232456"/>
            <a:ext cx="387350" cy="1587"/>
          </a:xfrm>
          <a:prstGeom prst="line">
            <a:avLst/>
          </a:prstGeom>
          <a:ln w="28575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직선 연결선 280"/>
          <p:cNvCxnSpPr/>
          <p:nvPr/>
        </p:nvCxnSpPr>
        <p:spPr>
          <a:xfrm>
            <a:off x="4411663" y="4375581"/>
            <a:ext cx="463550" cy="1587"/>
          </a:xfrm>
          <a:prstGeom prst="line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직선 연결선 282"/>
          <p:cNvCxnSpPr/>
          <p:nvPr/>
        </p:nvCxnSpPr>
        <p:spPr>
          <a:xfrm rot="5400000">
            <a:off x="3626644" y="5160600"/>
            <a:ext cx="1571625" cy="158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직선 연결선 284"/>
          <p:cNvCxnSpPr/>
          <p:nvPr/>
        </p:nvCxnSpPr>
        <p:spPr>
          <a:xfrm>
            <a:off x="4112148" y="5947206"/>
            <a:ext cx="309563" cy="158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직선 연결선 286"/>
          <p:cNvCxnSpPr/>
          <p:nvPr/>
        </p:nvCxnSpPr>
        <p:spPr>
          <a:xfrm>
            <a:off x="4721225" y="5304268"/>
            <a:ext cx="2011363" cy="158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/>
          <p:cNvCxnSpPr/>
          <p:nvPr/>
        </p:nvCxnSpPr>
        <p:spPr>
          <a:xfrm rot="5400000">
            <a:off x="6197600" y="4769281"/>
            <a:ext cx="1071563" cy="158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직선 연결선 290"/>
          <p:cNvCxnSpPr/>
          <p:nvPr/>
        </p:nvCxnSpPr>
        <p:spPr>
          <a:xfrm>
            <a:off x="6732588" y="4232706"/>
            <a:ext cx="309562" cy="17462"/>
          </a:xfrm>
          <a:prstGeom prst="line">
            <a:avLst/>
          </a:prstGeom>
          <a:ln w="285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직선 연결선 294"/>
          <p:cNvCxnSpPr/>
          <p:nvPr/>
        </p:nvCxnSpPr>
        <p:spPr>
          <a:xfrm>
            <a:off x="2881298" y="5375718"/>
            <a:ext cx="405910" cy="15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직선 연결선 295"/>
          <p:cNvCxnSpPr/>
          <p:nvPr/>
        </p:nvCxnSpPr>
        <p:spPr>
          <a:xfrm>
            <a:off x="2863850" y="5947206"/>
            <a:ext cx="309563" cy="158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직선 연결선 296"/>
          <p:cNvCxnSpPr/>
          <p:nvPr/>
        </p:nvCxnSpPr>
        <p:spPr>
          <a:xfrm rot="5400000">
            <a:off x="3065462" y="6055156"/>
            <a:ext cx="214313" cy="158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9" name="직선 연결선 298"/>
          <p:cNvCxnSpPr/>
          <p:nvPr/>
        </p:nvCxnSpPr>
        <p:spPr>
          <a:xfrm>
            <a:off x="3173413" y="6161518"/>
            <a:ext cx="77787" cy="158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직사각형 300"/>
          <p:cNvSpPr/>
          <p:nvPr/>
        </p:nvSpPr>
        <p:spPr>
          <a:xfrm>
            <a:off x="6113463" y="5089956"/>
            <a:ext cx="465137" cy="142875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2" name="정육면체 301"/>
          <p:cNvSpPr/>
          <p:nvPr/>
        </p:nvSpPr>
        <p:spPr>
          <a:xfrm>
            <a:off x="928688" y="4447018"/>
            <a:ext cx="696912" cy="428625"/>
          </a:xfrm>
          <a:prstGeom prst="cub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74" name="TextBox 302"/>
          <p:cNvSpPr txBox="1">
            <a:spLocks noChangeArrowheads="1"/>
          </p:cNvSpPr>
          <p:nvPr/>
        </p:nvSpPr>
        <p:spPr bwMode="auto">
          <a:xfrm>
            <a:off x="1625600" y="4518456"/>
            <a:ext cx="928688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경유탱크실</a:t>
            </a:r>
          </a:p>
        </p:txBody>
      </p:sp>
      <p:cxnSp>
        <p:nvCxnSpPr>
          <p:cNvPr id="182" name="직선 연결선 181"/>
          <p:cNvCxnSpPr/>
          <p:nvPr/>
        </p:nvCxnSpPr>
        <p:spPr>
          <a:xfrm rot="5400000">
            <a:off x="2810670" y="3909649"/>
            <a:ext cx="3357562" cy="3175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직선 연결선 182"/>
          <p:cNvCxnSpPr/>
          <p:nvPr/>
        </p:nvCxnSpPr>
        <p:spPr>
          <a:xfrm>
            <a:off x="4125913" y="5590018"/>
            <a:ext cx="363537" cy="158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직선 연결선 195"/>
          <p:cNvCxnSpPr/>
          <p:nvPr/>
        </p:nvCxnSpPr>
        <p:spPr>
          <a:xfrm rot="5400000">
            <a:off x="4367213" y="5663043"/>
            <a:ext cx="709612" cy="158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직선 연결선 204"/>
          <p:cNvCxnSpPr/>
          <p:nvPr/>
        </p:nvCxnSpPr>
        <p:spPr>
          <a:xfrm>
            <a:off x="4122196" y="6018643"/>
            <a:ext cx="619125" cy="158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2309794" y="1875256"/>
            <a:ext cx="928694" cy="230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smtClean="0">
                <a:latin typeface="맑은 고딕" pitchFamily="50" charset="-127"/>
                <a:ea typeface="맑은 고딕" pitchFamily="50" charset="-127"/>
              </a:rPr>
              <a:t>전기실</a:t>
            </a:r>
            <a:endParaRPr lang="ko-KR" altLang="en-US" sz="9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6953264" y="875124"/>
            <a:ext cx="928694" cy="2308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smtClean="0">
                <a:latin typeface="맑은 고딕" pitchFamily="50" charset="-127"/>
                <a:ea typeface="맑은 고딕" pitchFamily="50" charset="-127"/>
              </a:rPr>
              <a:t>UPS</a:t>
            </a:r>
            <a:r>
              <a:rPr lang="ko-KR" altLang="en-US" sz="900" b="1" dirty="0" smtClean="0">
                <a:latin typeface="맑은 고딕" pitchFamily="50" charset="-127"/>
                <a:ea typeface="맑은 고딕" pitchFamily="50" charset="-127"/>
              </a:rPr>
              <a:t>실</a:t>
            </a:r>
            <a:endParaRPr lang="ko-KR" altLang="en-US" sz="9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1" name="직사각형 140"/>
          <p:cNvSpPr/>
          <p:nvPr/>
        </p:nvSpPr>
        <p:spPr bwMode="auto">
          <a:xfrm>
            <a:off x="3289830" y="5232842"/>
            <a:ext cx="857256" cy="428628"/>
          </a:xfrm>
          <a:prstGeom prst="rect">
            <a:avLst/>
          </a:prstGeom>
          <a:noFill/>
          <a:ln w="28575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2" name="직사각형 141"/>
          <p:cNvSpPr/>
          <p:nvPr/>
        </p:nvSpPr>
        <p:spPr bwMode="auto">
          <a:xfrm>
            <a:off x="3279782" y="5875784"/>
            <a:ext cx="857256" cy="428628"/>
          </a:xfrm>
          <a:prstGeom prst="rect">
            <a:avLst/>
          </a:prstGeom>
          <a:noFill/>
          <a:ln w="28575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한쪽 모서리가 잘린 사각형 138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발전전원 계통도</a:t>
            </a:r>
            <a:endParaRPr kumimoji="1" lang="ko-KR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6" name="Rectangle 9"/>
          <p:cNvSpPr>
            <a:spLocks noChangeArrowheads="1"/>
          </p:cNvSpPr>
          <p:nvPr/>
        </p:nvSpPr>
        <p:spPr bwMode="auto">
          <a:xfrm>
            <a:off x="0" y="640434"/>
            <a:ext cx="9906000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27" name="그림 12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862540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AutoShape 354"/>
          <p:cNvSpPr>
            <a:spLocks noChangeArrowheads="1"/>
          </p:cNvSpPr>
          <p:nvPr/>
        </p:nvSpPr>
        <p:spPr bwMode="auto">
          <a:xfrm>
            <a:off x="3810000" y="1214438"/>
            <a:ext cx="5934075" cy="2286000"/>
          </a:xfrm>
          <a:prstGeom prst="roundRect">
            <a:avLst>
              <a:gd name="adj" fmla="val 4167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196" name="AutoShape 448"/>
          <p:cNvSpPr>
            <a:spLocks noChangeArrowheads="1"/>
          </p:cNvSpPr>
          <p:nvPr/>
        </p:nvSpPr>
        <p:spPr bwMode="auto">
          <a:xfrm>
            <a:off x="152400" y="1219200"/>
            <a:ext cx="3581400" cy="2286000"/>
          </a:xfrm>
          <a:prstGeom prst="roundRect">
            <a:avLst>
              <a:gd name="adj" fmla="val 4167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197" name="Group 482"/>
          <p:cNvGrpSpPr>
            <a:grpSpLocks/>
          </p:cNvGrpSpPr>
          <p:nvPr/>
        </p:nvGrpSpPr>
        <p:grpSpPr bwMode="auto">
          <a:xfrm>
            <a:off x="762000" y="2286000"/>
            <a:ext cx="1169988" cy="1082675"/>
            <a:chOff x="472" y="822"/>
            <a:chExt cx="920" cy="852"/>
          </a:xfrm>
        </p:grpSpPr>
        <p:sp>
          <p:nvSpPr>
            <p:cNvPr id="8422" name="Line 449"/>
            <p:cNvSpPr>
              <a:spLocks noChangeShapeType="1"/>
            </p:cNvSpPr>
            <p:nvPr/>
          </p:nvSpPr>
          <p:spPr bwMode="auto">
            <a:xfrm>
              <a:off x="526" y="822"/>
              <a:ext cx="0" cy="288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23" name="Freeform 451"/>
            <p:cNvSpPr>
              <a:spLocks/>
            </p:cNvSpPr>
            <p:nvPr/>
          </p:nvSpPr>
          <p:spPr bwMode="auto">
            <a:xfrm>
              <a:off x="490" y="1108"/>
              <a:ext cx="73" cy="23"/>
            </a:xfrm>
            <a:custGeom>
              <a:avLst/>
              <a:gdLst>
                <a:gd name="T0" fmla="*/ 0 w 51"/>
                <a:gd name="T1" fmla="*/ 3 h 39"/>
                <a:gd name="T2" fmla="*/ 143 w 51"/>
                <a:gd name="T3" fmla="*/ 0 h 39"/>
                <a:gd name="T4" fmla="*/ 305 w 51"/>
                <a:gd name="T5" fmla="*/ 3 h 39"/>
                <a:gd name="T6" fmla="*/ 0 60000 65536"/>
                <a:gd name="T7" fmla="*/ 0 60000 65536"/>
                <a:gd name="T8" fmla="*/ 0 60000 65536"/>
                <a:gd name="T9" fmla="*/ 0 w 51"/>
                <a:gd name="T10" fmla="*/ 0 h 39"/>
                <a:gd name="T11" fmla="*/ 51 w 51"/>
                <a:gd name="T12" fmla="*/ 39 h 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" h="39">
                  <a:moveTo>
                    <a:pt x="0" y="39"/>
                  </a:moveTo>
                  <a:lnTo>
                    <a:pt x="24" y="0"/>
                  </a:lnTo>
                  <a:lnTo>
                    <a:pt x="51" y="37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24" name="Freeform 452"/>
            <p:cNvSpPr>
              <a:spLocks/>
            </p:cNvSpPr>
            <p:nvPr/>
          </p:nvSpPr>
          <p:spPr bwMode="auto">
            <a:xfrm>
              <a:off x="490" y="1126"/>
              <a:ext cx="73" cy="24"/>
            </a:xfrm>
            <a:custGeom>
              <a:avLst/>
              <a:gdLst>
                <a:gd name="T0" fmla="*/ 0 w 51"/>
                <a:gd name="T1" fmla="*/ 4 h 39"/>
                <a:gd name="T2" fmla="*/ 143 w 51"/>
                <a:gd name="T3" fmla="*/ 0 h 39"/>
                <a:gd name="T4" fmla="*/ 305 w 51"/>
                <a:gd name="T5" fmla="*/ 4 h 39"/>
                <a:gd name="T6" fmla="*/ 0 60000 65536"/>
                <a:gd name="T7" fmla="*/ 0 60000 65536"/>
                <a:gd name="T8" fmla="*/ 0 60000 65536"/>
                <a:gd name="T9" fmla="*/ 0 w 51"/>
                <a:gd name="T10" fmla="*/ 0 h 39"/>
                <a:gd name="T11" fmla="*/ 51 w 51"/>
                <a:gd name="T12" fmla="*/ 39 h 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" h="39">
                  <a:moveTo>
                    <a:pt x="0" y="39"/>
                  </a:moveTo>
                  <a:lnTo>
                    <a:pt x="24" y="0"/>
                  </a:lnTo>
                  <a:lnTo>
                    <a:pt x="51" y="37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25" name="Line 453"/>
            <p:cNvSpPr>
              <a:spLocks noChangeShapeType="1"/>
            </p:cNvSpPr>
            <p:nvPr/>
          </p:nvSpPr>
          <p:spPr bwMode="auto">
            <a:xfrm>
              <a:off x="525" y="1133"/>
              <a:ext cx="2" cy="39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26" name="Oval 454"/>
            <p:cNvSpPr>
              <a:spLocks noChangeArrowheads="1"/>
            </p:cNvSpPr>
            <p:nvPr/>
          </p:nvSpPr>
          <p:spPr bwMode="auto">
            <a:xfrm>
              <a:off x="504" y="1170"/>
              <a:ext cx="39" cy="39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27" name="Rectangle 462"/>
            <p:cNvSpPr>
              <a:spLocks noChangeArrowheads="1"/>
            </p:cNvSpPr>
            <p:nvPr/>
          </p:nvSpPr>
          <p:spPr bwMode="auto">
            <a:xfrm>
              <a:off x="472" y="1158"/>
              <a:ext cx="110" cy="178"/>
            </a:xfrm>
            <a:prstGeom prst="rect">
              <a:avLst/>
            </a:prstGeom>
            <a:noFill/>
            <a:ln w="19050">
              <a:solidFill>
                <a:srgbClr val="777777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428" name="Group 464"/>
            <p:cNvGrpSpPr>
              <a:grpSpLocks/>
            </p:cNvGrpSpPr>
            <p:nvPr/>
          </p:nvGrpSpPr>
          <p:grpSpPr bwMode="auto">
            <a:xfrm rot="10800000">
              <a:off x="490" y="1286"/>
              <a:ext cx="73" cy="101"/>
              <a:chOff x="490" y="1108"/>
              <a:chExt cx="73" cy="101"/>
            </a:xfrm>
          </p:grpSpPr>
          <p:sp>
            <p:nvSpPr>
              <p:cNvPr id="8441" name="Freeform 465"/>
              <p:cNvSpPr>
                <a:spLocks/>
              </p:cNvSpPr>
              <p:nvPr/>
            </p:nvSpPr>
            <p:spPr bwMode="auto">
              <a:xfrm>
                <a:off x="490" y="1108"/>
                <a:ext cx="73" cy="23"/>
              </a:xfrm>
              <a:custGeom>
                <a:avLst/>
                <a:gdLst>
                  <a:gd name="T0" fmla="*/ 0 w 51"/>
                  <a:gd name="T1" fmla="*/ 3 h 39"/>
                  <a:gd name="T2" fmla="*/ 143 w 51"/>
                  <a:gd name="T3" fmla="*/ 0 h 39"/>
                  <a:gd name="T4" fmla="*/ 305 w 51"/>
                  <a:gd name="T5" fmla="*/ 3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42" name="Freeform 466"/>
              <p:cNvSpPr>
                <a:spLocks/>
              </p:cNvSpPr>
              <p:nvPr/>
            </p:nvSpPr>
            <p:spPr bwMode="auto">
              <a:xfrm>
                <a:off x="490" y="1126"/>
                <a:ext cx="73" cy="24"/>
              </a:xfrm>
              <a:custGeom>
                <a:avLst/>
                <a:gdLst>
                  <a:gd name="T0" fmla="*/ 0 w 51"/>
                  <a:gd name="T1" fmla="*/ 4 h 39"/>
                  <a:gd name="T2" fmla="*/ 143 w 51"/>
                  <a:gd name="T3" fmla="*/ 0 h 39"/>
                  <a:gd name="T4" fmla="*/ 305 w 51"/>
                  <a:gd name="T5" fmla="*/ 4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43" name="Line 467"/>
              <p:cNvSpPr>
                <a:spLocks noChangeShapeType="1"/>
              </p:cNvSpPr>
              <p:nvPr/>
            </p:nvSpPr>
            <p:spPr bwMode="auto">
              <a:xfrm>
                <a:off x="525" y="1133"/>
                <a:ext cx="2" cy="39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44" name="Oval 468"/>
              <p:cNvSpPr>
                <a:spLocks noChangeArrowheads="1"/>
              </p:cNvSpPr>
              <p:nvPr/>
            </p:nvSpPr>
            <p:spPr bwMode="auto">
              <a:xfrm>
                <a:off x="504" y="1170"/>
                <a:ext cx="39" cy="3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8429" name="Line 469"/>
            <p:cNvSpPr>
              <a:spLocks noChangeShapeType="1"/>
            </p:cNvSpPr>
            <p:nvPr/>
          </p:nvSpPr>
          <p:spPr bwMode="auto">
            <a:xfrm>
              <a:off x="528" y="1386"/>
              <a:ext cx="0" cy="288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30" name="Line 470"/>
            <p:cNvSpPr>
              <a:spLocks noChangeShapeType="1"/>
            </p:cNvSpPr>
            <p:nvPr/>
          </p:nvSpPr>
          <p:spPr bwMode="auto">
            <a:xfrm>
              <a:off x="528" y="960"/>
              <a:ext cx="96" cy="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31" name="Oval 471"/>
            <p:cNvSpPr>
              <a:spLocks noChangeArrowheads="1"/>
            </p:cNvSpPr>
            <p:nvPr/>
          </p:nvSpPr>
          <p:spPr bwMode="auto">
            <a:xfrm>
              <a:off x="620" y="942"/>
              <a:ext cx="39" cy="39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32" name="Oval 472"/>
            <p:cNvSpPr>
              <a:spLocks noChangeArrowheads="1"/>
            </p:cNvSpPr>
            <p:nvPr/>
          </p:nvSpPr>
          <p:spPr bwMode="auto">
            <a:xfrm>
              <a:off x="768" y="942"/>
              <a:ext cx="39" cy="39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33" name="Line 473"/>
            <p:cNvSpPr>
              <a:spLocks noChangeShapeType="1"/>
            </p:cNvSpPr>
            <p:nvPr/>
          </p:nvSpPr>
          <p:spPr bwMode="auto">
            <a:xfrm flipH="1" flipV="1">
              <a:off x="658" y="884"/>
              <a:ext cx="114" cy="64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34" name="Freeform 475"/>
            <p:cNvSpPr>
              <a:spLocks/>
            </p:cNvSpPr>
            <p:nvPr/>
          </p:nvSpPr>
          <p:spPr bwMode="auto">
            <a:xfrm>
              <a:off x="658" y="869"/>
              <a:ext cx="112" cy="84"/>
            </a:xfrm>
            <a:custGeom>
              <a:avLst/>
              <a:gdLst>
                <a:gd name="T0" fmla="*/ 0 w 112"/>
                <a:gd name="T1" fmla="*/ 17 h 84"/>
                <a:gd name="T2" fmla="*/ 30 w 112"/>
                <a:gd name="T3" fmla="*/ 5 h 84"/>
                <a:gd name="T4" fmla="*/ 54 w 112"/>
                <a:gd name="T5" fmla="*/ 45 h 84"/>
                <a:gd name="T6" fmla="*/ 78 w 112"/>
                <a:gd name="T7" fmla="*/ 79 h 84"/>
                <a:gd name="T8" fmla="*/ 112 w 112"/>
                <a:gd name="T9" fmla="*/ 77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2"/>
                <a:gd name="T16" fmla="*/ 0 h 84"/>
                <a:gd name="T17" fmla="*/ 112 w 112"/>
                <a:gd name="T18" fmla="*/ 84 h 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2" h="84">
                  <a:moveTo>
                    <a:pt x="0" y="17"/>
                  </a:moveTo>
                  <a:cubicBezTo>
                    <a:pt x="5" y="15"/>
                    <a:pt x="21" y="0"/>
                    <a:pt x="30" y="5"/>
                  </a:cubicBezTo>
                  <a:cubicBezTo>
                    <a:pt x="39" y="10"/>
                    <a:pt x="46" y="33"/>
                    <a:pt x="54" y="45"/>
                  </a:cubicBezTo>
                  <a:cubicBezTo>
                    <a:pt x="62" y="57"/>
                    <a:pt x="68" y="74"/>
                    <a:pt x="78" y="79"/>
                  </a:cubicBezTo>
                  <a:cubicBezTo>
                    <a:pt x="88" y="84"/>
                    <a:pt x="105" y="77"/>
                    <a:pt x="112" y="77"/>
                  </a:cubicBez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35" name="Line 476"/>
            <p:cNvSpPr>
              <a:spLocks noChangeShapeType="1"/>
            </p:cNvSpPr>
            <p:nvPr/>
          </p:nvSpPr>
          <p:spPr bwMode="auto">
            <a:xfrm>
              <a:off x="812" y="960"/>
              <a:ext cx="164" cy="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436" name="Group 480"/>
            <p:cNvGrpSpPr>
              <a:grpSpLocks/>
            </p:cNvGrpSpPr>
            <p:nvPr/>
          </p:nvGrpSpPr>
          <p:grpSpPr bwMode="auto">
            <a:xfrm>
              <a:off x="946" y="886"/>
              <a:ext cx="98" cy="148"/>
              <a:chOff x="946" y="886"/>
              <a:chExt cx="98" cy="148"/>
            </a:xfrm>
          </p:grpSpPr>
          <p:sp>
            <p:nvSpPr>
              <p:cNvPr id="8439" name="Freeform 477"/>
              <p:cNvSpPr>
                <a:spLocks/>
              </p:cNvSpPr>
              <p:nvPr/>
            </p:nvSpPr>
            <p:spPr bwMode="auto">
              <a:xfrm>
                <a:off x="946" y="888"/>
                <a:ext cx="38" cy="146"/>
              </a:xfrm>
              <a:custGeom>
                <a:avLst/>
                <a:gdLst>
                  <a:gd name="T0" fmla="*/ 0 w 38"/>
                  <a:gd name="T1" fmla="*/ 0 h 146"/>
                  <a:gd name="T2" fmla="*/ 38 w 38"/>
                  <a:gd name="T3" fmla="*/ 18 h 146"/>
                  <a:gd name="T4" fmla="*/ 0 w 38"/>
                  <a:gd name="T5" fmla="*/ 48 h 146"/>
                  <a:gd name="T6" fmla="*/ 36 w 38"/>
                  <a:gd name="T7" fmla="*/ 72 h 146"/>
                  <a:gd name="T8" fmla="*/ 2 w 38"/>
                  <a:gd name="T9" fmla="*/ 96 h 146"/>
                  <a:gd name="T10" fmla="*/ 38 w 38"/>
                  <a:gd name="T11" fmla="*/ 122 h 146"/>
                  <a:gd name="T12" fmla="*/ 1 w 38"/>
                  <a:gd name="T13" fmla="*/ 146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146"/>
                  <a:gd name="T23" fmla="*/ 38 w 38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146">
                    <a:moveTo>
                      <a:pt x="0" y="0"/>
                    </a:moveTo>
                    <a:lnTo>
                      <a:pt x="38" y="18"/>
                    </a:lnTo>
                    <a:lnTo>
                      <a:pt x="0" y="48"/>
                    </a:lnTo>
                    <a:lnTo>
                      <a:pt x="36" y="72"/>
                    </a:lnTo>
                    <a:lnTo>
                      <a:pt x="2" y="96"/>
                    </a:lnTo>
                    <a:lnTo>
                      <a:pt x="38" y="122"/>
                    </a:lnTo>
                    <a:lnTo>
                      <a:pt x="1" y="146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40" name="Freeform 478"/>
              <p:cNvSpPr>
                <a:spLocks/>
              </p:cNvSpPr>
              <p:nvPr/>
            </p:nvSpPr>
            <p:spPr bwMode="auto">
              <a:xfrm rot="10800000">
                <a:off x="1006" y="886"/>
                <a:ext cx="38" cy="146"/>
              </a:xfrm>
              <a:custGeom>
                <a:avLst/>
                <a:gdLst>
                  <a:gd name="T0" fmla="*/ 0 w 38"/>
                  <a:gd name="T1" fmla="*/ 0 h 146"/>
                  <a:gd name="T2" fmla="*/ 38 w 38"/>
                  <a:gd name="T3" fmla="*/ 18 h 146"/>
                  <a:gd name="T4" fmla="*/ 0 w 38"/>
                  <a:gd name="T5" fmla="*/ 48 h 146"/>
                  <a:gd name="T6" fmla="*/ 36 w 38"/>
                  <a:gd name="T7" fmla="*/ 72 h 146"/>
                  <a:gd name="T8" fmla="*/ 2 w 38"/>
                  <a:gd name="T9" fmla="*/ 96 h 146"/>
                  <a:gd name="T10" fmla="*/ 38 w 38"/>
                  <a:gd name="T11" fmla="*/ 122 h 146"/>
                  <a:gd name="T12" fmla="*/ 1 w 38"/>
                  <a:gd name="T13" fmla="*/ 146 h 14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8"/>
                  <a:gd name="T22" fmla="*/ 0 h 146"/>
                  <a:gd name="T23" fmla="*/ 38 w 38"/>
                  <a:gd name="T24" fmla="*/ 146 h 14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8" h="146">
                    <a:moveTo>
                      <a:pt x="0" y="0"/>
                    </a:moveTo>
                    <a:lnTo>
                      <a:pt x="38" y="18"/>
                    </a:lnTo>
                    <a:lnTo>
                      <a:pt x="0" y="48"/>
                    </a:lnTo>
                    <a:lnTo>
                      <a:pt x="36" y="72"/>
                    </a:lnTo>
                    <a:lnTo>
                      <a:pt x="2" y="96"/>
                    </a:lnTo>
                    <a:lnTo>
                      <a:pt x="38" y="122"/>
                    </a:lnTo>
                    <a:lnTo>
                      <a:pt x="1" y="146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8437" name="Freeform 479"/>
            <p:cNvSpPr>
              <a:spLocks/>
            </p:cNvSpPr>
            <p:nvPr/>
          </p:nvSpPr>
          <p:spPr bwMode="auto">
            <a:xfrm>
              <a:off x="1008" y="960"/>
              <a:ext cx="256" cy="240"/>
            </a:xfrm>
            <a:custGeom>
              <a:avLst/>
              <a:gdLst>
                <a:gd name="T0" fmla="*/ 0 w 256"/>
                <a:gd name="T1" fmla="*/ 0 h 240"/>
                <a:gd name="T2" fmla="*/ 256 w 256"/>
                <a:gd name="T3" fmla="*/ 0 h 240"/>
                <a:gd name="T4" fmla="*/ 256 w 256"/>
                <a:gd name="T5" fmla="*/ 240 h 240"/>
                <a:gd name="T6" fmla="*/ 0 60000 65536"/>
                <a:gd name="T7" fmla="*/ 0 60000 65536"/>
                <a:gd name="T8" fmla="*/ 0 60000 65536"/>
                <a:gd name="T9" fmla="*/ 0 w 256"/>
                <a:gd name="T10" fmla="*/ 0 h 240"/>
                <a:gd name="T11" fmla="*/ 256 w 256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6" h="240">
                  <a:moveTo>
                    <a:pt x="0" y="0"/>
                  </a:moveTo>
                  <a:lnTo>
                    <a:pt x="256" y="0"/>
                  </a:lnTo>
                  <a:lnTo>
                    <a:pt x="256" y="240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38" name="Rectangle 481"/>
            <p:cNvSpPr>
              <a:spLocks noChangeArrowheads="1"/>
            </p:cNvSpPr>
            <p:nvPr/>
          </p:nvSpPr>
          <p:spPr bwMode="auto">
            <a:xfrm>
              <a:off x="1104" y="1200"/>
              <a:ext cx="288" cy="9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777777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altLang="ko-KR" sz="800">
                  <a:solidFill>
                    <a:srgbClr val="5F5F5F"/>
                  </a:solidFill>
                  <a:latin typeface="맑은 고딕" pitchFamily="50" charset="-127"/>
                  <a:ea typeface="맑은 고딕" pitchFamily="50" charset="-127"/>
                </a:rPr>
                <a:t>GIPAM</a:t>
              </a:r>
            </a:p>
          </p:txBody>
        </p:sp>
      </p:grpSp>
      <p:sp>
        <p:nvSpPr>
          <p:cNvPr id="8198" name="Line 487"/>
          <p:cNvSpPr>
            <a:spLocks noChangeShapeType="1"/>
          </p:cNvSpPr>
          <p:nvPr/>
        </p:nvSpPr>
        <p:spPr bwMode="auto">
          <a:xfrm>
            <a:off x="1930400" y="2832100"/>
            <a:ext cx="457200" cy="0"/>
          </a:xfrm>
          <a:prstGeom prst="line">
            <a:avLst/>
          </a:prstGeom>
          <a:noFill/>
          <a:ln w="19050">
            <a:solidFill>
              <a:srgbClr val="777777"/>
            </a:solidFill>
            <a:round/>
            <a:headEnd/>
            <a:tailEnd type="triangle" w="sm" len="sm"/>
          </a:ln>
        </p:spPr>
        <p:txBody>
          <a:bodyPr anchor="ctr" anchorCtr="1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199" name="Text Box 488"/>
          <p:cNvSpPr txBox="1">
            <a:spLocks noChangeArrowheads="1"/>
          </p:cNvSpPr>
          <p:nvPr/>
        </p:nvSpPr>
        <p:spPr bwMode="auto">
          <a:xfrm>
            <a:off x="2381250" y="2714625"/>
            <a:ext cx="914400" cy="2159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ko-KR" sz="800" b="1" dirty="0">
                <a:solidFill>
                  <a:srgbClr val="777777"/>
                </a:solidFill>
                <a:latin typeface="맑은 고딕" pitchFamily="50" charset="-127"/>
                <a:ea typeface="맑은 고딕" pitchFamily="50" charset="-127"/>
                <a:cs typeface="HY울릉도L"/>
              </a:rPr>
              <a:t>TO. </a:t>
            </a:r>
            <a:r>
              <a:rPr lang="ko-KR" altLang="en-US" sz="800" b="1" dirty="0">
                <a:solidFill>
                  <a:srgbClr val="777777"/>
                </a:solidFill>
                <a:latin typeface="맑은 고딕" pitchFamily="50" charset="-127"/>
                <a:ea typeface="맑은 고딕" pitchFamily="50" charset="-127"/>
                <a:cs typeface="HY울릉도L"/>
              </a:rPr>
              <a:t>발전기실</a:t>
            </a:r>
          </a:p>
        </p:txBody>
      </p:sp>
      <p:sp>
        <p:nvSpPr>
          <p:cNvPr id="8200" name="Line 489"/>
          <p:cNvSpPr>
            <a:spLocks noChangeShapeType="1"/>
          </p:cNvSpPr>
          <p:nvPr/>
        </p:nvSpPr>
        <p:spPr bwMode="auto">
          <a:xfrm>
            <a:off x="762000" y="2209800"/>
            <a:ext cx="152400" cy="76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anchor="ctr" anchorCtr="1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01" name="Line 490"/>
          <p:cNvSpPr>
            <a:spLocks noChangeShapeType="1"/>
          </p:cNvSpPr>
          <p:nvPr/>
        </p:nvSpPr>
        <p:spPr bwMode="auto">
          <a:xfrm flipV="1">
            <a:off x="762000" y="2209800"/>
            <a:ext cx="152400" cy="76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</p:spPr>
        <p:txBody>
          <a:bodyPr anchor="ctr" anchorCtr="1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02" name="AutoShape 495"/>
          <p:cNvSpPr>
            <a:spLocks noChangeArrowheads="1"/>
          </p:cNvSpPr>
          <p:nvPr/>
        </p:nvSpPr>
        <p:spPr bwMode="auto">
          <a:xfrm>
            <a:off x="152400" y="3657600"/>
            <a:ext cx="9601200" cy="2743200"/>
          </a:xfrm>
          <a:prstGeom prst="roundRect">
            <a:avLst>
              <a:gd name="adj" fmla="val 4167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203" name="Group 595"/>
          <p:cNvGrpSpPr>
            <a:grpSpLocks/>
          </p:cNvGrpSpPr>
          <p:nvPr/>
        </p:nvGrpSpPr>
        <p:grpSpPr bwMode="auto">
          <a:xfrm>
            <a:off x="314325" y="3886200"/>
            <a:ext cx="1133475" cy="2338388"/>
            <a:chOff x="198" y="2448"/>
            <a:chExt cx="714" cy="1473"/>
          </a:xfrm>
        </p:grpSpPr>
        <p:grpSp>
          <p:nvGrpSpPr>
            <p:cNvPr id="8374" name="Group 496"/>
            <p:cNvGrpSpPr>
              <a:grpSpLocks/>
            </p:cNvGrpSpPr>
            <p:nvPr/>
          </p:nvGrpSpPr>
          <p:grpSpPr bwMode="auto">
            <a:xfrm>
              <a:off x="324" y="2874"/>
              <a:ext cx="77" cy="193"/>
              <a:chOff x="689" y="1233"/>
              <a:chExt cx="101" cy="319"/>
            </a:xfrm>
          </p:grpSpPr>
          <p:sp>
            <p:nvSpPr>
              <p:cNvPr id="8412" name="Freeform 497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13" name="Freeform 498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14" name="Line 499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15" name="Oval 500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16" name="AutoShape 501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417" name="Group 502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418" name="Freeform 503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419" name="Freeform 504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420" name="Line 505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421" name="Oval 506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375" name="Oval 507"/>
            <p:cNvSpPr>
              <a:spLocks noChangeArrowheads="1"/>
            </p:cNvSpPr>
            <p:nvPr/>
          </p:nvSpPr>
          <p:spPr bwMode="auto">
            <a:xfrm>
              <a:off x="294" y="2631"/>
              <a:ext cx="96" cy="96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76" name="Line 508"/>
            <p:cNvSpPr>
              <a:spLocks noChangeShapeType="1"/>
            </p:cNvSpPr>
            <p:nvPr/>
          </p:nvSpPr>
          <p:spPr bwMode="auto">
            <a:xfrm>
              <a:off x="342" y="2727"/>
              <a:ext cx="0" cy="144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77" name="Oval 509"/>
            <p:cNvSpPr>
              <a:spLocks noChangeArrowheads="1"/>
            </p:cNvSpPr>
            <p:nvPr/>
          </p:nvSpPr>
          <p:spPr bwMode="auto">
            <a:xfrm>
              <a:off x="294" y="2559"/>
              <a:ext cx="96" cy="96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78" name="Text Box 510"/>
            <p:cNvSpPr txBox="1">
              <a:spLocks noChangeArrowheads="1"/>
            </p:cNvSpPr>
            <p:nvPr/>
          </p:nvSpPr>
          <p:spPr bwMode="auto">
            <a:xfrm>
              <a:off x="290" y="2555"/>
              <a:ext cx="116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b="1">
                  <a:latin typeface="맑은 고딕" pitchFamily="50" charset="-127"/>
                  <a:ea typeface="맑은 고딕" pitchFamily="50" charset="-127"/>
                </a:rPr>
                <a:t>△</a:t>
              </a:r>
            </a:p>
          </p:txBody>
        </p:sp>
        <p:sp>
          <p:nvSpPr>
            <p:cNvPr id="8379" name="Text Box 511"/>
            <p:cNvSpPr txBox="1">
              <a:spLocks noChangeArrowheads="1"/>
            </p:cNvSpPr>
            <p:nvPr/>
          </p:nvSpPr>
          <p:spPr bwMode="auto">
            <a:xfrm>
              <a:off x="288" y="2652"/>
              <a:ext cx="116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Y</a:t>
              </a:r>
            </a:p>
          </p:txBody>
        </p:sp>
        <p:sp>
          <p:nvSpPr>
            <p:cNvPr id="8380" name="Line 512"/>
            <p:cNvSpPr>
              <a:spLocks noChangeShapeType="1"/>
            </p:cNvSpPr>
            <p:nvPr/>
          </p:nvSpPr>
          <p:spPr bwMode="auto">
            <a:xfrm>
              <a:off x="345" y="3072"/>
              <a:ext cx="0" cy="144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381" name="Group 513"/>
            <p:cNvGrpSpPr>
              <a:grpSpLocks/>
            </p:cNvGrpSpPr>
            <p:nvPr/>
          </p:nvGrpSpPr>
          <p:grpSpPr bwMode="auto">
            <a:xfrm>
              <a:off x="324" y="3210"/>
              <a:ext cx="77" cy="193"/>
              <a:chOff x="689" y="1233"/>
              <a:chExt cx="101" cy="319"/>
            </a:xfrm>
          </p:grpSpPr>
          <p:sp>
            <p:nvSpPr>
              <p:cNvPr id="8402" name="Freeform 514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03" name="Freeform 515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04" name="Line 516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05" name="Oval 517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406" name="AutoShape 518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407" name="Group 519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408" name="Freeform 520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409" name="Freeform 521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410" name="Line 522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411" name="Oval 523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382" name="Line 524"/>
            <p:cNvSpPr>
              <a:spLocks noChangeShapeType="1"/>
            </p:cNvSpPr>
            <p:nvPr/>
          </p:nvSpPr>
          <p:spPr bwMode="auto">
            <a:xfrm flipH="1">
              <a:off x="344" y="3405"/>
              <a:ext cx="1" cy="279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 type="triangle" w="sm" len="sm"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383" name="Group 525"/>
            <p:cNvGrpSpPr>
              <a:grpSpLocks/>
            </p:cNvGrpSpPr>
            <p:nvPr/>
          </p:nvGrpSpPr>
          <p:grpSpPr bwMode="auto">
            <a:xfrm>
              <a:off x="516" y="3210"/>
              <a:ext cx="77" cy="193"/>
              <a:chOff x="689" y="1233"/>
              <a:chExt cx="101" cy="319"/>
            </a:xfrm>
          </p:grpSpPr>
          <p:sp>
            <p:nvSpPr>
              <p:cNvPr id="8392" name="Freeform 526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93" name="Freeform 527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94" name="Line 528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95" name="Oval 529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96" name="AutoShape 530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397" name="Group 531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398" name="Freeform 532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99" name="Freeform 533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400" name="Line 534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401" name="Oval 535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384" name="Freeform 536"/>
            <p:cNvSpPr>
              <a:spLocks/>
            </p:cNvSpPr>
            <p:nvPr/>
          </p:nvSpPr>
          <p:spPr bwMode="auto">
            <a:xfrm>
              <a:off x="534" y="3099"/>
              <a:ext cx="236" cy="105"/>
            </a:xfrm>
            <a:custGeom>
              <a:avLst/>
              <a:gdLst>
                <a:gd name="T0" fmla="*/ 0 w 236"/>
                <a:gd name="T1" fmla="*/ 105 h 105"/>
                <a:gd name="T2" fmla="*/ 0 w 236"/>
                <a:gd name="T3" fmla="*/ 0 h 105"/>
                <a:gd name="T4" fmla="*/ 236 w 236"/>
                <a:gd name="T5" fmla="*/ 1 h 105"/>
                <a:gd name="T6" fmla="*/ 0 60000 65536"/>
                <a:gd name="T7" fmla="*/ 0 60000 65536"/>
                <a:gd name="T8" fmla="*/ 0 60000 65536"/>
                <a:gd name="T9" fmla="*/ 0 w 236"/>
                <a:gd name="T10" fmla="*/ 0 h 105"/>
                <a:gd name="T11" fmla="*/ 236 w 236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6" h="105">
                  <a:moveTo>
                    <a:pt x="0" y="105"/>
                  </a:moveTo>
                  <a:lnTo>
                    <a:pt x="0" y="0"/>
                  </a:lnTo>
                  <a:lnTo>
                    <a:pt x="236" y="1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 type="triangle" w="sm" len="sm"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85" name="Freeform 537"/>
            <p:cNvSpPr>
              <a:spLocks/>
            </p:cNvSpPr>
            <p:nvPr/>
          </p:nvSpPr>
          <p:spPr bwMode="auto">
            <a:xfrm>
              <a:off x="344" y="3403"/>
              <a:ext cx="193" cy="98"/>
            </a:xfrm>
            <a:custGeom>
              <a:avLst/>
              <a:gdLst>
                <a:gd name="T0" fmla="*/ 0 w 193"/>
                <a:gd name="T1" fmla="*/ 97 h 98"/>
                <a:gd name="T2" fmla="*/ 193 w 193"/>
                <a:gd name="T3" fmla="*/ 98 h 98"/>
                <a:gd name="T4" fmla="*/ 193 w 193"/>
                <a:gd name="T5" fmla="*/ 0 h 98"/>
                <a:gd name="T6" fmla="*/ 0 60000 65536"/>
                <a:gd name="T7" fmla="*/ 0 60000 65536"/>
                <a:gd name="T8" fmla="*/ 0 60000 65536"/>
                <a:gd name="T9" fmla="*/ 0 w 193"/>
                <a:gd name="T10" fmla="*/ 0 h 98"/>
                <a:gd name="T11" fmla="*/ 193 w 193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" h="98">
                  <a:moveTo>
                    <a:pt x="0" y="97"/>
                  </a:moveTo>
                  <a:lnTo>
                    <a:pt x="193" y="98"/>
                  </a:lnTo>
                  <a:lnTo>
                    <a:pt x="193" y="0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86" name="Line 538"/>
            <p:cNvSpPr>
              <a:spLocks noChangeShapeType="1"/>
            </p:cNvSpPr>
            <p:nvPr/>
          </p:nvSpPr>
          <p:spPr bwMode="auto">
            <a:xfrm>
              <a:off x="344" y="2450"/>
              <a:ext cx="0" cy="11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87" name="Line 539"/>
            <p:cNvSpPr>
              <a:spLocks noChangeShapeType="1"/>
            </p:cNvSpPr>
            <p:nvPr/>
          </p:nvSpPr>
          <p:spPr bwMode="auto">
            <a:xfrm>
              <a:off x="318" y="2448"/>
              <a:ext cx="54" cy="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88" name="Text Box 540"/>
            <p:cNvSpPr txBox="1">
              <a:spLocks noChangeArrowheads="1"/>
            </p:cNvSpPr>
            <p:nvPr/>
          </p:nvSpPr>
          <p:spPr bwMode="auto">
            <a:xfrm>
              <a:off x="768" y="3058"/>
              <a:ext cx="144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A</a:t>
              </a:r>
            </a:p>
          </p:txBody>
        </p:sp>
        <p:sp>
          <p:nvSpPr>
            <p:cNvPr id="8389" name="Text Box 542"/>
            <p:cNvSpPr txBox="1">
              <a:spLocks noChangeArrowheads="1"/>
            </p:cNvSpPr>
            <p:nvPr/>
          </p:nvSpPr>
          <p:spPr bwMode="auto">
            <a:xfrm>
              <a:off x="402" y="2521"/>
              <a:ext cx="288" cy="29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TR-1</a:t>
              </a:r>
            </a:p>
            <a:p>
              <a:pPr algn="ctr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1000KVA</a:t>
              </a:r>
            </a:p>
          </p:txBody>
        </p:sp>
        <p:sp>
          <p:nvSpPr>
            <p:cNvPr id="8390" name="Text Box 543"/>
            <p:cNvSpPr txBox="1">
              <a:spLocks noChangeArrowheads="1"/>
            </p:cNvSpPr>
            <p:nvPr/>
          </p:nvSpPr>
          <p:spPr bwMode="auto">
            <a:xfrm>
              <a:off x="198" y="3727"/>
              <a:ext cx="357" cy="19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spAutoFit/>
            </a:bodyPr>
            <a:lstStyle/>
            <a:p>
              <a:pPr algn="ctr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A ,B EPS </a:t>
              </a:r>
              <a:r>
                <a:rPr lang="ko-KR" altLang="en-US" dirty="0">
                  <a:latin typeface="맑은 고딕" pitchFamily="50" charset="-127"/>
                  <a:ea typeface="맑은 고딕" pitchFamily="50" charset="-127"/>
                </a:rPr>
                <a:t>비상조명</a:t>
              </a:r>
            </a:p>
          </p:txBody>
        </p:sp>
        <p:sp>
          <p:nvSpPr>
            <p:cNvPr id="8391" name="Line 544"/>
            <p:cNvSpPr>
              <a:spLocks noChangeShapeType="1"/>
            </p:cNvSpPr>
            <p:nvPr/>
          </p:nvSpPr>
          <p:spPr bwMode="auto">
            <a:xfrm>
              <a:off x="408" y="3312"/>
              <a:ext cx="168" cy="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sysDot"/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204" name="Group 596"/>
          <p:cNvGrpSpPr>
            <a:grpSpLocks/>
          </p:cNvGrpSpPr>
          <p:nvPr/>
        </p:nvGrpSpPr>
        <p:grpSpPr bwMode="auto">
          <a:xfrm>
            <a:off x="2595563" y="3857624"/>
            <a:ext cx="1133475" cy="2343150"/>
            <a:chOff x="198" y="2448"/>
            <a:chExt cx="714" cy="1476"/>
          </a:xfrm>
        </p:grpSpPr>
        <p:grpSp>
          <p:nvGrpSpPr>
            <p:cNvPr id="8326" name="Group 597"/>
            <p:cNvGrpSpPr>
              <a:grpSpLocks/>
            </p:cNvGrpSpPr>
            <p:nvPr/>
          </p:nvGrpSpPr>
          <p:grpSpPr bwMode="auto">
            <a:xfrm>
              <a:off x="324" y="2874"/>
              <a:ext cx="77" cy="193"/>
              <a:chOff x="689" y="1233"/>
              <a:chExt cx="101" cy="319"/>
            </a:xfrm>
          </p:grpSpPr>
          <p:sp>
            <p:nvSpPr>
              <p:cNvPr id="8364" name="Freeform 598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65" name="Freeform 599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66" name="Line 600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67" name="Oval 601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68" name="AutoShape 602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369" name="Group 603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370" name="Freeform 604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71" name="Freeform 605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72" name="Line 606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73" name="Oval 607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327" name="Oval 608"/>
            <p:cNvSpPr>
              <a:spLocks noChangeArrowheads="1"/>
            </p:cNvSpPr>
            <p:nvPr/>
          </p:nvSpPr>
          <p:spPr bwMode="auto">
            <a:xfrm>
              <a:off x="294" y="2631"/>
              <a:ext cx="96" cy="96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28" name="Line 609"/>
            <p:cNvSpPr>
              <a:spLocks noChangeShapeType="1"/>
            </p:cNvSpPr>
            <p:nvPr/>
          </p:nvSpPr>
          <p:spPr bwMode="auto">
            <a:xfrm>
              <a:off x="342" y="2727"/>
              <a:ext cx="0" cy="144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29" name="Oval 610"/>
            <p:cNvSpPr>
              <a:spLocks noChangeArrowheads="1"/>
            </p:cNvSpPr>
            <p:nvPr/>
          </p:nvSpPr>
          <p:spPr bwMode="auto">
            <a:xfrm>
              <a:off x="294" y="2559"/>
              <a:ext cx="96" cy="96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30" name="Text Box 611"/>
            <p:cNvSpPr txBox="1">
              <a:spLocks noChangeArrowheads="1"/>
            </p:cNvSpPr>
            <p:nvPr/>
          </p:nvSpPr>
          <p:spPr bwMode="auto">
            <a:xfrm>
              <a:off x="290" y="2555"/>
              <a:ext cx="116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b="1">
                  <a:latin typeface="맑은 고딕" pitchFamily="50" charset="-127"/>
                  <a:ea typeface="맑은 고딕" pitchFamily="50" charset="-127"/>
                </a:rPr>
                <a:t>△</a:t>
              </a:r>
            </a:p>
          </p:txBody>
        </p:sp>
        <p:sp>
          <p:nvSpPr>
            <p:cNvPr id="8331" name="Text Box 612"/>
            <p:cNvSpPr txBox="1">
              <a:spLocks noChangeArrowheads="1"/>
            </p:cNvSpPr>
            <p:nvPr/>
          </p:nvSpPr>
          <p:spPr bwMode="auto">
            <a:xfrm>
              <a:off x="288" y="2652"/>
              <a:ext cx="116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Y</a:t>
              </a:r>
            </a:p>
          </p:txBody>
        </p:sp>
        <p:sp>
          <p:nvSpPr>
            <p:cNvPr id="8332" name="Line 613"/>
            <p:cNvSpPr>
              <a:spLocks noChangeShapeType="1"/>
            </p:cNvSpPr>
            <p:nvPr/>
          </p:nvSpPr>
          <p:spPr bwMode="auto">
            <a:xfrm>
              <a:off x="345" y="3072"/>
              <a:ext cx="0" cy="144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333" name="Group 614"/>
            <p:cNvGrpSpPr>
              <a:grpSpLocks/>
            </p:cNvGrpSpPr>
            <p:nvPr/>
          </p:nvGrpSpPr>
          <p:grpSpPr bwMode="auto">
            <a:xfrm>
              <a:off x="324" y="3210"/>
              <a:ext cx="77" cy="193"/>
              <a:chOff x="689" y="1233"/>
              <a:chExt cx="101" cy="319"/>
            </a:xfrm>
          </p:grpSpPr>
          <p:sp>
            <p:nvSpPr>
              <p:cNvPr id="8354" name="Freeform 615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55" name="Freeform 616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56" name="Line 617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57" name="Oval 618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58" name="AutoShape 619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359" name="Group 620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360" name="Freeform 621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61" name="Freeform 622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62" name="Line 623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63" name="Oval 624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334" name="Line 625"/>
            <p:cNvSpPr>
              <a:spLocks noChangeShapeType="1"/>
            </p:cNvSpPr>
            <p:nvPr/>
          </p:nvSpPr>
          <p:spPr bwMode="auto">
            <a:xfrm flipH="1">
              <a:off x="344" y="3405"/>
              <a:ext cx="1" cy="279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 type="triangle" w="sm" len="sm"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335" name="Group 626"/>
            <p:cNvGrpSpPr>
              <a:grpSpLocks/>
            </p:cNvGrpSpPr>
            <p:nvPr/>
          </p:nvGrpSpPr>
          <p:grpSpPr bwMode="auto">
            <a:xfrm>
              <a:off x="516" y="3210"/>
              <a:ext cx="77" cy="193"/>
              <a:chOff x="689" y="1233"/>
              <a:chExt cx="101" cy="319"/>
            </a:xfrm>
          </p:grpSpPr>
          <p:sp>
            <p:nvSpPr>
              <p:cNvPr id="8344" name="Freeform 627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45" name="Freeform 628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46" name="Line 629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47" name="Oval 630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48" name="AutoShape 631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349" name="Group 632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350" name="Freeform 633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51" name="Freeform 634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52" name="Line 635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53" name="Oval 636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336" name="Freeform 637"/>
            <p:cNvSpPr>
              <a:spLocks/>
            </p:cNvSpPr>
            <p:nvPr/>
          </p:nvSpPr>
          <p:spPr bwMode="auto">
            <a:xfrm>
              <a:off x="534" y="3099"/>
              <a:ext cx="236" cy="105"/>
            </a:xfrm>
            <a:custGeom>
              <a:avLst/>
              <a:gdLst>
                <a:gd name="T0" fmla="*/ 0 w 236"/>
                <a:gd name="T1" fmla="*/ 105 h 105"/>
                <a:gd name="T2" fmla="*/ 0 w 236"/>
                <a:gd name="T3" fmla="*/ 0 h 105"/>
                <a:gd name="T4" fmla="*/ 236 w 236"/>
                <a:gd name="T5" fmla="*/ 1 h 105"/>
                <a:gd name="T6" fmla="*/ 0 60000 65536"/>
                <a:gd name="T7" fmla="*/ 0 60000 65536"/>
                <a:gd name="T8" fmla="*/ 0 60000 65536"/>
                <a:gd name="T9" fmla="*/ 0 w 236"/>
                <a:gd name="T10" fmla="*/ 0 h 105"/>
                <a:gd name="T11" fmla="*/ 236 w 236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6" h="105">
                  <a:moveTo>
                    <a:pt x="0" y="105"/>
                  </a:moveTo>
                  <a:lnTo>
                    <a:pt x="0" y="0"/>
                  </a:lnTo>
                  <a:lnTo>
                    <a:pt x="236" y="1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 type="triangle" w="sm" len="sm"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37" name="Freeform 638"/>
            <p:cNvSpPr>
              <a:spLocks/>
            </p:cNvSpPr>
            <p:nvPr/>
          </p:nvSpPr>
          <p:spPr bwMode="auto">
            <a:xfrm>
              <a:off x="344" y="3403"/>
              <a:ext cx="193" cy="98"/>
            </a:xfrm>
            <a:custGeom>
              <a:avLst/>
              <a:gdLst>
                <a:gd name="T0" fmla="*/ 0 w 193"/>
                <a:gd name="T1" fmla="*/ 97 h 98"/>
                <a:gd name="T2" fmla="*/ 193 w 193"/>
                <a:gd name="T3" fmla="*/ 98 h 98"/>
                <a:gd name="T4" fmla="*/ 193 w 193"/>
                <a:gd name="T5" fmla="*/ 0 h 98"/>
                <a:gd name="T6" fmla="*/ 0 60000 65536"/>
                <a:gd name="T7" fmla="*/ 0 60000 65536"/>
                <a:gd name="T8" fmla="*/ 0 60000 65536"/>
                <a:gd name="T9" fmla="*/ 0 w 193"/>
                <a:gd name="T10" fmla="*/ 0 h 98"/>
                <a:gd name="T11" fmla="*/ 193 w 193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" h="98">
                  <a:moveTo>
                    <a:pt x="0" y="97"/>
                  </a:moveTo>
                  <a:lnTo>
                    <a:pt x="193" y="98"/>
                  </a:lnTo>
                  <a:lnTo>
                    <a:pt x="193" y="0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38" name="Line 639"/>
            <p:cNvSpPr>
              <a:spLocks noChangeShapeType="1"/>
            </p:cNvSpPr>
            <p:nvPr/>
          </p:nvSpPr>
          <p:spPr bwMode="auto">
            <a:xfrm>
              <a:off x="344" y="2450"/>
              <a:ext cx="0" cy="11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39" name="Line 640"/>
            <p:cNvSpPr>
              <a:spLocks noChangeShapeType="1"/>
            </p:cNvSpPr>
            <p:nvPr/>
          </p:nvSpPr>
          <p:spPr bwMode="auto">
            <a:xfrm>
              <a:off x="318" y="2448"/>
              <a:ext cx="54" cy="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340" name="Text Box 641"/>
            <p:cNvSpPr txBox="1">
              <a:spLocks noChangeArrowheads="1"/>
            </p:cNvSpPr>
            <p:nvPr/>
          </p:nvSpPr>
          <p:spPr bwMode="auto">
            <a:xfrm>
              <a:off x="768" y="3058"/>
              <a:ext cx="144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B</a:t>
              </a:r>
            </a:p>
          </p:txBody>
        </p:sp>
        <p:sp>
          <p:nvSpPr>
            <p:cNvPr id="8341" name="Text Box 642"/>
            <p:cNvSpPr txBox="1">
              <a:spLocks noChangeArrowheads="1"/>
            </p:cNvSpPr>
            <p:nvPr/>
          </p:nvSpPr>
          <p:spPr bwMode="auto">
            <a:xfrm>
              <a:off x="402" y="2521"/>
              <a:ext cx="288" cy="29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TR-2</a:t>
              </a:r>
            </a:p>
            <a:p>
              <a:pPr algn="ctr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1250KVA</a:t>
              </a:r>
            </a:p>
          </p:txBody>
        </p:sp>
        <p:sp>
          <p:nvSpPr>
            <p:cNvPr id="8342" name="Text Box 643"/>
            <p:cNvSpPr txBox="1">
              <a:spLocks noChangeArrowheads="1"/>
            </p:cNvSpPr>
            <p:nvPr/>
          </p:nvSpPr>
          <p:spPr bwMode="auto">
            <a:xfrm>
              <a:off x="198" y="3725"/>
              <a:ext cx="360" cy="1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spAutoFit/>
            </a:bodyPr>
            <a:lstStyle/>
            <a:p>
              <a:pPr algn="ctr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C,D EPS</a:t>
              </a:r>
            </a:p>
            <a:p>
              <a:pPr algn="ctr"/>
              <a:r>
                <a:rPr lang="ko-KR" altLang="en-US" dirty="0">
                  <a:latin typeface="맑은 고딕" pitchFamily="50" charset="-127"/>
                  <a:ea typeface="맑은 고딕" pitchFamily="50" charset="-127"/>
                </a:rPr>
                <a:t>비상조명 </a:t>
              </a:r>
            </a:p>
          </p:txBody>
        </p:sp>
        <p:sp>
          <p:nvSpPr>
            <p:cNvPr id="8343" name="Line 644"/>
            <p:cNvSpPr>
              <a:spLocks noChangeShapeType="1"/>
            </p:cNvSpPr>
            <p:nvPr/>
          </p:nvSpPr>
          <p:spPr bwMode="auto">
            <a:xfrm>
              <a:off x="408" y="3312"/>
              <a:ext cx="168" cy="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sysDot"/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205" name="Group 645"/>
          <p:cNvGrpSpPr>
            <a:grpSpLocks/>
          </p:cNvGrpSpPr>
          <p:nvPr/>
        </p:nvGrpSpPr>
        <p:grpSpPr bwMode="auto">
          <a:xfrm>
            <a:off x="5662613" y="3890963"/>
            <a:ext cx="1133475" cy="2343150"/>
            <a:chOff x="198" y="2448"/>
            <a:chExt cx="714" cy="1476"/>
          </a:xfrm>
        </p:grpSpPr>
        <p:grpSp>
          <p:nvGrpSpPr>
            <p:cNvPr id="8278" name="Group 646"/>
            <p:cNvGrpSpPr>
              <a:grpSpLocks/>
            </p:cNvGrpSpPr>
            <p:nvPr/>
          </p:nvGrpSpPr>
          <p:grpSpPr bwMode="auto">
            <a:xfrm>
              <a:off x="324" y="2874"/>
              <a:ext cx="77" cy="193"/>
              <a:chOff x="689" y="1233"/>
              <a:chExt cx="101" cy="319"/>
            </a:xfrm>
          </p:grpSpPr>
          <p:sp>
            <p:nvSpPr>
              <p:cNvPr id="8316" name="Freeform 647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17" name="Freeform 648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18" name="Line 649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19" name="Oval 650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20" name="AutoShape 651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321" name="Group 652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322" name="Freeform 653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23" name="Freeform 654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24" name="Line 655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25" name="Oval 656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279" name="Oval 657"/>
            <p:cNvSpPr>
              <a:spLocks noChangeArrowheads="1"/>
            </p:cNvSpPr>
            <p:nvPr/>
          </p:nvSpPr>
          <p:spPr bwMode="auto">
            <a:xfrm>
              <a:off x="294" y="2631"/>
              <a:ext cx="96" cy="96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80" name="Line 658"/>
            <p:cNvSpPr>
              <a:spLocks noChangeShapeType="1"/>
            </p:cNvSpPr>
            <p:nvPr/>
          </p:nvSpPr>
          <p:spPr bwMode="auto">
            <a:xfrm>
              <a:off x="342" y="2727"/>
              <a:ext cx="0" cy="144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81" name="Oval 659"/>
            <p:cNvSpPr>
              <a:spLocks noChangeArrowheads="1"/>
            </p:cNvSpPr>
            <p:nvPr/>
          </p:nvSpPr>
          <p:spPr bwMode="auto">
            <a:xfrm>
              <a:off x="294" y="2559"/>
              <a:ext cx="96" cy="96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82" name="Text Box 660"/>
            <p:cNvSpPr txBox="1">
              <a:spLocks noChangeArrowheads="1"/>
            </p:cNvSpPr>
            <p:nvPr/>
          </p:nvSpPr>
          <p:spPr bwMode="auto">
            <a:xfrm>
              <a:off x="290" y="2555"/>
              <a:ext cx="116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 b="1">
                  <a:latin typeface="맑은 고딕" pitchFamily="50" charset="-127"/>
                  <a:ea typeface="맑은 고딕" pitchFamily="50" charset="-127"/>
                </a:rPr>
                <a:t>△</a:t>
              </a:r>
            </a:p>
          </p:txBody>
        </p:sp>
        <p:sp>
          <p:nvSpPr>
            <p:cNvPr id="8283" name="Text Box 661"/>
            <p:cNvSpPr txBox="1">
              <a:spLocks noChangeArrowheads="1"/>
            </p:cNvSpPr>
            <p:nvPr/>
          </p:nvSpPr>
          <p:spPr bwMode="auto">
            <a:xfrm>
              <a:off x="288" y="2652"/>
              <a:ext cx="116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Y</a:t>
              </a:r>
            </a:p>
          </p:txBody>
        </p:sp>
        <p:sp>
          <p:nvSpPr>
            <p:cNvPr id="8284" name="Line 662"/>
            <p:cNvSpPr>
              <a:spLocks noChangeShapeType="1"/>
            </p:cNvSpPr>
            <p:nvPr/>
          </p:nvSpPr>
          <p:spPr bwMode="auto">
            <a:xfrm>
              <a:off x="345" y="3072"/>
              <a:ext cx="0" cy="144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285" name="Group 663"/>
            <p:cNvGrpSpPr>
              <a:grpSpLocks/>
            </p:cNvGrpSpPr>
            <p:nvPr/>
          </p:nvGrpSpPr>
          <p:grpSpPr bwMode="auto">
            <a:xfrm>
              <a:off x="324" y="3210"/>
              <a:ext cx="77" cy="193"/>
              <a:chOff x="689" y="1233"/>
              <a:chExt cx="101" cy="319"/>
            </a:xfrm>
          </p:grpSpPr>
          <p:sp>
            <p:nvSpPr>
              <p:cNvPr id="8306" name="Freeform 664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07" name="Freeform 665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08" name="Line 666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09" name="Oval 667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10" name="AutoShape 668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311" name="Group 669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312" name="Freeform 670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13" name="Freeform 671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14" name="Line 672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15" name="Oval 673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286" name="Line 674"/>
            <p:cNvSpPr>
              <a:spLocks noChangeShapeType="1"/>
            </p:cNvSpPr>
            <p:nvPr/>
          </p:nvSpPr>
          <p:spPr bwMode="auto">
            <a:xfrm flipH="1">
              <a:off x="344" y="3405"/>
              <a:ext cx="1" cy="279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 type="triangle" w="sm" len="sm"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287" name="Group 675"/>
            <p:cNvGrpSpPr>
              <a:grpSpLocks/>
            </p:cNvGrpSpPr>
            <p:nvPr/>
          </p:nvGrpSpPr>
          <p:grpSpPr bwMode="auto">
            <a:xfrm>
              <a:off x="516" y="3210"/>
              <a:ext cx="77" cy="193"/>
              <a:chOff x="689" y="1233"/>
              <a:chExt cx="101" cy="319"/>
            </a:xfrm>
          </p:grpSpPr>
          <p:sp>
            <p:nvSpPr>
              <p:cNvPr id="8296" name="Freeform 676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97" name="Freeform 677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98" name="Line 678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99" name="Oval 679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300" name="AutoShape 680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301" name="Group 681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302" name="Freeform 682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03" name="Freeform 683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04" name="Line 684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305" name="Oval 685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288" name="Freeform 686"/>
            <p:cNvSpPr>
              <a:spLocks/>
            </p:cNvSpPr>
            <p:nvPr/>
          </p:nvSpPr>
          <p:spPr bwMode="auto">
            <a:xfrm>
              <a:off x="534" y="3099"/>
              <a:ext cx="236" cy="105"/>
            </a:xfrm>
            <a:custGeom>
              <a:avLst/>
              <a:gdLst>
                <a:gd name="T0" fmla="*/ 0 w 236"/>
                <a:gd name="T1" fmla="*/ 105 h 105"/>
                <a:gd name="T2" fmla="*/ 0 w 236"/>
                <a:gd name="T3" fmla="*/ 0 h 105"/>
                <a:gd name="T4" fmla="*/ 236 w 236"/>
                <a:gd name="T5" fmla="*/ 1 h 105"/>
                <a:gd name="T6" fmla="*/ 0 60000 65536"/>
                <a:gd name="T7" fmla="*/ 0 60000 65536"/>
                <a:gd name="T8" fmla="*/ 0 60000 65536"/>
                <a:gd name="T9" fmla="*/ 0 w 236"/>
                <a:gd name="T10" fmla="*/ 0 h 105"/>
                <a:gd name="T11" fmla="*/ 236 w 236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6" h="105">
                  <a:moveTo>
                    <a:pt x="0" y="105"/>
                  </a:moveTo>
                  <a:lnTo>
                    <a:pt x="0" y="0"/>
                  </a:lnTo>
                  <a:lnTo>
                    <a:pt x="236" y="1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 type="triangle" w="sm" len="sm"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89" name="Freeform 687"/>
            <p:cNvSpPr>
              <a:spLocks/>
            </p:cNvSpPr>
            <p:nvPr/>
          </p:nvSpPr>
          <p:spPr bwMode="auto">
            <a:xfrm>
              <a:off x="344" y="3403"/>
              <a:ext cx="193" cy="98"/>
            </a:xfrm>
            <a:custGeom>
              <a:avLst/>
              <a:gdLst>
                <a:gd name="T0" fmla="*/ 0 w 193"/>
                <a:gd name="T1" fmla="*/ 97 h 98"/>
                <a:gd name="T2" fmla="*/ 193 w 193"/>
                <a:gd name="T3" fmla="*/ 98 h 98"/>
                <a:gd name="T4" fmla="*/ 193 w 193"/>
                <a:gd name="T5" fmla="*/ 0 h 98"/>
                <a:gd name="T6" fmla="*/ 0 60000 65536"/>
                <a:gd name="T7" fmla="*/ 0 60000 65536"/>
                <a:gd name="T8" fmla="*/ 0 60000 65536"/>
                <a:gd name="T9" fmla="*/ 0 w 193"/>
                <a:gd name="T10" fmla="*/ 0 h 98"/>
                <a:gd name="T11" fmla="*/ 193 w 193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" h="98">
                  <a:moveTo>
                    <a:pt x="0" y="97"/>
                  </a:moveTo>
                  <a:lnTo>
                    <a:pt x="193" y="98"/>
                  </a:lnTo>
                  <a:lnTo>
                    <a:pt x="193" y="0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90" name="Line 688"/>
            <p:cNvSpPr>
              <a:spLocks noChangeShapeType="1"/>
            </p:cNvSpPr>
            <p:nvPr/>
          </p:nvSpPr>
          <p:spPr bwMode="auto">
            <a:xfrm>
              <a:off x="344" y="2450"/>
              <a:ext cx="0" cy="11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91" name="Line 689"/>
            <p:cNvSpPr>
              <a:spLocks noChangeShapeType="1"/>
            </p:cNvSpPr>
            <p:nvPr/>
          </p:nvSpPr>
          <p:spPr bwMode="auto">
            <a:xfrm>
              <a:off x="318" y="2448"/>
              <a:ext cx="54" cy="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92" name="Text Box 690"/>
            <p:cNvSpPr txBox="1">
              <a:spLocks noChangeArrowheads="1"/>
            </p:cNvSpPr>
            <p:nvPr/>
          </p:nvSpPr>
          <p:spPr bwMode="auto">
            <a:xfrm>
              <a:off x="768" y="3058"/>
              <a:ext cx="144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C</a:t>
              </a:r>
            </a:p>
          </p:txBody>
        </p:sp>
        <p:sp>
          <p:nvSpPr>
            <p:cNvPr id="8293" name="Text Box 691"/>
            <p:cNvSpPr txBox="1">
              <a:spLocks noChangeArrowheads="1"/>
            </p:cNvSpPr>
            <p:nvPr/>
          </p:nvSpPr>
          <p:spPr bwMode="auto">
            <a:xfrm>
              <a:off x="402" y="2521"/>
              <a:ext cx="288" cy="29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TR-6</a:t>
              </a:r>
            </a:p>
            <a:p>
              <a:pPr algn="ctr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1500KVA</a:t>
              </a:r>
            </a:p>
          </p:txBody>
        </p:sp>
        <p:sp>
          <p:nvSpPr>
            <p:cNvPr id="8294" name="Text Box 692"/>
            <p:cNvSpPr txBox="1">
              <a:spLocks noChangeArrowheads="1"/>
            </p:cNvSpPr>
            <p:nvPr/>
          </p:nvSpPr>
          <p:spPr bwMode="auto">
            <a:xfrm>
              <a:off x="198" y="3725"/>
              <a:ext cx="288" cy="1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/>
              <a:r>
                <a:rPr lang="ko-KR" altLang="en-US" dirty="0">
                  <a:latin typeface="맑은 고딕" pitchFamily="50" charset="-127"/>
                  <a:ea typeface="맑은 고딕" pitchFamily="50" charset="-127"/>
                </a:rPr>
                <a:t>실험실 </a:t>
              </a:r>
              <a:endParaRPr lang="en-US" altLang="ko-KR" dirty="0">
                <a:latin typeface="맑은 고딕" pitchFamily="50" charset="-127"/>
                <a:ea typeface="맑은 고딕" pitchFamily="50" charset="-127"/>
              </a:endParaRPr>
            </a:p>
            <a:p>
              <a:pPr algn="ctr"/>
              <a:r>
                <a:rPr lang="ko-KR" altLang="en-US" dirty="0">
                  <a:latin typeface="맑은 고딕" pitchFamily="50" charset="-127"/>
                  <a:ea typeface="맑은 고딕" pitchFamily="50" charset="-127"/>
                </a:rPr>
                <a:t>동력</a:t>
              </a:r>
            </a:p>
          </p:txBody>
        </p:sp>
        <p:sp>
          <p:nvSpPr>
            <p:cNvPr id="8295" name="Line 693"/>
            <p:cNvSpPr>
              <a:spLocks noChangeShapeType="1"/>
            </p:cNvSpPr>
            <p:nvPr/>
          </p:nvSpPr>
          <p:spPr bwMode="auto">
            <a:xfrm>
              <a:off x="408" y="3312"/>
              <a:ext cx="168" cy="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sysDot"/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8206" name="Group 940"/>
          <p:cNvGrpSpPr>
            <a:grpSpLocks/>
          </p:cNvGrpSpPr>
          <p:nvPr/>
        </p:nvGrpSpPr>
        <p:grpSpPr bwMode="auto">
          <a:xfrm>
            <a:off x="8162925" y="3929062"/>
            <a:ext cx="1133475" cy="2343149"/>
            <a:chOff x="2352" y="2448"/>
            <a:chExt cx="714" cy="1476"/>
          </a:xfrm>
        </p:grpSpPr>
        <p:grpSp>
          <p:nvGrpSpPr>
            <p:cNvPr id="8230" name="Group 695"/>
            <p:cNvGrpSpPr>
              <a:grpSpLocks/>
            </p:cNvGrpSpPr>
            <p:nvPr/>
          </p:nvGrpSpPr>
          <p:grpSpPr bwMode="auto">
            <a:xfrm>
              <a:off x="2478" y="2874"/>
              <a:ext cx="77" cy="193"/>
              <a:chOff x="689" y="1233"/>
              <a:chExt cx="101" cy="319"/>
            </a:xfrm>
          </p:grpSpPr>
          <p:sp>
            <p:nvSpPr>
              <p:cNvPr id="8268" name="Freeform 696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69" name="Freeform 697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70" name="Line 698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71" name="Oval 699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72" name="AutoShape 700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273" name="Group 701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274" name="Freeform 702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275" name="Freeform 703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276" name="Line 704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277" name="Oval 705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231" name="Oval 706"/>
            <p:cNvSpPr>
              <a:spLocks noChangeArrowheads="1"/>
            </p:cNvSpPr>
            <p:nvPr/>
          </p:nvSpPr>
          <p:spPr bwMode="auto">
            <a:xfrm>
              <a:off x="2448" y="2631"/>
              <a:ext cx="96" cy="96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32" name="Line 707"/>
            <p:cNvSpPr>
              <a:spLocks noChangeShapeType="1"/>
            </p:cNvSpPr>
            <p:nvPr/>
          </p:nvSpPr>
          <p:spPr bwMode="auto">
            <a:xfrm>
              <a:off x="2496" y="2727"/>
              <a:ext cx="0" cy="144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33" name="Oval 708"/>
            <p:cNvSpPr>
              <a:spLocks noChangeArrowheads="1"/>
            </p:cNvSpPr>
            <p:nvPr/>
          </p:nvSpPr>
          <p:spPr bwMode="auto">
            <a:xfrm>
              <a:off x="2448" y="2559"/>
              <a:ext cx="96" cy="96"/>
            </a:xfrm>
            <a:prstGeom prst="ellips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34" name="Text Box 709"/>
            <p:cNvSpPr txBox="1">
              <a:spLocks noChangeArrowheads="1"/>
            </p:cNvSpPr>
            <p:nvPr/>
          </p:nvSpPr>
          <p:spPr bwMode="auto">
            <a:xfrm>
              <a:off x="2444" y="2555"/>
              <a:ext cx="116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△</a:t>
              </a:r>
            </a:p>
          </p:txBody>
        </p:sp>
        <p:sp>
          <p:nvSpPr>
            <p:cNvPr id="8235" name="Text Box 710"/>
            <p:cNvSpPr txBox="1">
              <a:spLocks noChangeArrowheads="1"/>
            </p:cNvSpPr>
            <p:nvPr/>
          </p:nvSpPr>
          <p:spPr bwMode="auto">
            <a:xfrm>
              <a:off x="2442" y="2652"/>
              <a:ext cx="116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Y</a:t>
              </a:r>
            </a:p>
          </p:txBody>
        </p:sp>
        <p:sp>
          <p:nvSpPr>
            <p:cNvPr id="8236" name="Line 711"/>
            <p:cNvSpPr>
              <a:spLocks noChangeShapeType="1"/>
            </p:cNvSpPr>
            <p:nvPr/>
          </p:nvSpPr>
          <p:spPr bwMode="auto">
            <a:xfrm>
              <a:off x="2499" y="3072"/>
              <a:ext cx="0" cy="144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237" name="Group 712"/>
            <p:cNvGrpSpPr>
              <a:grpSpLocks/>
            </p:cNvGrpSpPr>
            <p:nvPr/>
          </p:nvGrpSpPr>
          <p:grpSpPr bwMode="auto">
            <a:xfrm>
              <a:off x="2478" y="3210"/>
              <a:ext cx="77" cy="193"/>
              <a:chOff x="689" y="1233"/>
              <a:chExt cx="101" cy="319"/>
            </a:xfrm>
          </p:grpSpPr>
          <p:sp>
            <p:nvSpPr>
              <p:cNvPr id="8258" name="Freeform 713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59" name="Freeform 714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60" name="Line 715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61" name="Oval 716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62" name="AutoShape 717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263" name="Group 718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264" name="Freeform 719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265" name="Freeform 720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266" name="Line 721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267" name="Oval 722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238" name="Line 723"/>
            <p:cNvSpPr>
              <a:spLocks noChangeShapeType="1"/>
            </p:cNvSpPr>
            <p:nvPr/>
          </p:nvSpPr>
          <p:spPr bwMode="auto">
            <a:xfrm flipH="1">
              <a:off x="2498" y="3405"/>
              <a:ext cx="1" cy="279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 type="triangle" w="sm" len="sm"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8239" name="Group 724"/>
            <p:cNvGrpSpPr>
              <a:grpSpLocks/>
            </p:cNvGrpSpPr>
            <p:nvPr/>
          </p:nvGrpSpPr>
          <p:grpSpPr bwMode="auto">
            <a:xfrm>
              <a:off x="2670" y="3210"/>
              <a:ext cx="77" cy="193"/>
              <a:chOff x="689" y="1233"/>
              <a:chExt cx="101" cy="319"/>
            </a:xfrm>
          </p:grpSpPr>
          <p:sp>
            <p:nvSpPr>
              <p:cNvPr id="8248" name="Freeform 725"/>
              <p:cNvSpPr>
                <a:spLocks/>
              </p:cNvSpPr>
              <p:nvPr/>
            </p:nvSpPr>
            <p:spPr bwMode="auto">
              <a:xfrm>
                <a:off x="690" y="123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49" name="Freeform 726"/>
              <p:cNvSpPr>
                <a:spLocks/>
              </p:cNvSpPr>
              <p:nvPr/>
            </p:nvSpPr>
            <p:spPr bwMode="auto">
              <a:xfrm>
                <a:off x="690" y="1263"/>
                <a:ext cx="51" cy="39"/>
              </a:xfrm>
              <a:custGeom>
                <a:avLst/>
                <a:gdLst>
                  <a:gd name="T0" fmla="*/ 0 w 51"/>
                  <a:gd name="T1" fmla="*/ 39 h 39"/>
                  <a:gd name="T2" fmla="*/ 24 w 51"/>
                  <a:gd name="T3" fmla="*/ 0 h 39"/>
                  <a:gd name="T4" fmla="*/ 51 w 51"/>
                  <a:gd name="T5" fmla="*/ 37 h 39"/>
                  <a:gd name="T6" fmla="*/ 0 60000 65536"/>
                  <a:gd name="T7" fmla="*/ 0 60000 65536"/>
                  <a:gd name="T8" fmla="*/ 0 60000 65536"/>
                  <a:gd name="T9" fmla="*/ 0 w 51"/>
                  <a:gd name="T10" fmla="*/ 0 h 39"/>
                  <a:gd name="T11" fmla="*/ 51 w 51"/>
                  <a:gd name="T12" fmla="*/ 39 h 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" h="39">
                    <a:moveTo>
                      <a:pt x="0" y="39"/>
                    </a:moveTo>
                    <a:lnTo>
                      <a:pt x="24" y="0"/>
                    </a:lnTo>
                    <a:lnTo>
                      <a:pt x="51" y="37"/>
                    </a:lnTo>
                  </a:path>
                </a:pathLst>
              </a:cu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50" name="Line 727"/>
              <p:cNvSpPr>
                <a:spLocks noChangeShapeType="1"/>
              </p:cNvSpPr>
              <p:nvPr/>
            </p:nvSpPr>
            <p:spPr bwMode="auto">
              <a:xfrm>
                <a:off x="714" y="1275"/>
                <a:ext cx="3" cy="45"/>
              </a:xfrm>
              <a:prstGeom prst="lin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51" name="Oval 728"/>
              <p:cNvSpPr>
                <a:spLocks noChangeArrowheads="1"/>
              </p:cNvSpPr>
              <p:nvPr/>
            </p:nvSpPr>
            <p:spPr bwMode="auto">
              <a:xfrm>
                <a:off x="699" y="1311"/>
                <a:ext cx="29" cy="29"/>
              </a:xfrm>
              <a:prstGeom prst="ellipse">
                <a:avLst/>
              </a:prstGeom>
              <a:noFill/>
              <a:ln w="19050">
                <a:solidFill>
                  <a:srgbClr val="777777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8252" name="AutoShape 729"/>
              <p:cNvSpPr>
                <a:spLocks noChangeArrowheads="1"/>
              </p:cNvSpPr>
              <p:nvPr/>
            </p:nvSpPr>
            <p:spPr bwMode="auto">
              <a:xfrm rot="10800000">
                <a:off x="742" y="1342"/>
                <a:ext cx="48" cy="108"/>
              </a:xfrm>
              <a:prstGeom prst="moon">
                <a:avLst>
                  <a:gd name="adj" fmla="val 55315"/>
                </a:avLst>
              </a:prstGeom>
              <a:noFill/>
              <a:ln w="19050">
                <a:solidFill>
                  <a:srgbClr val="777777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8253" name="Group 730"/>
              <p:cNvGrpSpPr>
                <a:grpSpLocks/>
              </p:cNvGrpSpPr>
              <p:nvPr/>
            </p:nvGrpSpPr>
            <p:grpSpPr bwMode="auto">
              <a:xfrm>
                <a:off x="689" y="1445"/>
                <a:ext cx="51" cy="107"/>
                <a:chOff x="685" y="1445"/>
                <a:chExt cx="51" cy="107"/>
              </a:xfrm>
            </p:grpSpPr>
            <p:sp>
              <p:nvSpPr>
                <p:cNvPr id="8254" name="Freeform 731"/>
                <p:cNvSpPr>
                  <a:spLocks/>
                </p:cNvSpPr>
                <p:nvPr/>
              </p:nvSpPr>
              <p:spPr bwMode="auto">
                <a:xfrm rot="10800000">
                  <a:off x="685" y="151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255" name="Freeform 732"/>
                <p:cNvSpPr>
                  <a:spLocks/>
                </p:cNvSpPr>
                <p:nvPr/>
              </p:nvSpPr>
              <p:spPr bwMode="auto">
                <a:xfrm rot="10800000">
                  <a:off x="685" y="1483"/>
                  <a:ext cx="51" cy="39"/>
                </a:xfrm>
                <a:custGeom>
                  <a:avLst/>
                  <a:gdLst>
                    <a:gd name="T0" fmla="*/ 0 w 51"/>
                    <a:gd name="T1" fmla="*/ 39 h 39"/>
                    <a:gd name="T2" fmla="*/ 24 w 51"/>
                    <a:gd name="T3" fmla="*/ 0 h 39"/>
                    <a:gd name="T4" fmla="*/ 51 w 51"/>
                    <a:gd name="T5" fmla="*/ 37 h 39"/>
                    <a:gd name="T6" fmla="*/ 0 60000 65536"/>
                    <a:gd name="T7" fmla="*/ 0 60000 65536"/>
                    <a:gd name="T8" fmla="*/ 0 60000 65536"/>
                    <a:gd name="T9" fmla="*/ 0 w 51"/>
                    <a:gd name="T10" fmla="*/ 0 h 39"/>
                    <a:gd name="T11" fmla="*/ 51 w 51"/>
                    <a:gd name="T12" fmla="*/ 39 h 3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1" h="39">
                      <a:moveTo>
                        <a:pt x="0" y="39"/>
                      </a:moveTo>
                      <a:lnTo>
                        <a:pt x="24" y="0"/>
                      </a:lnTo>
                      <a:lnTo>
                        <a:pt x="51" y="37"/>
                      </a:lnTo>
                    </a:path>
                  </a:pathLst>
                </a:cu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256" name="Line 733"/>
                <p:cNvSpPr>
                  <a:spLocks noChangeShapeType="1"/>
                </p:cNvSpPr>
                <p:nvPr/>
              </p:nvSpPr>
              <p:spPr bwMode="auto">
                <a:xfrm rot="10800000" flipH="1">
                  <a:off x="712" y="1475"/>
                  <a:ext cx="1" cy="39"/>
                </a:xfrm>
                <a:prstGeom prst="lin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8257" name="Oval 734"/>
                <p:cNvSpPr>
                  <a:spLocks noChangeArrowheads="1"/>
                </p:cNvSpPr>
                <p:nvPr/>
              </p:nvSpPr>
              <p:spPr bwMode="auto">
                <a:xfrm rot="10800000">
                  <a:off x="698" y="1445"/>
                  <a:ext cx="29" cy="29"/>
                </a:xfrm>
                <a:prstGeom prst="ellipse">
                  <a:avLst/>
                </a:prstGeom>
                <a:noFill/>
                <a:ln w="19050">
                  <a:solidFill>
                    <a:srgbClr val="777777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8240" name="Freeform 735"/>
            <p:cNvSpPr>
              <a:spLocks/>
            </p:cNvSpPr>
            <p:nvPr/>
          </p:nvSpPr>
          <p:spPr bwMode="auto">
            <a:xfrm>
              <a:off x="2688" y="3099"/>
              <a:ext cx="236" cy="105"/>
            </a:xfrm>
            <a:custGeom>
              <a:avLst/>
              <a:gdLst>
                <a:gd name="T0" fmla="*/ 0 w 236"/>
                <a:gd name="T1" fmla="*/ 105 h 105"/>
                <a:gd name="T2" fmla="*/ 0 w 236"/>
                <a:gd name="T3" fmla="*/ 0 h 105"/>
                <a:gd name="T4" fmla="*/ 236 w 236"/>
                <a:gd name="T5" fmla="*/ 1 h 105"/>
                <a:gd name="T6" fmla="*/ 0 60000 65536"/>
                <a:gd name="T7" fmla="*/ 0 60000 65536"/>
                <a:gd name="T8" fmla="*/ 0 60000 65536"/>
                <a:gd name="T9" fmla="*/ 0 w 236"/>
                <a:gd name="T10" fmla="*/ 0 h 105"/>
                <a:gd name="T11" fmla="*/ 236 w 236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6" h="105">
                  <a:moveTo>
                    <a:pt x="0" y="105"/>
                  </a:moveTo>
                  <a:lnTo>
                    <a:pt x="0" y="0"/>
                  </a:lnTo>
                  <a:lnTo>
                    <a:pt x="236" y="1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 type="triangle" w="sm" len="sm"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41" name="Freeform 736"/>
            <p:cNvSpPr>
              <a:spLocks/>
            </p:cNvSpPr>
            <p:nvPr/>
          </p:nvSpPr>
          <p:spPr bwMode="auto">
            <a:xfrm>
              <a:off x="2498" y="3403"/>
              <a:ext cx="193" cy="98"/>
            </a:xfrm>
            <a:custGeom>
              <a:avLst/>
              <a:gdLst>
                <a:gd name="T0" fmla="*/ 0 w 193"/>
                <a:gd name="T1" fmla="*/ 97 h 98"/>
                <a:gd name="T2" fmla="*/ 193 w 193"/>
                <a:gd name="T3" fmla="*/ 98 h 98"/>
                <a:gd name="T4" fmla="*/ 193 w 193"/>
                <a:gd name="T5" fmla="*/ 0 h 98"/>
                <a:gd name="T6" fmla="*/ 0 60000 65536"/>
                <a:gd name="T7" fmla="*/ 0 60000 65536"/>
                <a:gd name="T8" fmla="*/ 0 60000 65536"/>
                <a:gd name="T9" fmla="*/ 0 w 193"/>
                <a:gd name="T10" fmla="*/ 0 h 98"/>
                <a:gd name="T11" fmla="*/ 193 w 193"/>
                <a:gd name="T12" fmla="*/ 98 h 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" h="98">
                  <a:moveTo>
                    <a:pt x="0" y="97"/>
                  </a:moveTo>
                  <a:lnTo>
                    <a:pt x="193" y="98"/>
                  </a:lnTo>
                  <a:lnTo>
                    <a:pt x="193" y="0"/>
                  </a:lnTo>
                </a:path>
              </a:pathLst>
            </a:cu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42" name="Line 737"/>
            <p:cNvSpPr>
              <a:spLocks noChangeShapeType="1"/>
            </p:cNvSpPr>
            <p:nvPr/>
          </p:nvSpPr>
          <p:spPr bwMode="auto">
            <a:xfrm>
              <a:off x="2498" y="2450"/>
              <a:ext cx="0" cy="11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43" name="Line 738"/>
            <p:cNvSpPr>
              <a:spLocks noChangeShapeType="1"/>
            </p:cNvSpPr>
            <p:nvPr/>
          </p:nvSpPr>
          <p:spPr bwMode="auto">
            <a:xfrm>
              <a:off x="2472" y="2448"/>
              <a:ext cx="54" cy="0"/>
            </a:xfrm>
            <a:prstGeom prst="line">
              <a:avLst/>
            </a:prstGeom>
            <a:noFill/>
            <a:ln w="19050">
              <a:solidFill>
                <a:srgbClr val="777777"/>
              </a:solidFill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44" name="Text Box 739"/>
            <p:cNvSpPr txBox="1">
              <a:spLocks noChangeArrowheads="1"/>
            </p:cNvSpPr>
            <p:nvPr/>
          </p:nvSpPr>
          <p:spPr bwMode="auto">
            <a:xfrm>
              <a:off x="2922" y="3058"/>
              <a:ext cx="144" cy="9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D</a:t>
              </a:r>
            </a:p>
          </p:txBody>
        </p:sp>
        <p:sp>
          <p:nvSpPr>
            <p:cNvPr id="8245" name="Text Box 740"/>
            <p:cNvSpPr txBox="1">
              <a:spLocks noChangeArrowheads="1"/>
            </p:cNvSpPr>
            <p:nvPr/>
          </p:nvSpPr>
          <p:spPr bwMode="auto">
            <a:xfrm>
              <a:off x="2556" y="2521"/>
              <a:ext cx="288" cy="296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lIns="0" tIns="0" rIns="0" bIns="0" anchor="ctr" anchorCtr="1">
              <a:spAutoFit/>
            </a:bodyPr>
            <a:lstStyle/>
            <a:p>
              <a:pPr algn="ctr"/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TR-7</a:t>
              </a:r>
            </a:p>
            <a:p>
              <a:pPr algn="ctr"/>
              <a:r>
                <a:rPr lang="en-US" altLang="ko-KR">
                  <a:latin typeface="맑은 고딕" pitchFamily="50" charset="-127"/>
                  <a:ea typeface="맑은 고딕" pitchFamily="50" charset="-127"/>
                </a:rPr>
                <a:t>1250KVA</a:t>
              </a:r>
            </a:p>
          </p:txBody>
        </p:sp>
        <p:sp>
          <p:nvSpPr>
            <p:cNvPr id="8246" name="Text Box 741"/>
            <p:cNvSpPr txBox="1">
              <a:spLocks noChangeArrowheads="1"/>
            </p:cNvSpPr>
            <p:nvPr/>
          </p:nvSpPr>
          <p:spPr bwMode="auto">
            <a:xfrm>
              <a:off x="2352" y="3725"/>
              <a:ext cx="363" cy="19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 lIns="0" tIns="0" rIns="0" bIns="0" anchor="ctr" anchorCtr="1">
              <a:spAutoFit/>
            </a:bodyPr>
            <a:lstStyle/>
            <a:p>
              <a:pPr algn="ctr"/>
              <a:r>
                <a:rPr lang="en-US" altLang="ko-KR" dirty="0">
                  <a:latin typeface="맑은 고딕" pitchFamily="50" charset="-127"/>
                  <a:ea typeface="맑은 고딕" pitchFamily="50" charset="-127"/>
                </a:rPr>
                <a:t>E/S, E/S</a:t>
              </a:r>
            </a:p>
            <a:p>
              <a:pPr algn="ctr"/>
              <a:r>
                <a:rPr lang="ko-KR" altLang="en-US" dirty="0">
                  <a:latin typeface="맑은 고딕" pitchFamily="50" charset="-127"/>
                  <a:ea typeface="맑은 고딕" pitchFamily="50" charset="-127"/>
                </a:rPr>
                <a:t>비상동력</a:t>
              </a:r>
            </a:p>
          </p:txBody>
        </p:sp>
        <p:sp>
          <p:nvSpPr>
            <p:cNvPr id="8247" name="Line 742"/>
            <p:cNvSpPr>
              <a:spLocks noChangeShapeType="1"/>
            </p:cNvSpPr>
            <p:nvPr/>
          </p:nvSpPr>
          <p:spPr bwMode="auto">
            <a:xfrm>
              <a:off x="2562" y="3312"/>
              <a:ext cx="168" cy="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sysDot"/>
              <a:round/>
              <a:headEnd/>
              <a:tailEnd/>
            </a:ln>
          </p:spPr>
          <p:txBody>
            <a:bodyPr anchor="ctr" anchorCtr="1"/>
            <a:lstStyle/>
            <a:p>
              <a:endParaRPr lang="ko-KR" altLang="en-US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63117" name="Oval 973"/>
          <p:cNvSpPr>
            <a:spLocks noChangeArrowheads="1"/>
          </p:cNvSpPr>
          <p:nvPr/>
        </p:nvSpPr>
        <p:spPr bwMode="auto">
          <a:xfrm>
            <a:off x="1065212" y="5157788"/>
            <a:ext cx="244450" cy="200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sz="600" b="1" dirty="0"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8208" name="Text Box 980"/>
          <p:cNvSpPr txBox="1">
            <a:spLocks noChangeArrowheads="1"/>
          </p:cNvSpPr>
          <p:nvPr/>
        </p:nvSpPr>
        <p:spPr bwMode="auto">
          <a:xfrm>
            <a:off x="866775" y="2152650"/>
            <a:ext cx="914400" cy="214313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ko-KR" altLang="en-US" sz="800" b="1" dirty="0">
                <a:solidFill>
                  <a:srgbClr val="777777"/>
                </a:solidFill>
                <a:latin typeface="맑은 고딕" pitchFamily="50" charset="-127"/>
                <a:ea typeface="맑은 고딕" pitchFamily="50" charset="-127"/>
                <a:cs typeface="HY울릉도L"/>
              </a:rPr>
              <a:t>불시 정전</a:t>
            </a:r>
          </a:p>
        </p:txBody>
      </p:sp>
      <p:sp>
        <p:nvSpPr>
          <p:cNvPr id="263125" name="AutoShape 981"/>
          <p:cNvSpPr>
            <a:spLocks noChangeArrowheads="1"/>
          </p:cNvSpPr>
          <p:nvPr/>
        </p:nvSpPr>
        <p:spPr bwMode="auto">
          <a:xfrm>
            <a:off x="8239125" y="6398130"/>
            <a:ext cx="1447800" cy="228600"/>
          </a:xfrm>
          <a:prstGeom prst="roundRect">
            <a:avLst>
              <a:gd name="adj" fmla="val 125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8000" tIns="18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ATS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투입순서</a:t>
            </a:r>
          </a:p>
        </p:txBody>
      </p:sp>
      <p:sp>
        <p:nvSpPr>
          <p:cNvPr id="263126" name="AutoShape 982"/>
          <p:cNvSpPr>
            <a:spLocks noChangeArrowheads="1"/>
          </p:cNvSpPr>
          <p:nvPr/>
        </p:nvSpPr>
        <p:spPr bwMode="auto">
          <a:xfrm>
            <a:off x="8181528" y="824136"/>
            <a:ext cx="1524000" cy="228600"/>
          </a:xfrm>
          <a:prstGeom prst="roundRect">
            <a:avLst>
              <a:gd name="adj" fmla="val 125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lIns="18000" tIns="18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ko-KR" altLang="en-US" dirty="0" err="1">
                <a:latin typeface="맑은 고딕" pitchFamily="50" charset="-127"/>
                <a:ea typeface="맑은 고딕" pitchFamily="50" charset="-127"/>
              </a:rPr>
              <a:t>발전기셋</a:t>
            </a:r>
            <a:r>
              <a:rPr lang="ko-KR" altLang="en-US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투입순서</a:t>
            </a:r>
          </a:p>
        </p:txBody>
      </p:sp>
      <p:pic>
        <p:nvPicPr>
          <p:cNvPr id="8211" name="Picture 984" descr="P1010023"/>
          <p:cNvPicPr>
            <a:picLocks noChangeAspect="1" noChangeArrowheads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415925" y="1341438"/>
            <a:ext cx="720725" cy="719137"/>
          </a:xfrm>
          <a:prstGeom prst="rect">
            <a:avLst/>
          </a:prstGeom>
          <a:noFill/>
          <a:ln w="12700">
            <a:solidFill>
              <a:schemeClr val="bg1"/>
            </a:solidFill>
            <a:miter lim="800000"/>
            <a:headEnd/>
            <a:tailEnd/>
          </a:ln>
        </p:spPr>
      </p:pic>
      <p:sp>
        <p:nvSpPr>
          <p:cNvPr id="282725" name="Oval 1125"/>
          <p:cNvSpPr>
            <a:spLocks noChangeArrowheads="1"/>
          </p:cNvSpPr>
          <p:nvPr/>
        </p:nvSpPr>
        <p:spPr bwMode="auto">
          <a:xfrm>
            <a:off x="3395662" y="5148263"/>
            <a:ext cx="271454" cy="209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sz="600" b="1" dirty="0"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8213" name="Rectangle 1129"/>
          <p:cNvSpPr>
            <a:spLocks noChangeArrowheads="1"/>
          </p:cNvSpPr>
          <p:nvPr/>
        </p:nvSpPr>
        <p:spPr bwMode="auto">
          <a:xfrm>
            <a:off x="1065213" y="5373688"/>
            <a:ext cx="647700" cy="287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T: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10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초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후 </a:t>
            </a:r>
          </a:p>
        </p:txBody>
      </p:sp>
      <p:sp>
        <p:nvSpPr>
          <p:cNvPr id="8214" name="Rectangle 1130"/>
          <p:cNvSpPr>
            <a:spLocks noChangeArrowheads="1"/>
          </p:cNvSpPr>
          <p:nvPr/>
        </p:nvSpPr>
        <p:spPr bwMode="auto">
          <a:xfrm>
            <a:off x="3381375" y="5357813"/>
            <a:ext cx="647700" cy="287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T: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12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초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후 </a:t>
            </a:r>
          </a:p>
        </p:txBody>
      </p:sp>
      <p:sp>
        <p:nvSpPr>
          <p:cNvPr id="8215" name="Rectangle 1131"/>
          <p:cNvSpPr>
            <a:spLocks noChangeArrowheads="1"/>
          </p:cNvSpPr>
          <p:nvPr/>
        </p:nvSpPr>
        <p:spPr bwMode="auto">
          <a:xfrm>
            <a:off x="6448425" y="5357813"/>
            <a:ext cx="647700" cy="287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T:10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초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후 </a:t>
            </a:r>
          </a:p>
        </p:txBody>
      </p:sp>
      <p:sp>
        <p:nvSpPr>
          <p:cNvPr id="8216" name="Rectangle 1132"/>
          <p:cNvSpPr>
            <a:spLocks noChangeArrowheads="1"/>
          </p:cNvSpPr>
          <p:nvPr/>
        </p:nvSpPr>
        <p:spPr bwMode="auto">
          <a:xfrm>
            <a:off x="8877300" y="5376863"/>
            <a:ext cx="647700" cy="2873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T:12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초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후 </a:t>
            </a:r>
          </a:p>
        </p:txBody>
      </p:sp>
      <p:sp>
        <p:nvSpPr>
          <p:cNvPr id="282736" name="AutoShape 1136"/>
          <p:cNvSpPr>
            <a:spLocks noChangeArrowheads="1"/>
          </p:cNvSpPr>
          <p:nvPr/>
        </p:nvSpPr>
        <p:spPr bwMode="auto">
          <a:xfrm>
            <a:off x="1738291" y="1412875"/>
            <a:ext cx="1571635" cy="65880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b="1" dirty="0" smtClean="0">
                <a:latin typeface="맑은 고딕" pitchFamily="50" charset="-127"/>
                <a:ea typeface="맑은 고딕" pitchFamily="50" charset="-127"/>
              </a:rPr>
              <a:t>    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한전정전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  <a:p>
            <a:pPr>
              <a:defRPr/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  UVR </a:t>
            </a:r>
            <a:r>
              <a:rPr lang="ko-KR" altLang="en-US" dirty="0" err="1">
                <a:latin typeface="맑은 고딕" pitchFamily="50" charset="-127"/>
                <a:ea typeface="맑은 고딕" pitchFamily="50" charset="-127"/>
              </a:rPr>
              <a:t>계전기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동작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18" name="Rectangle 1137"/>
          <p:cNvSpPr>
            <a:spLocks noChangeArrowheads="1"/>
          </p:cNvSpPr>
          <p:nvPr/>
        </p:nvSpPr>
        <p:spPr bwMode="auto">
          <a:xfrm>
            <a:off x="4310063" y="4643438"/>
            <a:ext cx="1071562" cy="571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발전기가동 시간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</a:t>
            </a:r>
          </a:p>
          <a:p>
            <a:pPr algn="ctr"/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정전 후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초 이내</a:t>
            </a:r>
          </a:p>
        </p:txBody>
      </p:sp>
      <p:sp>
        <p:nvSpPr>
          <p:cNvPr id="8221" name="AutoShape 448"/>
          <p:cNvSpPr>
            <a:spLocks noChangeArrowheads="1"/>
          </p:cNvSpPr>
          <p:nvPr/>
        </p:nvSpPr>
        <p:spPr bwMode="auto">
          <a:xfrm>
            <a:off x="238125" y="3714750"/>
            <a:ext cx="4000500" cy="2571750"/>
          </a:xfrm>
          <a:prstGeom prst="roundRect">
            <a:avLst>
              <a:gd name="adj" fmla="val 4167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22" name="AutoShape 448"/>
          <p:cNvSpPr>
            <a:spLocks noChangeArrowheads="1"/>
          </p:cNvSpPr>
          <p:nvPr/>
        </p:nvSpPr>
        <p:spPr bwMode="auto">
          <a:xfrm>
            <a:off x="5453063" y="3714750"/>
            <a:ext cx="4214812" cy="2571750"/>
          </a:xfrm>
          <a:prstGeom prst="roundRect">
            <a:avLst>
              <a:gd name="adj" fmla="val 4167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5" name="Oval 973"/>
          <p:cNvSpPr>
            <a:spLocks noChangeArrowheads="1"/>
          </p:cNvSpPr>
          <p:nvPr/>
        </p:nvSpPr>
        <p:spPr bwMode="auto">
          <a:xfrm>
            <a:off x="1733550" y="4572000"/>
            <a:ext cx="428625" cy="3571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호기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6" name="Oval 973"/>
          <p:cNvSpPr>
            <a:spLocks noChangeArrowheads="1"/>
          </p:cNvSpPr>
          <p:nvPr/>
        </p:nvSpPr>
        <p:spPr bwMode="auto">
          <a:xfrm>
            <a:off x="7239000" y="4500563"/>
            <a:ext cx="428625" cy="3571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호기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26" name="Rectangle 1038"/>
          <p:cNvSpPr>
            <a:spLocks noChangeArrowheads="1"/>
          </p:cNvSpPr>
          <p:nvPr/>
        </p:nvSpPr>
        <p:spPr bwMode="auto">
          <a:xfrm>
            <a:off x="4310063" y="3143250"/>
            <a:ext cx="582612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비상조명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27" name="Rectangle 1038"/>
          <p:cNvSpPr>
            <a:spLocks noChangeArrowheads="1"/>
          </p:cNvSpPr>
          <p:nvPr/>
        </p:nvSpPr>
        <p:spPr bwMode="auto">
          <a:xfrm>
            <a:off x="5595942" y="3143250"/>
            <a:ext cx="582612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비상동력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28" name="Rectangle 1038"/>
          <p:cNvSpPr>
            <a:spLocks noChangeArrowheads="1"/>
          </p:cNvSpPr>
          <p:nvPr/>
        </p:nvSpPr>
        <p:spPr bwMode="auto">
          <a:xfrm>
            <a:off x="7442222" y="3143250"/>
            <a:ext cx="582612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비상조명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229" name="Rectangle 1038"/>
          <p:cNvSpPr>
            <a:spLocks noChangeArrowheads="1"/>
          </p:cNvSpPr>
          <p:nvPr/>
        </p:nvSpPr>
        <p:spPr bwMode="auto">
          <a:xfrm>
            <a:off x="8728105" y="3143250"/>
            <a:ext cx="582613" cy="2889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>
                <a:latin typeface="맑은 고딕" pitchFamily="50" charset="-127"/>
                <a:ea typeface="맑은 고딕" pitchFamily="50" charset="-127"/>
              </a:rPr>
              <a:t>비상동력</a:t>
            </a:r>
          </a:p>
        </p:txBody>
      </p:sp>
      <p:sp>
        <p:nvSpPr>
          <p:cNvPr id="255" name="Oval 973"/>
          <p:cNvSpPr>
            <a:spLocks noChangeArrowheads="1"/>
          </p:cNvSpPr>
          <p:nvPr/>
        </p:nvSpPr>
        <p:spPr bwMode="auto">
          <a:xfrm>
            <a:off x="6551640" y="5153037"/>
            <a:ext cx="244450" cy="200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sz="600" b="1" dirty="0"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256" name="Oval 1125"/>
          <p:cNvSpPr>
            <a:spLocks noChangeArrowheads="1"/>
          </p:cNvSpPr>
          <p:nvPr/>
        </p:nvSpPr>
        <p:spPr bwMode="auto">
          <a:xfrm>
            <a:off x="8882090" y="5143512"/>
            <a:ext cx="271454" cy="209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sz="600" b="1" dirty="0"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263" name="한쪽 모서리가 잘린 사각형 262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자동운전 계통</a:t>
            </a:r>
            <a:endParaRPr kumimoji="1" lang="ko-KR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62" name="그림 261" descr="발전기.JPG"/>
          <p:cNvPicPr>
            <a:picLocks noChangeAspect="1"/>
          </p:cNvPicPr>
          <p:nvPr/>
        </p:nvPicPr>
        <p:blipFill>
          <a:blip r:embed="rId3"/>
          <a:srcRect l="2419" t="3846" r="4032" b="3846"/>
          <a:stretch>
            <a:fillRect/>
          </a:stretch>
        </p:blipFill>
        <p:spPr>
          <a:xfrm>
            <a:off x="3952868" y="1307058"/>
            <a:ext cx="5643602" cy="1785950"/>
          </a:xfrm>
          <a:prstGeom prst="rect">
            <a:avLst/>
          </a:prstGeom>
        </p:spPr>
      </p:pic>
      <p:sp>
        <p:nvSpPr>
          <p:cNvPr id="261" name="Oval 973"/>
          <p:cNvSpPr>
            <a:spLocks noChangeArrowheads="1"/>
          </p:cNvSpPr>
          <p:nvPr/>
        </p:nvSpPr>
        <p:spPr bwMode="auto">
          <a:xfrm>
            <a:off x="4810124" y="1049246"/>
            <a:ext cx="428625" cy="3571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호기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4" name="Oval 973"/>
          <p:cNvSpPr>
            <a:spLocks noChangeArrowheads="1"/>
          </p:cNvSpPr>
          <p:nvPr/>
        </p:nvSpPr>
        <p:spPr bwMode="auto">
          <a:xfrm>
            <a:off x="7953399" y="978910"/>
            <a:ext cx="428625" cy="3571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호기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5" name="Oval 973"/>
          <p:cNvSpPr>
            <a:spLocks noChangeArrowheads="1"/>
          </p:cNvSpPr>
          <p:nvPr/>
        </p:nvSpPr>
        <p:spPr bwMode="auto">
          <a:xfrm>
            <a:off x="5167314" y="2428868"/>
            <a:ext cx="244450" cy="200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sz="600" b="1" dirty="0"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266" name="Oval 973"/>
          <p:cNvSpPr>
            <a:spLocks noChangeArrowheads="1"/>
          </p:cNvSpPr>
          <p:nvPr/>
        </p:nvSpPr>
        <p:spPr bwMode="auto">
          <a:xfrm>
            <a:off x="8310586" y="2428868"/>
            <a:ext cx="244450" cy="20003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sz="600" b="1" dirty="0"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267" name="Oval 1125"/>
          <p:cNvSpPr>
            <a:spLocks noChangeArrowheads="1"/>
          </p:cNvSpPr>
          <p:nvPr/>
        </p:nvSpPr>
        <p:spPr bwMode="auto">
          <a:xfrm>
            <a:off x="6381760" y="2407670"/>
            <a:ext cx="271454" cy="209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sz="600" b="1" dirty="0"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268" name="Oval 1125"/>
          <p:cNvSpPr>
            <a:spLocks noChangeArrowheads="1"/>
          </p:cNvSpPr>
          <p:nvPr/>
        </p:nvSpPr>
        <p:spPr bwMode="auto">
          <a:xfrm>
            <a:off x="9525032" y="2417718"/>
            <a:ext cx="271454" cy="209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r>
              <a:rPr lang="en-US" altLang="ko-KR" sz="600" b="1" dirty="0"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259" name="Rectangle 9"/>
          <p:cNvSpPr>
            <a:spLocks noChangeArrowheads="1"/>
          </p:cNvSpPr>
          <p:nvPr/>
        </p:nvSpPr>
        <p:spPr bwMode="auto">
          <a:xfrm>
            <a:off x="0" y="640434"/>
            <a:ext cx="9906000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60" name="그림 259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862540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ChangeArrowheads="1"/>
          </p:cNvSpPr>
          <p:nvPr/>
        </p:nvSpPr>
        <p:spPr bwMode="auto">
          <a:xfrm>
            <a:off x="228600" y="4343400"/>
            <a:ext cx="9448800" cy="2057400"/>
          </a:xfrm>
          <a:prstGeom prst="roundRect">
            <a:avLst>
              <a:gd name="adj" fmla="val 4782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68" name="AutoShape 8"/>
          <p:cNvSpPr>
            <a:spLocks noChangeArrowheads="1"/>
          </p:cNvSpPr>
          <p:nvPr/>
        </p:nvSpPr>
        <p:spPr bwMode="auto">
          <a:xfrm>
            <a:off x="228600" y="1219200"/>
            <a:ext cx="9448800" cy="3067056"/>
          </a:xfrm>
          <a:prstGeom prst="roundRect">
            <a:avLst>
              <a:gd name="adj" fmla="val 2852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95" name="AutoShape 10"/>
          <p:cNvSpPr>
            <a:spLocks noChangeArrowheads="1"/>
          </p:cNvSpPr>
          <p:nvPr/>
        </p:nvSpPr>
        <p:spPr bwMode="auto">
          <a:xfrm>
            <a:off x="457200" y="4953000"/>
            <a:ext cx="1981200" cy="1143000"/>
          </a:xfrm>
          <a:prstGeom prst="roundRect">
            <a:avLst>
              <a:gd name="adj" fmla="val 13986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lIns="91418" tIns="45710" rIns="91418" bIns="45710" anchor="ctr" anchorCtr="1"/>
          <a:lstStyle/>
          <a:p>
            <a:pPr>
              <a:spcBef>
                <a:spcPct val="0"/>
              </a:spcBef>
            </a:pPr>
            <a:endParaRPr lang="ko-KR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4683" name="AutoShape 11"/>
          <p:cNvSpPr>
            <a:spLocks noChangeArrowheads="1"/>
          </p:cNvSpPr>
          <p:nvPr/>
        </p:nvSpPr>
        <p:spPr bwMode="auto">
          <a:xfrm>
            <a:off x="481448" y="4953000"/>
            <a:ext cx="330200" cy="1143000"/>
          </a:xfrm>
          <a:prstGeom prst="roundRect">
            <a:avLst>
              <a:gd name="adj" fmla="val 29167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1297" name="Text Box 12"/>
          <p:cNvSpPr txBox="1">
            <a:spLocks noChangeArrowheads="1"/>
          </p:cNvSpPr>
          <p:nvPr/>
        </p:nvSpPr>
        <p:spPr bwMode="auto">
          <a:xfrm>
            <a:off x="787400" y="4953000"/>
            <a:ext cx="16510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G1, G2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기동반 수동 전환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G1 ON [ GLV-1 ]</a:t>
            </a:r>
          </a:p>
          <a:p>
            <a:pPr>
              <a:spcBef>
                <a:spcPct val="50000"/>
              </a:spcBef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G2 ON [ GLV-5 ]</a:t>
            </a:r>
          </a:p>
          <a:p>
            <a:pPr>
              <a:spcBef>
                <a:spcPct val="50000"/>
              </a:spcBef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차단기반 수동전환 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[ GVL-2, 4 ]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 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70" name="AutoShape 13"/>
          <p:cNvSpPr>
            <a:spLocks noChangeArrowheads="1"/>
          </p:cNvSpPr>
          <p:nvPr/>
        </p:nvSpPr>
        <p:spPr bwMode="auto">
          <a:xfrm>
            <a:off x="2819400" y="4953000"/>
            <a:ext cx="1981200" cy="1143000"/>
          </a:xfrm>
          <a:prstGeom prst="roundRect">
            <a:avLst>
              <a:gd name="adj" fmla="val 13986"/>
            </a:avLst>
          </a:prstGeom>
          <a:solidFill>
            <a:schemeClr val="bg1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lIns="18000" tIns="72000" rIns="18000" bIns="45710" anchor="ctr" anchorCtr="1"/>
          <a:lstStyle/>
          <a:p>
            <a:pPr>
              <a:spcBef>
                <a:spcPct val="0"/>
              </a:spcBef>
            </a:pPr>
            <a:endParaRPr lang="ko-KR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71" name="AutoShape 14"/>
          <p:cNvSpPr>
            <a:spLocks noChangeArrowheads="1"/>
          </p:cNvSpPr>
          <p:nvPr/>
        </p:nvSpPr>
        <p:spPr bwMode="auto">
          <a:xfrm>
            <a:off x="2590800" y="5334000"/>
            <a:ext cx="180975" cy="285750"/>
          </a:xfrm>
          <a:prstGeom prst="rightArrow">
            <a:avLst>
              <a:gd name="adj1" fmla="val 58333"/>
              <a:gd name="adj2" fmla="val 59648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92" name="AutoShape 16"/>
          <p:cNvSpPr>
            <a:spLocks noChangeArrowheads="1"/>
          </p:cNvSpPr>
          <p:nvPr/>
        </p:nvSpPr>
        <p:spPr bwMode="auto">
          <a:xfrm>
            <a:off x="5181600" y="4953000"/>
            <a:ext cx="1981200" cy="1143000"/>
          </a:xfrm>
          <a:prstGeom prst="roundRect">
            <a:avLst>
              <a:gd name="adj" fmla="val 13986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lIns="18000" tIns="72000" rIns="18000" bIns="45710" anchor="ctr" anchorCtr="1"/>
          <a:lstStyle/>
          <a:p>
            <a:pPr>
              <a:spcBef>
                <a:spcPct val="0"/>
              </a:spcBef>
            </a:pPr>
            <a:endParaRPr lang="ko-KR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4689" name="AutoShape 17"/>
          <p:cNvSpPr>
            <a:spLocks noChangeArrowheads="1"/>
          </p:cNvSpPr>
          <p:nvPr/>
        </p:nvSpPr>
        <p:spPr bwMode="auto">
          <a:xfrm>
            <a:off x="5181600" y="4953000"/>
            <a:ext cx="330200" cy="1143000"/>
          </a:xfrm>
          <a:prstGeom prst="roundRect">
            <a:avLst>
              <a:gd name="adj" fmla="val 29167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lIns="18000" tIns="72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11294" name="Text Box 18"/>
          <p:cNvSpPr txBox="1">
            <a:spLocks noChangeArrowheads="1"/>
          </p:cNvSpPr>
          <p:nvPr/>
        </p:nvSpPr>
        <p:spPr bwMode="auto">
          <a:xfrm>
            <a:off x="5511800" y="4953000"/>
            <a:ext cx="16510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72000" rIns="18000" anchor="ctr" anchorCtr="1"/>
          <a:lstStyle/>
          <a:p>
            <a:r>
              <a:rPr lang="ko-KR" altLang="en-US" dirty="0" err="1">
                <a:latin typeface="맑은 고딕" pitchFamily="50" charset="-127"/>
                <a:ea typeface="맑은 고딕" pitchFamily="50" charset="-127"/>
              </a:rPr>
              <a:t>저압반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ATS </a:t>
            </a:r>
            <a:r>
              <a:rPr lang="ko-KR" altLang="en-US" dirty="0" err="1">
                <a:latin typeface="맑은 고딕" pitchFamily="50" charset="-127"/>
                <a:ea typeface="맑은 고딕" pitchFamily="50" charset="-127"/>
              </a:rPr>
              <a:t>절체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확인</a:t>
            </a:r>
          </a:p>
          <a:p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부하투입 확인 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[ LV-3,6,17,21 ]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73" name="AutoShape 19"/>
          <p:cNvSpPr>
            <a:spLocks noChangeArrowheads="1"/>
          </p:cNvSpPr>
          <p:nvPr/>
        </p:nvSpPr>
        <p:spPr bwMode="auto">
          <a:xfrm>
            <a:off x="4953000" y="5334000"/>
            <a:ext cx="180975" cy="285750"/>
          </a:xfrm>
          <a:prstGeom prst="rightArrow">
            <a:avLst>
              <a:gd name="adj1" fmla="val 58333"/>
              <a:gd name="adj2" fmla="val 59648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74" name="AutoShape 20"/>
          <p:cNvSpPr>
            <a:spLocks noChangeArrowheads="1"/>
          </p:cNvSpPr>
          <p:nvPr/>
        </p:nvSpPr>
        <p:spPr bwMode="auto">
          <a:xfrm>
            <a:off x="7315200" y="5334000"/>
            <a:ext cx="180975" cy="285750"/>
          </a:xfrm>
          <a:prstGeom prst="rightArrow">
            <a:avLst>
              <a:gd name="adj1" fmla="val 58333"/>
              <a:gd name="adj2" fmla="val 59648"/>
            </a:avLst>
          </a:prstGeom>
          <a:noFill/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289" name="AutoShape 22"/>
          <p:cNvSpPr>
            <a:spLocks noChangeArrowheads="1"/>
          </p:cNvSpPr>
          <p:nvPr/>
        </p:nvSpPr>
        <p:spPr bwMode="auto">
          <a:xfrm>
            <a:off x="7543800" y="4953000"/>
            <a:ext cx="1981200" cy="1143000"/>
          </a:xfrm>
          <a:prstGeom prst="roundRect">
            <a:avLst>
              <a:gd name="adj" fmla="val 13986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lIns="18000" tIns="72000" rIns="18000" bIns="45710" anchor="ctr" anchorCtr="1"/>
          <a:lstStyle/>
          <a:p>
            <a:pPr>
              <a:spcBef>
                <a:spcPct val="0"/>
              </a:spcBef>
            </a:pPr>
            <a:endParaRPr lang="ko-KR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4695" name="AutoShape 23"/>
          <p:cNvSpPr>
            <a:spLocks noChangeArrowheads="1"/>
          </p:cNvSpPr>
          <p:nvPr/>
        </p:nvSpPr>
        <p:spPr bwMode="auto">
          <a:xfrm>
            <a:off x="7543800" y="4953000"/>
            <a:ext cx="330200" cy="1143000"/>
          </a:xfrm>
          <a:prstGeom prst="roundRect">
            <a:avLst>
              <a:gd name="adj" fmla="val 29167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lIns="18000" tIns="72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sp>
        <p:nvSpPr>
          <p:cNvPr id="11291" name="Text Box 24"/>
          <p:cNvSpPr txBox="1">
            <a:spLocks noChangeArrowheads="1"/>
          </p:cNvSpPr>
          <p:nvPr/>
        </p:nvSpPr>
        <p:spPr bwMode="auto">
          <a:xfrm>
            <a:off x="7874000" y="4953000"/>
            <a:ext cx="16510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72000" rIns="18000" anchor="ctr" anchorCtr="1"/>
          <a:lstStyle/>
          <a:p>
            <a:pPr marL="342900" indent="-342900"/>
            <a:r>
              <a:rPr lang="ko-KR" altLang="en-US">
                <a:latin typeface="맑은 고딕" pitchFamily="50" charset="-127"/>
                <a:ea typeface="맑은 고딕" pitchFamily="50" charset="-127"/>
              </a:rPr>
              <a:t>발전기 가동상태 확인</a:t>
            </a:r>
            <a:endParaRPr lang="en-US" altLang="ko-KR">
              <a:latin typeface="맑은 고딕" pitchFamily="50" charset="-127"/>
              <a:ea typeface="맑은 고딕" pitchFamily="50" charset="-127"/>
            </a:endParaRPr>
          </a:p>
          <a:p>
            <a:pPr marL="342900" indent="-342900"/>
            <a:r>
              <a:rPr lang="en-US" altLang="ko-KR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>
                <a:latin typeface="맑은 고딕" pitchFamily="50" charset="-127"/>
                <a:ea typeface="맑은 고딕" pitchFamily="50" charset="-127"/>
              </a:rPr>
              <a:t>전압</a:t>
            </a:r>
            <a:r>
              <a:rPr lang="en-US" altLang="ko-KR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>
                <a:latin typeface="맑은 고딕" pitchFamily="50" charset="-127"/>
                <a:ea typeface="맑은 고딕" pitchFamily="50" charset="-127"/>
              </a:rPr>
              <a:t>전류</a:t>
            </a:r>
            <a:r>
              <a:rPr lang="en-US" altLang="ko-KR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>
                <a:latin typeface="맑은 고딕" pitchFamily="50" charset="-127"/>
                <a:ea typeface="맑은 고딕" pitchFamily="50" charset="-127"/>
              </a:rPr>
              <a:t>주파수</a:t>
            </a:r>
            <a:r>
              <a:rPr lang="en-US" altLang="ko-KR">
                <a:latin typeface="맑은 고딕" pitchFamily="50" charset="-127"/>
                <a:ea typeface="맑은 고딕" pitchFamily="50" charset="-127"/>
              </a:rPr>
              <a:t>,</a:t>
            </a:r>
          </a:p>
          <a:p>
            <a:pPr marL="342900" indent="-342900"/>
            <a:r>
              <a:rPr lang="en-US" altLang="ko-KR">
                <a:latin typeface="맑은 고딕" pitchFamily="50" charset="-127"/>
                <a:ea typeface="맑은 고딕" pitchFamily="50" charset="-127"/>
              </a:rPr>
              <a:t>  </a:t>
            </a:r>
            <a:r>
              <a:rPr lang="ko-KR" altLang="en-US">
                <a:latin typeface="맑은 고딕" pitchFamily="50" charset="-127"/>
                <a:ea typeface="맑은 고딕" pitchFamily="50" charset="-127"/>
              </a:rPr>
              <a:t>회전수 등</a:t>
            </a:r>
            <a:endParaRPr lang="en-US" altLang="ko-KR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4698" name="AutoShape 26"/>
          <p:cNvSpPr>
            <a:spLocks noChangeArrowheads="1"/>
          </p:cNvSpPr>
          <p:nvPr/>
        </p:nvSpPr>
        <p:spPr bwMode="auto">
          <a:xfrm>
            <a:off x="2819400" y="4953000"/>
            <a:ext cx="330200" cy="1143000"/>
          </a:xfrm>
          <a:prstGeom prst="roundRect">
            <a:avLst>
              <a:gd name="adj" fmla="val 29167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lIns="18000" tIns="72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1288" name="Text Box 27"/>
          <p:cNvSpPr txBox="1">
            <a:spLocks noChangeArrowheads="1"/>
          </p:cNvSpPr>
          <p:nvPr/>
        </p:nvSpPr>
        <p:spPr bwMode="auto">
          <a:xfrm>
            <a:off x="3149600" y="4953000"/>
            <a:ext cx="16510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72000" rIns="18000" anchor="ctr" anchorCtr="1"/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비상조명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비상동력 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ACB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순차적 투입 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[ GLV-2, 4 ]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4700" name="AutoShape 28"/>
          <p:cNvSpPr>
            <a:spLocks noChangeArrowheads="1"/>
          </p:cNvSpPr>
          <p:nvPr/>
        </p:nvSpPr>
        <p:spPr bwMode="auto">
          <a:xfrm>
            <a:off x="304800" y="4419600"/>
            <a:ext cx="1676400" cy="228600"/>
          </a:xfrm>
          <a:prstGeom prst="roundRect">
            <a:avLst>
              <a:gd name="adj" fmla="val 18056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lIns="18000" tIns="36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수동운전 순서</a:t>
            </a:r>
          </a:p>
        </p:txBody>
      </p:sp>
      <p:sp>
        <p:nvSpPr>
          <p:cNvPr id="42" name="한쪽 모서리가 잘린 사각형 41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수동운전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-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단독운전</a:t>
            </a:r>
            <a:endParaRPr kumimoji="1" lang="ko-KR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4" name="그림 43" descr="발전기.JPG"/>
          <p:cNvPicPr>
            <a:picLocks noChangeAspect="1"/>
          </p:cNvPicPr>
          <p:nvPr/>
        </p:nvPicPr>
        <p:blipFill>
          <a:blip r:embed="rId2"/>
          <a:srcRect l="2419" t="3846" r="4032" b="3846"/>
          <a:stretch>
            <a:fillRect/>
          </a:stretch>
        </p:blipFill>
        <p:spPr>
          <a:xfrm>
            <a:off x="452406" y="1357298"/>
            <a:ext cx="9001188" cy="2857520"/>
          </a:xfrm>
          <a:prstGeom prst="rect">
            <a:avLst/>
          </a:prstGeom>
        </p:spPr>
      </p:pic>
      <p:pic>
        <p:nvPicPr>
          <p:cNvPr id="11280" name="그림 127" descr="사진 064.jpg"/>
          <p:cNvPicPr>
            <a:picLocks noChangeAspect="1"/>
          </p:cNvPicPr>
          <p:nvPr/>
        </p:nvPicPr>
        <p:blipFill>
          <a:blip r:embed="rId3" cstate="print">
            <a:lum bright="20000"/>
          </a:blip>
          <a:srcRect l="3236" r="9351"/>
          <a:stretch>
            <a:fillRect/>
          </a:stretch>
        </p:blipFill>
        <p:spPr bwMode="auto">
          <a:xfrm>
            <a:off x="1666852" y="857232"/>
            <a:ext cx="10795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81" name="그림 128" descr="사진 064.jpg"/>
          <p:cNvPicPr>
            <a:picLocks noChangeAspect="1"/>
          </p:cNvPicPr>
          <p:nvPr/>
        </p:nvPicPr>
        <p:blipFill>
          <a:blip r:embed="rId3" cstate="print">
            <a:lum bright="20000"/>
          </a:blip>
          <a:srcRect l="3236" r="9351"/>
          <a:stretch>
            <a:fillRect/>
          </a:stretch>
        </p:blipFill>
        <p:spPr bwMode="auto">
          <a:xfrm>
            <a:off x="6659582" y="857232"/>
            <a:ext cx="10795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0" y="640434"/>
            <a:ext cx="9906000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862540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/>
          <p:cNvSpPr>
            <a:spLocks noChangeArrowheads="1"/>
          </p:cNvSpPr>
          <p:nvPr/>
        </p:nvSpPr>
        <p:spPr bwMode="auto">
          <a:xfrm>
            <a:off x="228600" y="4611960"/>
            <a:ext cx="9448800" cy="2057400"/>
          </a:xfrm>
          <a:prstGeom prst="roundRect">
            <a:avLst>
              <a:gd name="adj" fmla="val 4782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2" name="AutoShape 214"/>
          <p:cNvSpPr>
            <a:spLocks noChangeArrowheads="1"/>
          </p:cNvSpPr>
          <p:nvPr/>
        </p:nvSpPr>
        <p:spPr bwMode="auto">
          <a:xfrm>
            <a:off x="228600" y="1487760"/>
            <a:ext cx="9448800" cy="3067056"/>
          </a:xfrm>
          <a:prstGeom prst="roundRect">
            <a:avLst>
              <a:gd name="adj" fmla="val 2852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21" name="AutoShape 216"/>
          <p:cNvSpPr>
            <a:spLocks noChangeArrowheads="1"/>
          </p:cNvSpPr>
          <p:nvPr/>
        </p:nvSpPr>
        <p:spPr bwMode="auto">
          <a:xfrm>
            <a:off x="457200" y="5197758"/>
            <a:ext cx="1981200" cy="1143000"/>
          </a:xfrm>
          <a:prstGeom prst="roundRect">
            <a:avLst>
              <a:gd name="adj" fmla="val 13986"/>
            </a:avLst>
          </a:prstGeom>
          <a:solidFill>
            <a:schemeClr val="bg1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lIns="91418" tIns="45710" rIns="91418" bIns="45710" anchor="ctr" anchorCtr="1"/>
          <a:lstStyle/>
          <a:p>
            <a:pPr>
              <a:spcBef>
                <a:spcPct val="0"/>
              </a:spcBef>
            </a:pPr>
            <a:endParaRPr lang="ko-KR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4409" name="AutoShape 217"/>
          <p:cNvSpPr>
            <a:spLocks noChangeArrowheads="1"/>
          </p:cNvSpPr>
          <p:nvPr/>
        </p:nvSpPr>
        <p:spPr bwMode="auto">
          <a:xfrm>
            <a:off x="457200" y="5197758"/>
            <a:ext cx="330200" cy="1143000"/>
          </a:xfrm>
          <a:prstGeom prst="roundRect">
            <a:avLst>
              <a:gd name="adj" fmla="val 29167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</a:t>
            </a:r>
          </a:p>
        </p:txBody>
      </p:sp>
      <p:sp>
        <p:nvSpPr>
          <p:cNvPr id="12323" name="Text Box 218"/>
          <p:cNvSpPr txBox="1">
            <a:spLocks noChangeArrowheads="1"/>
          </p:cNvSpPr>
          <p:nvPr/>
        </p:nvSpPr>
        <p:spPr bwMode="auto">
          <a:xfrm>
            <a:off x="787400" y="5197758"/>
            <a:ext cx="16510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1"/>
          <a:lstStyle/>
          <a:p>
            <a:pPr>
              <a:spcBef>
                <a:spcPct val="50000"/>
              </a:spcBef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G1 Start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S/W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ON</a:t>
            </a:r>
          </a:p>
          <a:p>
            <a:pPr>
              <a:spcBef>
                <a:spcPct val="50000"/>
              </a:spcBef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호기 전압 확립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확인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pPr>
              <a:spcBef>
                <a:spcPct val="50000"/>
              </a:spcBef>
            </a:pP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[ GLV-1 ]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 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4" name="AutoShape 219"/>
          <p:cNvSpPr>
            <a:spLocks noChangeArrowheads="1"/>
          </p:cNvSpPr>
          <p:nvPr/>
        </p:nvSpPr>
        <p:spPr bwMode="auto">
          <a:xfrm>
            <a:off x="2819400" y="5197758"/>
            <a:ext cx="1981200" cy="1143000"/>
          </a:xfrm>
          <a:prstGeom prst="roundRect">
            <a:avLst>
              <a:gd name="adj" fmla="val 13986"/>
            </a:avLst>
          </a:prstGeom>
          <a:solidFill>
            <a:schemeClr val="bg1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lIns="18000" tIns="72000" rIns="18000" bIns="45710" anchor="ctr" anchorCtr="1"/>
          <a:lstStyle/>
          <a:p>
            <a:pPr>
              <a:spcBef>
                <a:spcPct val="0"/>
              </a:spcBef>
            </a:pPr>
            <a:endParaRPr lang="ko-KR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5" name="AutoShape 220"/>
          <p:cNvSpPr>
            <a:spLocks noChangeArrowheads="1"/>
          </p:cNvSpPr>
          <p:nvPr/>
        </p:nvSpPr>
        <p:spPr bwMode="auto">
          <a:xfrm>
            <a:off x="2590800" y="5602560"/>
            <a:ext cx="180975" cy="285750"/>
          </a:xfrm>
          <a:prstGeom prst="rightArrow">
            <a:avLst>
              <a:gd name="adj1" fmla="val 58333"/>
              <a:gd name="adj2" fmla="val 59648"/>
            </a:avLst>
          </a:prstGeom>
          <a:noFill/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18" name="AutoShape 222"/>
          <p:cNvSpPr>
            <a:spLocks noChangeArrowheads="1"/>
          </p:cNvSpPr>
          <p:nvPr/>
        </p:nvSpPr>
        <p:spPr bwMode="auto">
          <a:xfrm>
            <a:off x="5167314" y="5197758"/>
            <a:ext cx="1981200" cy="1143000"/>
          </a:xfrm>
          <a:prstGeom prst="roundRect">
            <a:avLst>
              <a:gd name="adj" fmla="val 13986"/>
            </a:avLst>
          </a:prstGeom>
          <a:solidFill>
            <a:schemeClr val="bg1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lIns="18000" tIns="72000" rIns="18000" bIns="45710" anchor="ctr" anchorCtr="1"/>
          <a:lstStyle/>
          <a:p>
            <a:pPr>
              <a:spcBef>
                <a:spcPct val="0"/>
              </a:spcBef>
            </a:pPr>
            <a:endParaRPr lang="ko-KR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4415" name="AutoShape 223"/>
          <p:cNvSpPr>
            <a:spLocks noChangeArrowheads="1"/>
          </p:cNvSpPr>
          <p:nvPr/>
        </p:nvSpPr>
        <p:spPr bwMode="auto">
          <a:xfrm>
            <a:off x="5181600" y="5197758"/>
            <a:ext cx="330200" cy="1143000"/>
          </a:xfrm>
          <a:prstGeom prst="roundRect">
            <a:avLst>
              <a:gd name="adj" fmla="val 29167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lIns="18000" tIns="72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3</a:t>
            </a:r>
          </a:p>
        </p:txBody>
      </p:sp>
      <p:sp>
        <p:nvSpPr>
          <p:cNvPr id="12320" name="Text Box 224"/>
          <p:cNvSpPr txBox="1">
            <a:spLocks noChangeArrowheads="1"/>
          </p:cNvSpPr>
          <p:nvPr/>
        </p:nvSpPr>
        <p:spPr bwMode="auto">
          <a:xfrm>
            <a:off x="5511800" y="5197758"/>
            <a:ext cx="16510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72000" rIns="18000" anchor="ctr" anchorCtr="1"/>
          <a:lstStyle/>
          <a:p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비상조명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비상동력</a:t>
            </a:r>
            <a:endParaRPr lang="en-US" altLang="ko-KR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ACB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순차적 투입</a:t>
            </a:r>
          </a:p>
          <a:p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[ GLV-2, 4 ]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7" name="AutoShape 225"/>
          <p:cNvSpPr>
            <a:spLocks noChangeArrowheads="1"/>
          </p:cNvSpPr>
          <p:nvPr/>
        </p:nvSpPr>
        <p:spPr bwMode="auto">
          <a:xfrm>
            <a:off x="4953000" y="5602560"/>
            <a:ext cx="180975" cy="285750"/>
          </a:xfrm>
          <a:prstGeom prst="rightArrow">
            <a:avLst>
              <a:gd name="adj1" fmla="val 58333"/>
              <a:gd name="adj2" fmla="val 59648"/>
            </a:avLst>
          </a:prstGeom>
          <a:noFill/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298" name="AutoShape 226"/>
          <p:cNvSpPr>
            <a:spLocks noChangeArrowheads="1"/>
          </p:cNvSpPr>
          <p:nvPr/>
        </p:nvSpPr>
        <p:spPr bwMode="auto">
          <a:xfrm>
            <a:off x="7315200" y="5602560"/>
            <a:ext cx="180975" cy="285750"/>
          </a:xfrm>
          <a:prstGeom prst="rightArrow">
            <a:avLst>
              <a:gd name="adj1" fmla="val 58333"/>
              <a:gd name="adj2" fmla="val 59648"/>
            </a:avLst>
          </a:prstGeom>
          <a:noFill/>
          <a:ln w="31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315" name="AutoShape 228"/>
          <p:cNvSpPr>
            <a:spLocks noChangeArrowheads="1"/>
          </p:cNvSpPr>
          <p:nvPr/>
        </p:nvSpPr>
        <p:spPr bwMode="auto">
          <a:xfrm>
            <a:off x="7543800" y="5221560"/>
            <a:ext cx="1981200" cy="1143000"/>
          </a:xfrm>
          <a:prstGeom prst="roundRect">
            <a:avLst>
              <a:gd name="adj" fmla="val 13986"/>
            </a:avLst>
          </a:prstGeom>
          <a:solidFill>
            <a:schemeClr val="bg1"/>
          </a:solidFill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lIns="18000" tIns="72000" rIns="18000" bIns="45710" anchor="ctr" anchorCtr="1"/>
          <a:lstStyle/>
          <a:p>
            <a:pPr>
              <a:spcBef>
                <a:spcPct val="0"/>
              </a:spcBef>
            </a:pPr>
            <a:endParaRPr lang="ko-KR" altLang="ko-KR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4421" name="AutoShape 229"/>
          <p:cNvSpPr>
            <a:spLocks noChangeArrowheads="1"/>
          </p:cNvSpPr>
          <p:nvPr/>
        </p:nvSpPr>
        <p:spPr bwMode="auto">
          <a:xfrm>
            <a:off x="7543800" y="5221560"/>
            <a:ext cx="330200" cy="1143000"/>
          </a:xfrm>
          <a:prstGeom prst="roundRect">
            <a:avLst>
              <a:gd name="adj" fmla="val 29167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lIns="18000" tIns="72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4</a:t>
            </a:r>
          </a:p>
        </p:txBody>
      </p:sp>
      <p:sp>
        <p:nvSpPr>
          <p:cNvPr id="12317" name="Text Box 230"/>
          <p:cNvSpPr txBox="1">
            <a:spLocks noChangeArrowheads="1"/>
          </p:cNvSpPr>
          <p:nvPr/>
        </p:nvSpPr>
        <p:spPr bwMode="auto">
          <a:xfrm>
            <a:off x="7874000" y="5221560"/>
            <a:ext cx="16510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72000" rIns="18000" anchor="ctr" anchorCtr="1"/>
          <a:lstStyle/>
          <a:p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부하전력  조절 </a:t>
            </a:r>
          </a:p>
          <a:p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공조 설비 최소 가동  </a:t>
            </a:r>
          </a:p>
        </p:txBody>
      </p:sp>
      <p:sp>
        <p:nvSpPr>
          <p:cNvPr id="264424" name="AutoShape 232"/>
          <p:cNvSpPr>
            <a:spLocks noChangeArrowheads="1"/>
          </p:cNvSpPr>
          <p:nvPr/>
        </p:nvSpPr>
        <p:spPr bwMode="auto">
          <a:xfrm>
            <a:off x="2841106" y="5221560"/>
            <a:ext cx="357190" cy="1119206"/>
          </a:xfrm>
          <a:prstGeom prst="roundRect">
            <a:avLst>
              <a:gd name="adj" fmla="val 29167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lIns="18000" tIns="72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</a:t>
            </a:r>
          </a:p>
        </p:txBody>
      </p:sp>
      <p:sp>
        <p:nvSpPr>
          <p:cNvPr id="12314" name="Text Box 233"/>
          <p:cNvSpPr txBox="1">
            <a:spLocks noChangeArrowheads="1"/>
          </p:cNvSpPr>
          <p:nvPr/>
        </p:nvSpPr>
        <p:spPr bwMode="auto">
          <a:xfrm>
            <a:off x="3149600" y="5221560"/>
            <a:ext cx="16510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000" tIns="72000" rIns="18000" anchor="ctr" anchorCtr="1"/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 TIE ACB 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투입</a:t>
            </a:r>
            <a:endParaRPr lang="en-US" altLang="ko-KR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[ GLV-3 ]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 </a:t>
            </a:r>
          </a:p>
        </p:txBody>
      </p:sp>
      <p:sp>
        <p:nvSpPr>
          <p:cNvPr id="264426" name="AutoShape 234"/>
          <p:cNvSpPr>
            <a:spLocks noChangeArrowheads="1"/>
          </p:cNvSpPr>
          <p:nvPr/>
        </p:nvSpPr>
        <p:spPr bwMode="auto">
          <a:xfrm>
            <a:off x="304800" y="4664358"/>
            <a:ext cx="1676400" cy="228600"/>
          </a:xfrm>
          <a:prstGeom prst="roundRect">
            <a:avLst>
              <a:gd name="adj" fmla="val 18056"/>
            </a:avLst>
          </a:prstGeom>
          <a:noFill/>
          <a:ln w="12700">
            <a:solidFill>
              <a:srgbClr val="777777"/>
            </a:solidFill>
            <a:round/>
            <a:headEnd/>
            <a:tailEnd/>
          </a:ln>
          <a:effectLst/>
        </p:spPr>
        <p:txBody>
          <a:bodyPr wrap="none" lIns="18000" tIns="36000" rIns="18000" anchor="ctr" anchorCtr="1"/>
          <a:lstStyle/>
          <a:p>
            <a:pPr algn="ctr">
              <a:spcBef>
                <a:spcPct val="0"/>
              </a:spcBef>
              <a:defRPr/>
            </a:pPr>
            <a:r>
              <a:rPr lang="ko-KR" altLang="en-US" dirty="0">
                <a:effectLst>
                  <a:outerShdw blurRad="38100" dist="38100" dir="2700000" algn="tl">
                    <a:srgbClr val="FFFFFF"/>
                  </a:outerShdw>
                </a:effectLst>
                <a:latin typeface="맑은 고딕" pitchFamily="50" charset="-127"/>
                <a:ea typeface="맑은 고딕" pitchFamily="50" charset="-127"/>
              </a:rPr>
              <a:t>수동운전 순서</a:t>
            </a:r>
          </a:p>
        </p:txBody>
      </p:sp>
      <p:pic>
        <p:nvPicPr>
          <p:cNvPr id="12306" name="그림 132" descr="사진 064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 l="3236" r="9351"/>
          <a:stretch>
            <a:fillRect/>
          </a:stretch>
        </p:blipFill>
        <p:spPr bwMode="auto">
          <a:xfrm>
            <a:off x="1666852" y="1016471"/>
            <a:ext cx="10795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307" name="그림 133" descr="사진 064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 l="3236" r="9351"/>
          <a:stretch>
            <a:fillRect/>
          </a:stretch>
        </p:blipFill>
        <p:spPr bwMode="auto">
          <a:xfrm>
            <a:off x="6627443" y="993683"/>
            <a:ext cx="10795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4" name="TextBox 43"/>
          <p:cNvSpPr txBox="1"/>
          <p:nvPr/>
        </p:nvSpPr>
        <p:spPr>
          <a:xfrm>
            <a:off x="3667116" y="1054354"/>
            <a:ext cx="1857388" cy="246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발전기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기 고장시 운전방법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한쪽 모서리가 잘린 사각형 44"/>
          <p:cNvSpPr/>
          <p:nvPr/>
        </p:nvSpPr>
        <p:spPr bwMode="auto">
          <a:xfrm>
            <a:off x="71438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수동운전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-TIE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운전</a:t>
            </a:r>
            <a:endParaRPr kumimoji="1" lang="ko-KR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46" name="그림 45" descr="발전기.JPG"/>
          <p:cNvPicPr>
            <a:picLocks noChangeAspect="1"/>
          </p:cNvPicPr>
          <p:nvPr/>
        </p:nvPicPr>
        <p:blipFill>
          <a:blip r:embed="rId3"/>
          <a:srcRect l="2419" t="3846" r="4032" b="3846"/>
          <a:stretch>
            <a:fillRect/>
          </a:stretch>
        </p:blipFill>
        <p:spPr>
          <a:xfrm>
            <a:off x="452406" y="1535426"/>
            <a:ext cx="9001188" cy="2947952"/>
          </a:xfrm>
          <a:prstGeom prst="rect">
            <a:avLst/>
          </a:prstGeom>
        </p:spPr>
      </p:pic>
      <p:sp>
        <p:nvSpPr>
          <p:cNvPr id="47" name="Line 61"/>
          <p:cNvSpPr>
            <a:spLocks noChangeShapeType="1"/>
          </p:cNvSpPr>
          <p:nvPr/>
        </p:nvSpPr>
        <p:spPr bwMode="auto">
          <a:xfrm flipH="1">
            <a:off x="6881826" y="909538"/>
            <a:ext cx="720725" cy="503238"/>
          </a:xfrm>
          <a:prstGeom prst="line">
            <a:avLst/>
          </a:prstGeom>
          <a:noFill/>
          <a:ln w="28575">
            <a:solidFill>
              <a:srgbClr val="FF33CC"/>
            </a:solidFill>
            <a:round/>
            <a:headEnd/>
            <a:tailEnd/>
          </a:ln>
        </p:spPr>
        <p:txBody>
          <a:bodyPr anchor="ctr" anchorCtr="1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Line 62"/>
          <p:cNvSpPr>
            <a:spLocks noChangeShapeType="1"/>
          </p:cNvSpPr>
          <p:nvPr/>
        </p:nvSpPr>
        <p:spPr bwMode="auto">
          <a:xfrm>
            <a:off x="6881826" y="909538"/>
            <a:ext cx="647700" cy="503238"/>
          </a:xfrm>
          <a:prstGeom prst="line">
            <a:avLst/>
          </a:prstGeom>
          <a:noFill/>
          <a:ln w="28575">
            <a:solidFill>
              <a:srgbClr val="FF33CC"/>
            </a:solidFill>
            <a:round/>
            <a:headEnd/>
            <a:tailEnd/>
          </a:ln>
        </p:spPr>
        <p:txBody>
          <a:bodyPr anchor="ctr" anchorCtr="1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Rectangle 9"/>
          <p:cNvSpPr>
            <a:spLocks noChangeArrowheads="1"/>
          </p:cNvSpPr>
          <p:nvPr/>
        </p:nvSpPr>
        <p:spPr bwMode="auto">
          <a:xfrm>
            <a:off x="0" y="640434"/>
            <a:ext cx="9906000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862540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9" name="AutoShape 153"/>
          <p:cNvSpPr>
            <a:spLocks noChangeArrowheads="1"/>
          </p:cNvSpPr>
          <p:nvPr/>
        </p:nvSpPr>
        <p:spPr bwMode="auto">
          <a:xfrm>
            <a:off x="238125" y="857232"/>
            <a:ext cx="4824413" cy="5400693"/>
          </a:xfrm>
          <a:prstGeom prst="roundRect">
            <a:avLst>
              <a:gd name="adj" fmla="val 2139"/>
            </a:avLst>
          </a:prstGeom>
          <a:noFill/>
          <a:ln w="12700">
            <a:solidFill>
              <a:srgbClr val="808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51" name="Rectangle 237"/>
          <p:cNvSpPr>
            <a:spLocks noChangeArrowheads="1"/>
          </p:cNvSpPr>
          <p:nvPr/>
        </p:nvSpPr>
        <p:spPr bwMode="auto">
          <a:xfrm rot="5400000">
            <a:off x="2117726" y="2906713"/>
            <a:ext cx="720725" cy="1765300"/>
          </a:xfrm>
          <a:prstGeom prst="rect">
            <a:avLst/>
          </a:prstGeom>
          <a:solidFill>
            <a:srgbClr val="CCFFFF">
              <a:alpha val="4901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52" name="Rectangle 238"/>
          <p:cNvSpPr>
            <a:spLocks noChangeArrowheads="1"/>
          </p:cNvSpPr>
          <p:nvPr/>
        </p:nvSpPr>
        <p:spPr bwMode="auto">
          <a:xfrm rot="5400000">
            <a:off x="2189163" y="4406901"/>
            <a:ext cx="720725" cy="1765300"/>
          </a:xfrm>
          <a:prstGeom prst="rect">
            <a:avLst/>
          </a:prstGeom>
          <a:solidFill>
            <a:srgbClr val="CCFFFF">
              <a:alpha val="5098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53" name="Rectangle 239"/>
          <p:cNvSpPr>
            <a:spLocks noChangeArrowheads="1"/>
          </p:cNvSpPr>
          <p:nvPr/>
        </p:nvSpPr>
        <p:spPr bwMode="auto">
          <a:xfrm>
            <a:off x="2238375" y="3571875"/>
            <a:ext cx="4318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800">
                <a:solidFill>
                  <a:srgbClr val="FF33CC"/>
                </a:solidFill>
                <a:latin typeface="맑은 고딕" pitchFamily="50" charset="-127"/>
                <a:ea typeface="맑은 고딕" pitchFamily="50" charset="-127"/>
              </a:rPr>
              <a:t>G1</a:t>
            </a:r>
          </a:p>
        </p:txBody>
      </p:sp>
      <p:sp>
        <p:nvSpPr>
          <p:cNvPr id="13354" name="Rectangle 243"/>
          <p:cNvSpPr>
            <a:spLocks noChangeArrowheads="1"/>
          </p:cNvSpPr>
          <p:nvPr/>
        </p:nvSpPr>
        <p:spPr bwMode="auto">
          <a:xfrm>
            <a:off x="2809875" y="1428750"/>
            <a:ext cx="1079501" cy="285750"/>
          </a:xfrm>
          <a:prstGeom prst="rect">
            <a:avLst/>
          </a:prstGeom>
          <a:noFill/>
          <a:ln w="9525">
            <a:solidFill>
              <a:srgbClr val="FC503E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연료탱크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: 3,000L</a:t>
            </a:r>
          </a:p>
        </p:txBody>
      </p:sp>
      <p:sp>
        <p:nvSpPr>
          <p:cNvPr id="13355" name="Line 244"/>
          <p:cNvSpPr>
            <a:spLocks noChangeShapeType="1"/>
          </p:cNvSpPr>
          <p:nvPr/>
        </p:nvSpPr>
        <p:spPr bwMode="auto">
          <a:xfrm>
            <a:off x="1568450" y="2060575"/>
            <a:ext cx="0" cy="863600"/>
          </a:xfrm>
          <a:prstGeom prst="line">
            <a:avLst/>
          </a:prstGeom>
          <a:noFill/>
          <a:ln w="38100">
            <a:solidFill>
              <a:srgbClr val="FF33CC"/>
            </a:solidFill>
            <a:round/>
            <a:headEnd/>
            <a:tailEnd type="triangle" w="med" len="med"/>
          </a:ln>
        </p:spPr>
        <p:txBody>
          <a:bodyPr anchor="ctr" anchorCtr="1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56" name="Rectangle 307"/>
          <p:cNvSpPr>
            <a:spLocks noChangeArrowheads="1"/>
          </p:cNvSpPr>
          <p:nvPr/>
        </p:nvSpPr>
        <p:spPr bwMode="auto">
          <a:xfrm>
            <a:off x="5381628" y="2714620"/>
            <a:ext cx="1439863" cy="35877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연료 </a:t>
            </a:r>
            <a:r>
              <a:rPr lang="ko-KR" altLang="en-US" dirty="0" err="1">
                <a:latin typeface="맑은 고딕" pitchFamily="50" charset="-127"/>
                <a:ea typeface="맑은 고딕" pitchFamily="50" charset="-127"/>
              </a:rPr>
              <a:t>주입구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 위치</a:t>
            </a:r>
          </a:p>
        </p:txBody>
      </p:sp>
      <p:cxnSp>
        <p:nvCxnSpPr>
          <p:cNvPr id="13357" name="직선 화살표 연결선 31"/>
          <p:cNvCxnSpPr>
            <a:cxnSpLocks noChangeShapeType="1"/>
          </p:cNvCxnSpPr>
          <p:nvPr/>
        </p:nvCxnSpPr>
        <p:spPr bwMode="auto">
          <a:xfrm rot="10800000">
            <a:off x="952501" y="3857625"/>
            <a:ext cx="500063" cy="1588"/>
          </a:xfrm>
          <a:prstGeom prst="straightConnector1">
            <a:avLst/>
          </a:prstGeom>
          <a:noFill/>
          <a:ln w="38100" algn="ctr">
            <a:solidFill>
              <a:srgbClr val="0000FF"/>
            </a:solidFill>
            <a:round/>
            <a:headEnd/>
            <a:tailEnd type="arrow" w="med" len="med"/>
          </a:ln>
        </p:spPr>
      </p:cxnSp>
      <p:cxnSp>
        <p:nvCxnSpPr>
          <p:cNvPr id="13358" name="직선 화살표 연결선 32"/>
          <p:cNvCxnSpPr>
            <a:cxnSpLocks noChangeShapeType="1"/>
          </p:cNvCxnSpPr>
          <p:nvPr/>
        </p:nvCxnSpPr>
        <p:spPr bwMode="auto">
          <a:xfrm rot="5400000" flipH="1" flipV="1">
            <a:off x="-49212" y="4143377"/>
            <a:ext cx="2001838" cy="1587"/>
          </a:xfrm>
          <a:prstGeom prst="straightConnector1">
            <a:avLst/>
          </a:prstGeom>
          <a:noFill/>
          <a:ln w="38100" algn="ctr">
            <a:solidFill>
              <a:srgbClr val="0000FF"/>
            </a:solidFill>
            <a:round/>
            <a:headEnd/>
            <a:tailEnd type="arrow" w="med" len="med"/>
          </a:ln>
        </p:spPr>
      </p:cxnSp>
      <p:cxnSp>
        <p:nvCxnSpPr>
          <p:cNvPr id="13359" name="직선 연결선 36"/>
          <p:cNvCxnSpPr>
            <a:cxnSpLocks noChangeShapeType="1"/>
          </p:cNvCxnSpPr>
          <p:nvPr/>
        </p:nvCxnSpPr>
        <p:spPr bwMode="auto">
          <a:xfrm>
            <a:off x="757239" y="2928938"/>
            <a:ext cx="812800" cy="4762"/>
          </a:xfrm>
          <a:prstGeom prst="line">
            <a:avLst/>
          </a:prstGeom>
          <a:noFill/>
          <a:ln w="38100" algn="ctr">
            <a:solidFill>
              <a:srgbClr val="FF33CC"/>
            </a:solidFill>
            <a:round/>
            <a:headEnd/>
            <a:tailEnd/>
          </a:ln>
        </p:spPr>
      </p:cxnSp>
      <p:cxnSp>
        <p:nvCxnSpPr>
          <p:cNvPr id="13360" name="직선 화살표 연결선 38"/>
          <p:cNvCxnSpPr>
            <a:cxnSpLocks noChangeShapeType="1"/>
          </p:cNvCxnSpPr>
          <p:nvPr/>
        </p:nvCxnSpPr>
        <p:spPr bwMode="auto">
          <a:xfrm rot="5400000">
            <a:off x="-465930" y="4133057"/>
            <a:ext cx="2428875" cy="20638"/>
          </a:xfrm>
          <a:prstGeom prst="straightConnector1">
            <a:avLst/>
          </a:prstGeom>
          <a:noFill/>
          <a:ln w="38100" algn="ctr">
            <a:solidFill>
              <a:srgbClr val="FF33CC"/>
            </a:solidFill>
            <a:round/>
            <a:headEnd/>
            <a:tailEnd type="arrow" w="med" len="med"/>
          </a:ln>
        </p:spPr>
      </p:cxnSp>
      <p:cxnSp>
        <p:nvCxnSpPr>
          <p:cNvPr id="13361" name="직선 화살표 연결선 40"/>
          <p:cNvCxnSpPr>
            <a:cxnSpLocks noChangeShapeType="1"/>
          </p:cNvCxnSpPr>
          <p:nvPr/>
        </p:nvCxnSpPr>
        <p:spPr bwMode="auto">
          <a:xfrm>
            <a:off x="738189" y="5357815"/>
            <a:ext cx="719137" cy="1587"/>
          </a:xfrm>
          <a:prstGeom prst="straightConnector1">
            <a:avLst/>
          </a:prstGeom>
          <a:noFill/>
          <a:ln w="38100" algn="ctr">
            <a:solidFill>
              <a:srgbClr val="FF33CC"/>
            </a:solidFill>
            <a:round/>
            <a:headEnd/>
            <a:tailEnd type="arrow" w="med" len="med"/>
          </a:ln>
        </p:spPr>
      </p:cxnSp>
      <p:pic>
        <p:nvPicPr>
          <p:cNvPr id="13362" name="그림 44" descr="사진 064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 l="3236" r="9351"/>
          <a:stretch>
            <a:fillRect/>
          </a:stretch>
        </p:blipFill>
        <p:spPr bwMode="auto">
          <a:xfrm>
            <a:off x="1524001" y="3286127"/>
            <a:ext cx="20002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63" name="그림 45" descr="사진 064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 l="3236" r="9351"/>
          <a:stretch>
            <a:fillRect/>
          </a:stretch>
        </p:blipFill>
        <p:spPr bwMode="auto">
          <a:xfrm>
            <a:off x="1524001" y="4786315"/>
            <a:ext cx="20002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64" name="Rectangle 240"/>
          <p:cNvSpPr>
            <a:spLocks noChangeArrowheads="1"/>
          </p:cNvSpPr>
          <p:nvPr/>
        </p:nvSpPr>
        <p:spPr bwMode="auto">
          <a:xfrm>
            <a:off x="2238375" y="3643313"/>
            <a:ext cx="4318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solidFill>
                  <a:srgbClr val="FF33CC"/>
                </a:solidFill>
                <a:latin typeface="맑은 고딕" pitchFamily="50" charset="-127"/>
                <a:ea typeface="맑은 고딕" pitchFamily="50" charset="-127"/>
              </a:rPr>
              <a:t>G1</a:t>
            </a:r>
          </a:p>
        </p:txBody>
      </p:sp>
      <p:sp>
        <p:nvSpPr>
          <p:cNvPr id="13365" name="Rectangle 240"/>
          <p:cNvSpPr>
            <a:spLocks noChangeArrowheads="1"/>
          </p:cNvSpPr>
          <p:nvPr/>
        </p:nvSpPr>
        <p:spPr bwMode="auto">
          <a:xfrm>
            <a:off x="2238375" y="5143500"/>
            <a:ext cx="4318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>
                <a:solidFill>
                  <a:srgbClr val="FF33CC"/>
                </a:solidFill>
                <a:latin typeface="맑은 고딕" pitchFamily="50" charset="-127"/>
                <a:ea typeface="맑은 고딕" pitchFamily="50" charset="-127"/>
              </a:rPr>
              <a:t>G2</a:t>
            </a:r>
          </a:p>
        </p:txBody>
      </p:sp>
      <p:cxnSp>
        <p:nvCxnSpPr>
          <p:cNvPr id="13366" name="직선 화살표 연결선 52"/>
          <p:cNvCxnSpPr>
            <a:cxnSpLocks noChangeShapeType="1"/>
          </p:cNvCxnSpPr>
          <p:nvPr/>
        </p:nvCxnSpPr>
        <p:spPr bwMode="auto">
          <a:xfrm>
            <a:off x="738189" y="3643315"/>
            <a:ext cx="790576" cy="1587"/>
          </a:xfrm>
          <a:prstGeom prst="straightConnector1">
            <a:avLst/>
          </a:prstGeom>
          <a:noFill/>
          <a:ln w="38100" algn="ctr">
            <a:solidFill>
              <a:srgbClr val="FF33CC"/>
            </a:solidFill>
            <a:round/>
            <a:headEnd/>
            <a:tailEnd type="arrow" w="med" len="med"/>
          </a:ln>
        </p:spPr>
      </p:cxnSp>
      <p:cxnSp>
        <p:nvCxnSpPr>
          <p:cNvPr id="13367" name="직선 화살표 연결선 54"/>
          <p:cNvCxnSpPr>
            <a:cxnSpLocks noChangeShapeType="1"/>
          </p:cNvCxnSpPr>
          <p:nvPr/>
        </p:nvCxnSpPr>
        <p:spPr bwMode="auto">
          <a:xfrm rot="5400000" flipH="1" flipV="1">
            <a:off x="1273969" y="2607469"/>
            <a:ext cx="1071562" cy="0"/>
          </a:xfrm>
          <a:prstGeom prst="straightConnector1">
            <a:avLst/>
          </a:prstGeom>
          <a:noFill/>
          <a:ln w="38100" algn="ctr">
            <a:solidFill>
              <a:srgbClr val="0000FF"/>
            </a:solidFill>
            <a:round/>
            <a:headEnd/>
            <a:tailEnd type="arrow" w="med" len="med"/>
          </a:ln>
        </p:spPr>
      </p:cxnSp>
      <p:cxnSp>
        <p:nvCxnSpPr>
          <p:cNvPr id="13368" name="직선 화살표 연결선 64"/>
          <p:cNvCxnSpPr>
            <a:cxnSpLocks noChangeShapeType="1"/>
          </p:cNvCxnSpPr>
          <p:nvPr/>
        </p:nvCxnSpPr>
        <p:spPr bwMode="auto">
          <a:xfrm rot="10800000">
            <a:off x="952501" y="5143500"/>
            <a:ext cx="500063" cy="1588"/>
          </a:xfrm>
          <a:prstGeom prst="straightConnector1">
            <a:avLst/>
          </a:prstGeom>
          <a:noFill/>
          <a:ln w="38100" algn="ctr">
            <a:solidFill>
              <a:srgbClr val="0000FF"/>
            </a:solidFill>
            <a:round/>
            <a:headEnd/>
            <a:tailEnd type="arrow" w="med" len="med"/>
          </a:ln>
        </p:spPr>
      </p:cxnSp>
      <p:cxnSp>
        <p:nvCxnSpPr>
          <p:cNvPr id="13369" name="직선 연결선 65"/>
          <p:cNvCxnSpPr>
            <a:cxnSpLocks noChangeShapeType="1"/>
          </p:cNvCxnSpPr>
          <p:nvPr/>
        </p:nvCxnSpPr>
        <p:spPr bwMode="auto">
          <a:xfrm>
            <a:off x="952500" y="3143250"/>
            <a:ext cx="857250" cy="1588"/>
          </a:xfrm>
          <a:prstGeom prst="line">
            <a:avLst/>
          </a:prstGeom>
          <a:noFill/>
          <a:ln w="38100" algn="ctr">
            <a:solidFill>
              <a:srgbClr val="0000FF"/>
            </a:solidFill>
            <a:round/>
            <a:headEnd/>
            <a:tailEnd/>
          </a:ln>
        </p:spPr>
      </p:cxnSp>
      <p:sp>
        <p:nvSpPr>
          <p:cNvPr id="73" name="Rectangle 242"/>
          <p:cNvSpPr>
            <a:spLocks noChangeArrowheads="1"/>
          </p:cNvSpPr>
          <p:nvPr/>
        </p:nvSpPr>
        <p:spPr bwMode="auto">
          <a:xfrm>
            <a:off x="3738563" y="2843213"/>
            <a:ext cx="1285876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Rectangle 242"/>
          <p:cNvSpPr>
            <a:spLocks noChangeArrowheads="1"/>
          </p:cNvSpPr>
          <p:nvPr/>
        </p:nvSpPr>
        <p:spPr bwMode="auto">
          <a:xfrm>
            <a:off x="3738563" y="3486150"/>
            <a:ext cx="1285876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5" name="Rectangle 242"/>
          <p:cNvSpPr>
            <a:spLocks noChangeArrowheads="1"/>
          </p:cNvSpPr>
          <p:nvPr/>
        </p:nvSpPr>
        <p:spPr bwMode="auto">
          <a:xfrm>
            <a:off x="3738563" y="4129088"/>
            <a:ext cx="1285876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6" name="Rectangle 242"/>
          <p:cNvSpPr>
            <a:spLocks noChangeArrowheads="1"/>
          </p:cNvSpPr>
          <p:nvPr/>
        </p:nvSpPr>
        <p:spPr bwMode="auto">
          <a:xfrm>
            <a:off x="3738563" y="4776788"/>
            <a:ext cx="1285876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7" name="Rectangle 242"/>
          <p:cNvSpPr>
            <a:spLocks noChangeArrowheads="1"/>
          </p:cNvSpPr>
          <p:nvPr/>
        </p:nvSpPr>
        <p:spPr bwMode="auto">
          <a:xfrm>
            <a:off x="3738563" y="5424488"/>
            <a:ext cx="1285876" cy="647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3375" name="직선 연결선 77"/>
          <p:cNvCxnSpPr>
            <a:cxnSpLocks noChangeShapeType="1"/>
          </p:cNvCxnSpPr>
          <p:nvPr/>
        </p:nvCxnSpPr>
        <p:spPr bwMode="auto">
          <a:xfrm rot="10800000" flipV="1">
            <a:off x="3738563" y="2857500"/>
            <a:ext cx="1285876" cy="642938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cxnSp>
        <p:nvCxnSpPr>
          <p:cNvPr id="13376" name="직선 연결선 78"/>
          <p:cNvCxnSpPr>
            <a:cxnSpLocks noChangeShapeType="1"/>
          </p:cNvCxnSpPr>
          <p:nvPr/>
        </p:nvCxnSpPr>
        <p:spPr bwMode="auto">
          <a:xfrm>
            <a:off x="3752850" y="2843215"/>
            <a:ext cx="1285876" cy="642937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cxnSp>
        <p:nvCxnSpPr>
          <p:cNvPr id="13377" name="직선 연결선 79"/>
          <p:cNvCxnSpPr>
            <a:cxnSpLocks noChangeShapeType="1"/>
          </p:cNvCxnSpPr>
          <p:nvPr/>
        </p:nvCxnSpPr>
        <p:spPr bwMode="auto">
          <a:xfrm rot="10800000" flipV="1">
            <a:off x="3738563" y="3500440"/>
            <a:ext cx="1285876" cy="642937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cxnSp>
        <p:nvCxnSpPr>
          <p:cNvPr id="13378" name="직선 연결선 80"/>
          <p:cNvCxnSpPr>
            <a:cxnSpLocks noChangeShapeType="1"/>
          </p:cNvCxnSpPr>
          <p:nvPr/>
        </p:nvCxnSpPr>
        <p:spPr bwMode="auto">
          <a:xfrm>
            <a:off x="3752850" y="3486150"/>
            <a:ext cx="1285876" cy="642938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cxnSp>
        <p:nvCxnSpPr>
          <p:cNvPr id="13379" name="직선 연결선 81"/>
          <p:cNvCxnSpPr>
            <a:cxnSpLocks noChangeShapeType="1"/>
          </p:cNvCxnSpPr>
          <p:nvPr/>
        </p:nvCxnSpPr>
        <p:spPr bwMode="auto">
          <a:xfrm rot="10800000" flipV="1">
            <a:off x="3724276" y="4157665"/>
            <a:ext cx="1285876" cy="642937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cxnSp>
        <p:nvCxnSpPr>
          <p:cNvPr id="13380" name="직선 연결선 82"/>
          <p:cNvCxnSpPr>
            <a:cxnSpLocks noChangeShapeType="1"/>
          </p:cNvCxnSpPr>
          <p:nvPr/>
        </p:nvCxnSpPr>
        <p:spPr bwMode="auto">
          <a:xfrm>
            <a:off x="3738563" y="4143375"/>
            <a:ext cx="1285876" cy="642938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cxnSp>
        <p:nvCxnSpPr>
          <p:cNvPr id="13381" name="직선 연결선 83"/>
          <p:cNvCxnSpPr>
            <a:cxnSpLocks noChangeShapeType="1"/>
          </p:cNvCxnSpPr>
          <p:nvPr/>
        </p:nvCxnSpPr>
        <p:spPr bwMode="auto">
          <a:xfrm rot="10800000" flipV="1">
            <a:off x="3724276" y="4800600"/>
            <a:ext cx="1285876" cy="642938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cxnSp>
        <p:nvCxnSpPr>
          <p:cNvPr id="13382" name="직선 연결선 84"/>
          <p:cNvCxnSpPr>
            <a:cxnSpLocks noChangeShapeType="1"/>
          </p:cNvCxnSpPr>
          <p:nvPr/>
        </p:nvCxnSpPr>
        <p:spPr bwMode="auto">
          <a:xfrm>
            <a:off x="3738563" y="4786315"/>
            <a:ext cx="1285876" cy="642937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cxnSp>
        <p:nvCxnSpPr>
          <p:cNvPr id="13383" name="직선 연결선 85"/>
          <p:cNvCxnSpPr>
            <a:cxnSpLocks noChangeShapeType="1"/>
          </p:cNvCxnSpPr>
          <p:nvPr/>
        </p:nvCxnSpPr>
        <p:spPr bwMode="auto">
          <a:xfrm rot="10800000" flipV="1">
            <a:off x="3724276" y="5424490"/>
            <a:ext cx="1285876" cy="642937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cxnSp>
        <p:nvCxnSpPr>
          <p:cNvPr id="13384" name="직선 연결선 86"/>
          <p:cNvCxnSpPr>
            <a:cxnSpLocks noChangeShapeType="1"/>
          </p:cNvCxnSpPr>
          <p:nvPr/>
        </p:nvCxnSpPr>
        <p:spPr bwMode="auto">
          <a:xfrm>
            <a:off x="3738563" y="5410200"/>
            <a:ext cx="1285876" cy="642938"/>
          </a:xfrm>
          <a:prstGeom prst="line">
            <a:avLst/>
          </a:prstGeom>
          <a:noFill/>
          <a:ln w="9525" algn="ctr">
            <a:solidFill>
              <a:schemeClr val="bg1">
                <a:lumMod val="75000"/>
              </a:schemeClr>
            </a:solidFill>
            <a:round/>
            <a:headEnd/>
            <a:tailEnd/>
          </a:ln>
        </p:spPr>
      </p:cxnSp>
      <p:sp>
        <p:nvSpPr>
          <p:cNvPr id="13385" name="TextBox 87"/>
          <p:cNvSpPr txBox="1">
            <a:spLocks noChangeArrowheads="1"/>
          </p:cNvSpPr>
          <p:nvPr/>
        </p:nvSpPr>
        <p:spPr bwMode="auto">
          <a:xfrm>
            <a:off x="3976689" y="3048002"/>
            <a:ext cx="100012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호기 기동반</a:t>
            </a:r>
          </a:p>
        </p:txBody>
      </p:sp>
      <p:sp>
        <p:nvSpPr>
          <p:cNvPr id="13386" name="TextBox 88"/>
          <p:cNvSpPr txBox="1">
            <a:spLocks noChangeArrowheads="1"/>
          </p:cNvSpPr>
          <p:nvPr/>
        </p:nvSpPr>
        <p:spPr bwMode="auto">
          <a:xfrm>
            <a:off x="3995737" y="3705226"/>
            <a:ext cx="1034654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호기 </a:t>
            </a:r>
            <a:r>
              <a:rPr lang="en-US" altLang="ko-KR" dirty="0" smtClean="0">
                <a:latin typeface="맑은 고딕" pitchFamily="50" charset="-127"/>
                <a:ea typeface="맑은 고딕" pitchFamily="50" charset="-127"/>
              </a:rPr>
              <a:t>ACB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87" name="TextBox 89"/>
          <p:cNvSpPr txBox="1">
            <a:spLocks noChangeArrowheads="1"/>
          </p:cNvSpPr>
          <p:nvPr/>
        </p:nvSpPr>
        <p:spPr bwMode="auto">
          <a:xfrm>
            <a:off x="4024314" y="4286252"/>
            <a:ext cx="71437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TIE </a:t>
            </a:r>
            <a:r>
              <a:rPr lang="ko-KR" altLang="en-US" dirty="0" err="1">
                <a:latin typeface="맑은 고딕" pitchFamily="50" charset="-127"/>
                <a:ea typeface="맑은 고딕" pitchFamily="50" charset="-127"/>
              </a:rPr>
              <a:t>판넬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88" name="TextBox 90"/>
          <p:cNvSpPr txBox="1">
            <a:spLocks noChangeArrowheads="1"/>
          </p:cNvSpPr>
          <p:nvPr/>
        </p:nvSpPr>
        <p:spPr bwMode="auto">
          <a:xfrm>
            <a:off x="3967163" y="4967289"/>
            <a:ext cx="100012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호기 </a:t>
            </a:r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ACB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89" name="TextBox 91"/>
          <p:cNvSpPr txBox="1">
            <a:spLocks noChangeArrowheads="1"/>
          </p:cNvSpPr>
          <p:nvPr/>
        </p:nvSpPr>
        <p:spPr bwMode="auto">
          <a:xfrm>
            <a:off x="3881438" y="5610227"/>
            <a:ext cx="100012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ko-KR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dirty="0">
                <a:latin typeface="맑은 고딕" pitchFamily="50" charset="-127"/>
                <a:ea typeface="맑은 고딕" pitchFamily="50" charset="-127"/>
              </a:rPr>
              <a:t>호기 기동반</a:t>
            </a:r>
          </a:p>
        </p:txBody>
      </p:sp>
      <p:pic>
        <p:nvPicPr>
          <p:cNvPr id="13390" name="그림 94" descr="조감도.JPG"/>
          <p:cNvPicPr>
            <a:picLocks noChangeAspect="1"/>
          </p:cNvPicPr>
          <p:nvPr/>
        </p:nvPicPr>
        <p:blipFill>
          <a:blip r:embed="rId3" cstate="print">
            <a:lum bright="20000"/>
          </a:blip>
          <a:srcRect/>
          <a:stretch>
            <a:fillRect/>
          </a:stretch>
        </p:blipFill>
        <p:spPr bwMode="auto">
          <a:xfrm>
            <a:off x="5381629" y="3143248"/>
            <a:ext cx="421484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91" name="Oval 310"/>
          <p:cNvSpPr>
            <a:spLocks noChangeArrowheads="1"/>
          </p:cNvSpPr>
          <p:nvPr/>
        </p:nvSpPr>
        <p:spPr bwMode="auto">
          <a:xfrm>
            <a:off x="6113868" y="5664719"/>
            <a:ext cx="309564" cy="285752"/>
          </a:xfrm>
          <a:prstGeom prst="cube">
            <a:avLst>
              <a:gd name="adj" fmla="val 25000"/>
            </a:avLst>
          </a:prstGeom>
          <a:noFill/>
          <a:ln w="9525">
            <a:solidFill>
              <a:srgbClr val="FF3399"/>
            </a:solidFill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92" name="오른쪽 화살표 96"/>
          <p:cNvSpPr>
            <a:spLocks noChangeArrowheads="1"/>
          </p:cNvSpPr>
          <p:nvPr/>
        </p:nvSpPr>
        <p:spPr bwMode="auto">
          <a:xfrm rot="18522909">
            <a:off x="5680838" y="6276400"/>
            <a:ext cx="463687" cy="257079"/>
          </a:xfrm>
          <a:prstGeom prst="rightArrow">
            <a:avLst>
              <a:gd name="adj1" fmla="val 50000"/>
              <a:gd name="adj2" fmla="val 50000"/>
            </a:avLst>
          </a:prstGeom>
          <a:noFill/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anchor="ctr" anchorCtr="1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93" name="TextBox 52"/>
          <p:cNvSpPr txBox="1">
            <a:spLocks noChangeArrowheads="1"/>
          </p:cNvSpPr>
          <p:nvPr/>
        </p:nvSpPr>
        <p:spPr bwMode="auto">
          <a:xfrm>
            <a:off x="851269" y="2500307"/>
            <a:ext cx="90490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dirty="0" smtClean="0">
                <a:solidFill>
                  <a:srgbClr val="FF33CC"/>
                </a:solidFill>
                <a:latin typeface="맑은 고딕" pitchFamily="50" charset="-127"/>
                <a:ea typeface="맑은 고딕" pitchFamily="50" charset="-127"/>
              </a:rPr>
              <a:t>급유</a:t>
            </a:r>
            <a:endParaRPr lang="ko-KR" altLang="en-US" dirty="0">
              <a:solidFill>
                <a:srgbClr val="FF33CC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394" name="TextBox 53"/>
          <p:cNvSpPr txBox="1">
            <a:spLocks noChangeArrowheads="1"/>
          </p:cNvSpPr>
          <p:nvPr/>
        </p:nvSpPr>
        <p:spPr bwMode="auto">
          <a:xfrm>
            <a:off x="1881187" y="2500314"/>
            <a:ext cx="982251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환유</a:t>
            </a:r>
          </a:p>
        </p:txBody>
      </p:sp>
      <p:grpSp>
        <p:nvGrpSpPr>
          <p:cNvPr id="56" name="그룹 55"/>
          <p:cNvGrpSpPr/>
          <p:nvPr/>
        </p:nvGrpSpPr>
        <p:grpSpPr>
          <a:xfrm>
            <a:off x="1023938" y="928688"/>
            <a:ext cx="1571626" cy="1143002"/>
            <a:chOff x="1023938" y="928688"/>
            <a:chExt cx="1571626" cy="1143002"/>
          </a:xfrm>
        </p:grpSpPr>
        <p:cxnSp>
          <p:nvCxnSpPr>
            <p:cNvPr id="13396" name="직선 연결선 53"/>
            <p:cNvCxnSpPr>
              <a:cxnSpLocks noChangeShapeType="1"/>
            </p:cNvCxnSpPr>
            <p:nvPr/>
          </p:nvCxnSpPr>
          <p:spPr bwMode="auto">
            <a:xfrm rot="10800000" flipV="1">
              <a:off x="1023938" y="1285877"/>
              <a:ext cx="1285876" cy="78581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3397" name="직선 연결선 55"/>
            <p:cNvCxnSpPr>
              <a:cxnSpLocks noChangeShapeType="1"/>
            </p:cNvCxnSpPr>
            <p:nvPr/>
          </p:nvCxnSpPr>
          <p:spPr bwMode="auto">
            <a:xfrm>
              <a:off x="1023938" y="1285877"/>
              <a:ext cx="1285876" cy="785813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54" name="그룹 53"/>
            <p:cNvGrpSpPr/>
            <p:nvPr/>
          </p:nvGrpSpPr>
          <p:grpSpPr>
            <a:xfrm>
              <a:off x="1023939" y="928688"/>
              <a:ext cx="1571625" cy="1143002"/>
              <a:chOff x="1023939" y="928688"/>
              <a:chExt cx="1571625" cy="1143002"/>
            </a:xfrm>
          </p:grpSpPr>
          <p:sp>
            <p:nvSpPr>
              <p:cNvPr id="13395" name="정육면체 54"/>
              <p:cNvSpPr>
                <a:spLocks noChangeArrowheads="1"/>
              </p:cNvSpPr>
              <p:nvPr/>
            </p:nvSpPr>
            <p:spPr bwMode="auto">
              <a:xfrm>
                <a:off x="1023939" y="1000127"/>
                <a:ext cx="1571625" cy="1071563"/>
              </a:xfrm>
              <a:prstGeom prst="cube">
                <a:avLst>
                  <a:gd name="adj" fmla="val 25000"/>
                </a:avLst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3398" name="순서도: 지연 56"/>
              <p:cNvSpPr>
                <a:spLocks noChangeArrowheads="1"/>
              </p:cNvSpPr>
              <p:nvPr/>
            </p:nvSpPr>
            <p:spPr bwMode="auto">
              <a:xfrm rot="-5400000">
                <a:off x="2095501" y="928687"/>
                <a:ext cx="214312" cy="214313"/>
              </a:xfrm>
              <a:prstGeom prst="flowChartDelay">
                <a:avLst/>
              </a:prstGeom>
              <a:noFill/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anchor="ctr" anchorCtr="1"/>
              <a:lstStyle/>
              <a:p>
                <a:endParaRPr lang="ko-KR" altLang="en-US"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sp>
        <p:nvSpPr>
          <p:cNvPr id="55" name="한쪽 모서리가 잘린 사각형 54"/>
          <p:cNvSpPr/>
          <p:nvPr/>
        </p:nvSpPr>
        <p:spPr bwMode="auto">
          <a:xfrm>
            <a:off x="0" y="285728"/>
            <a:ext cx="1952604" cy="285752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 smtClean="0">
                <a:latin typeface="맑은 고딕" pitchFamily="50" charset="-127"/>
                <a:ea typeface="맑은 고딕" pitchFamily="50" charset="-127"/>
              </a:rPr>
              <a:t>연료계통</a:t>
            </a:r>
            <a:endParaRPr kumimoji="1" lang="ko-KR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375908"/>
              </p:ext>
            </p:extLst>
          </p:nvPr>
        </p:nvGraphicFramePr>
        <p:xfrm>
          <a:off x="5381628" y="928666"/>
          <a:ext cx="4214841" cy="1500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947"/>
                <a:gridCol w="1881201"/>
                <a:gridCol w="928693"/>
              </a:tblGrid>
              <a:tr h="5447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 분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내 용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비 고</a:t>
                      </a:r>
                      <a:endParaRPr lang="ko-KR" altLang="en-US" sz="1000" b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76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탱크용량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3,000 ℓ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687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연료종류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경유</a:t>
                      </a:r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7" name="Rectangle 9"/>
          <p:cNvSpPr>
            <a:spLocks noChangeArrowheads="1"/>
          </p:cNvSpPr>
          <p:nvPr/>
        </p:nvSpPr>
        <p:spPr bwMode="auto">
          <a:xfrm>
            <a:off x="0" y="640434"/>
            <a:ext cx="9906000" cy="14366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맑은 고딕" pitchFamily="50" charset="-127"/>
                <a:ea typeface="맑은 고딕" pitchFamily="50" charset="-127"/>
              </a:rPr>
              <a:t>                                      </a:t>
            </a:r>
            <a:endParaRPr lang="ko-KR" altLang="en-US" sz="1000" b="1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8" name="그림 5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60" t="17363" r="12702" b="15185"/>
          <a:stretch/>
        </p:blipFill>
        <p:spPr>
          <a:xfrm>
            <a:off x="8625408" y="2256"/>
            <a:ext cx="1200498" cy="6073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3"/>
          <p:cNvSpPr txBox="1">
            <a:spLocks noChangeArrowheads="1"/>
          </p:cNvSpPr>
          <p:nvPr/>
        </p:nvSpPr>
        <p:spPr bwMode="auto">
          <a:xfrm>
            <a:off x="5577286" y="551504"/>
            <a:ext cx="3682073" cy="338554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ko-KR" sz="1600" b="1" dirty="0">
                <a:latin typeface="맑은 고딕" pitchFamily="50" charset="-127"/>
                <a:ea typeface="맑은 고딕" pitchFamily="50" charset="-127"/>
              </a:rPr>
              <a:t>GIPAM 2000  </a:t>
            </a:r>
            <a:r>
              <a:rPr lang="ko-KR" altLang="en-US" sz="1600" b="1" dirty="0">
                <a:latin typeface="맑은 고딕" pitchFamily="50" charset="-127"/>
                <a:ea typeface="맑은 고딕" pitchFamily="50" charset="-127"/>
              </a:rPr>
              <a:t>투입 방법</a:t>
            </a:r>
          </a:p>
        </p:txBody>
      </p:sp>
      <p:sp>
        <p:nvSpPr>
          <p:cNvPr id="2051" name="Text Box 20"/>
          <p:cNvSpPr txBox="1">
            <a:spLocks noChangeArrowheads="1"/>
          </p:cNvSpPr>
          <p:nvPr/>
        </p:nvSpPr>
        <p:spPr bwMode="auto">
          <a:xfrm>
            <a:off x="5030391" y="938214"/>
            <a:ext cx="4691592" cy="5161413"/>
          </a:xfrm>
          <a:prstGeom prst="rect">
            <a:avLst/>
          </a:prstGeom>
          <a:noFill/>
          <a:ln w="19050">
            <a:solidFill>
              <a:srgbClr val="3366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90000"/>
              </a:lnSpc>
              <a:spcBef>
                <a:spcPct val="50000"/>
              </a:spcBef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1.          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버튼을 눌러 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 ) 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표시램프 점등 확인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적색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>
              <a:lnSpc>
                <a:spcPct val="175000"/>
              </a:lnSpc>
              <a:spcBef>
                <a:spcPct val="50000"/>
              </a:spcBef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2.          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버튼을 눌러 </a:t>
            </a:r>
            <a:r>
              <a:rPr lang="ko-KR" altLang="en-US" sz="1200" b="1" dirty="0" err="1">
                <a:latin typeface="맑은 고딕" pitchFamily="50" charset="-127"/>
                <a:ea typeface="맑은 고딕" pitchFamily="50" charset="-127"/>
              </a:rPr>
              <a:t>트립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 해제 시킴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트립표시램프</a:t>
            </a:r>
            <a:r>
              <a:rPr lang="ko-KR" altLang="en-US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dirty="0" err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점등시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>
              <a:lnSpc>
                <a:spcPct val="185000"/>
              </a:lnSpc>
              <a:spcBef>
                <a:spcPct val="50000"/>
              </a:spcBef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3.          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버튼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(CLOSE)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을 누른다</a:t>
            </a:r>
          </a:p>
          <a:p>
            <a:pPr>
              <a:lnSpc>
                <a:spcPct val="170000"/>
              </a:lnSpc>
              <a:spcBef>
                <a:spcPct val="50000"/>
              </a:spcBef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4. 3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번 버튼을 누르면 확인 메시지가 표시된다</a:t>
            </a:r>
          </a:p>
          <a:p>
            <a:pPr>
              <a:lnSpc>
                <a:spcPct val="280000"/>
              </a:lnSpc>
              <a:spcBef>
                <a:spcPct val="50000"/>
              </a:spcBef>
            </a:pP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30000"/>
              </a:lnSpc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5.          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버튼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(▶)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을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번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 누른다</a:t>
            </a:r>
          </a:p>
          <a:p>
            <a:pPr>
              <a:lnSpc>
                <a:spcPct val="230000"/>
              </a:lnSpc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6.          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버튼을 누른다</a:t>
            </a:r>
          </a:p>
          <a:p>
            <a:pPr>
              <a:lnSpc>
                <a:spcPct val="230000"/>
              </a:lnSpc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7.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다음과 같은 확인 메시지가 표시된다</a:t>
            </a:r>
          </a:p>
          <a:p>
            <a:pPr>
              <a:lnSpc>
                <a:spcPct val="310000"/>
              </a:lnSpc>
            </a:pPr>
            <a:endParaRPr lang="ko-KR" altLang="en-US" sz="1200" b="1" dirty="0">
              <a:latin typeface="맑은 고딕" pitchFamily="50" charset="-127"/>
              <a:ea typeface="맑은 고딕" pitchFamily="50" charset="-127"/>
            </a:endParaRPr>
          </a:p>
          <a:p>
            <a:pPr>
              <a:lnSpc>
                <a:spcPct val="230000"/>
              </a:lnSpc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8.          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버튼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(CLOSE)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을 누른다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메시지 표시 후 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 이내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>
              <a:lnSpc>
                <a:spcPct val="170000"/>
              </a:lnSpc>
              <a:spcBef>
                <a:spcPct val="50000"/>
              </a:spcBef>
            </a:pP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9. </a:t>
            </a:r>
            <a:r>
              <a:rPr lang="ko-KR" altLang="en-US" sz="1200" b="1" dirty="0">
                <a:latin typeface="맑은 고딕" pitchFamily="50" charset="-127"/>
                <a:ea typeface="맑은 고딕" pitchFamily="50" charset="-127"/>
              </a:rPr>
              <a:t>전원 투입완료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en-US" altLang="ko-KR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b="1" dirty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초 정도 소요됨</a:t>
            </a:r>
            <a:r>
              <a:rPr lang="en-US" altLang="ko-KR" sz="1200" b="1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>
              <a:lnSpc>
                <a:spcPct val="20000"/>
              </a:lnSpc>
              <a:spcBef>
                <a:spcPct val="50000"/>
              </a:spcBef>
            </a:pPr>
            <a:endParaRPr lang="en-US" altLang="ko-KR" sz="12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2" name="Text Box 23"/>
          <p:cNvSpPr txBox="1">
            <a:spLocks noChangeArrowheads="1"/>
          </p:cNvSpPr>
          <p:nvPr/>
        </p:nvSpPr>
        <p:spPr bwMode="auto">
          <a:xfrm>
            <a:off x="3002757" y="681850"/>
            <a:ext cx="1186656" cy="246221"/>
          </a:xfrm>
          <a:prstGeom prst="rect">
            <a:avLst/>
          </a:prstGeom>
          <a:noFill/>
          <a:ln w="19050">
            <a:solidFill>
              <a:srgbClr val="3366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ko-KR" altLang="en-US" sz="1000" b="1" dirty="0" err="1">
                <a:latin typeface="맑은 고딕" pitchFamily="50" charset="-127"/>
                <a:ea typeface="맑은 고딕" pitchFamily="50" charset="-127"/>
              </a:rPr>
              <a:t>트립</a:t>
            </a:r>
            <a:r>
              <a:rPr lang="ko-KR" altLang="en-US" sz="1000" b="1" dirty="0">
                <a:latin typeface="맑은 고딕" pitchFamily="50" charset="-127"/>
                <a:ea typeface="맑은 고딕" pitchFamily="50" charset="-127"/>
              </a:rPr>
              <a:t> 표시 램프</a:t>
            </a:r>
          </a:p>
        </p:txBody>
      </p:sp>
      <p:sp>
        <p:nvSpPr>
          <p:cNvPr id="2053" name="Text Box 29"/>
          <p:cNvSpPr txBox="1">
            <a:spLocks noChangeArrowheads="1"/>
          </p:cNvSpPr>
          <p:nvPr/>
        </p:nvSpPr>
        <p:spPr bwMode="auto">
          <a:xfrm>
            <a:off x="760148" y="681850"/>
            <a:ext cx="1073150" cy="246221"/>
          </a:xfrm>
          <a:prstGeom prst="rect">
            <a:avLst/>
          </a:prstGeom>
          <a:noFill/>
          <a:ln w="19050">
            <a:solidFill>
              <a:srgbClr val="3366FF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000" b="1">
                <a:latin typeface="맑은 고딕" pitchFamily="50" charset="-127"/>
                <a:ea typeface="맑은 고딕" pitchFamily="50" charset="-127"/>
              </a:rPr>
              <a:t>R/L </a:t>
            </a:r>
            <a:r>
              <a:rPr lang="ko-KR" altLang="en-US" sz="1000" b="1">
                <a:latin typeface="맑은 고딕" pitchFamily="50" charset="-127"/>
                <a:ea typeface="맑은 고딕" pitchFamily="50" charset="-127"/>
              </a:rPr>
              <a:t>표시 램프</a:t>
            </a:r>
          </a:p>
        </p:txBody>
      </p:sp>
      <p:sp>
        <p:nvSpPr>
          <p:cNvPr id="2054" name="Text Box 43"/>
          <p:cNvSpPr txBox="1">
            <a:spLocks noChangeArrowheads="1"/>
          </p:cNvSpPr>
          <p:nvPr/>
        </p:nvSpPr>
        <p:spPr bwMode="auto">
          <a:xfrm>
            <a:off x="5119821" y="6221414"/>
            <a:ext cx="4521332" cy="276225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 sz="1200" b="1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※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동작 후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15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분 안  재 동작 시 확인 메시지 표시안됨</a:t>
            </a:r>
          </a:p>
        </p:txBody>
      </p:sp>
      <p:pic>
        <p:nvPicPr>
          <p:cNvPr id="2055" name="Picture 45" descr="r l 버튼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22756" y="1049339"/>
            <a:ext cx="49874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46" descr="F5 버튼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22756" y="1462089"/>
            <a:ext cx="498740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47" descr="CLOSE 버튼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3075" y="1885950"/>
            <a:ext cx="49874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8" name="Picture 48" descr="방향 버튼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333075" y="3303589"/>
            <a:ext cx="49874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49" descr="엔터 버튼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333075" y="3725863"/>
            <a:ext cx="49874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50" descr="CLOSE 버튼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33075" y="5138739"/>
            <a:ext cx="49874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51" descr="200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94337" y="1052514"/>
            <a:ext cx="46228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2" name="Line 73"/>
          <p:cNvSpPr>
            <a:spLocks noChangeShapeType="1"/>
          </p:cNvSpPr>
          <p:nvPr/>
        </p:nvSpPr>
        <p:spPr bwMode="auto">
          <a:xfrm>
            <a:off x="1286405" y="908050"/>
            <a:ext cx="156502" cy="360045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3" name="Oval 74"/>
          <p:cNvSpPr>
            <a:spLocks noChangeArrowheads="1"/>
          </p:cNvSpPr>
          <p:nvPr/>
        </p:nvSpPr>
        <p:spPr bwMode="auto">
          <a:xfrm>
            <a:off x="1219333" y="4527551"/>
            <a:ext cx="390392" cy="288925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4" name="Line 75"/>
          <p:cNvSpPr>
            <a:spLocks noChangeShapeType="1"/>
          </p:cNvSpPr>
          <p:nvPr/>
        </p:nvSpPr>
        <p:spPr bwMode="auto">
          <a:xfrm flipH="1">
            <a:off x="3549650" y="908050"/>
            <a:ext cx="77391" cy="2808288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5" name="Oval 76"/>
          <p:cNvSpPr>
            <a:spLocks noChangeArrowheads="1"/>
          </p:cNvSpPr>
          <p:nvPr/>
        </p:nvSpPr>
        <p:spPr bwMode="auto">
          <a:xfrm>
            <a:off x="3314039" y="3706814"/>
            <a:ext cx="390392" cy="288925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066" name="Picture 80" descr="확인창 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322756" y="2617789"/>
            <a:ext cx="2672556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7" name="Picture 81" descr="확인창 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5333075" y="4468814"/>
            <a:ext cx="2651919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8" name="Rectangle 82"/>
          <p:cNvSpPr>
            <a:spLocks noChangeArrowheads="1"/>
          </p:cNvSpPr>
          <p:nvPr/>
        </p:nvSpPr>
        <p:spPr bwMode="auto">
          <a:xfrm>
            <a:off x="1209015" y="5157788"/>
            <a:ext cx="779065" cy="647700"/>
          </a:xfrm>
          <a:prstGeom prst="rect">
            <a:avLst/>
          </a:prstGeom>
          <a:noFill/>
          <a:ln w="25400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한쪽 모서리가 잘린 사각형 20"/>
          <p:cNvSpPr/>
          <p:nvPr/>
        </p:nvSpPr>
        <p:spPr bwMode="auto">
          <a:xfrm>
            <a:off x="-1" y="167951"/>
            <a:ext cx="3704431" cy="403529"/>
          </a:xfrm>
          <a:prstGeom prst="snip1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5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2000" b="1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rPr>
              <a:t>디지털 전력보호 감시장치</a:t>
            </a:r>
          </a:p>
        </p:txBody>
      </p:sp>
    </p:spTree>
    <p:extLst>
      <p:ext uri="{BB962C8B-B14F-4D97-AF65-F5344CB8AC3E}">
        <p14:creationId xmlns:p14="http://schemas.microsoft.com/office/powerpoint/2010/main" val="1483420999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1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5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ebuchet MS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16512</TotalTime>
  <Words>739</Words>
  <Application>Microsoft Office PowerPoint</Application>
  <PresentationFormat>A4 용지(210x297mm)</PresentationFormat>
  <Paragraphs>276</Paragraphs>
  <Slides>9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8" baseType="lpstr">
      <vt:lpstr>굴림</vt:lpstr>
      <vt:lpstr>Arial</vt:lpstr>
      <vt:lpstr>맑은 고딕</vt:lpstr>
      <vt:lpstr>굴림체</vt:lpstr>
      <vt:lpstr>HY울릉도L</vt:lpstr>
      <vt:lpstr>HY헤드라인M</vt:lpstr>
      <vt:lpstr>Trebuchet MS</vt:lpstr>
      <vt:lpstr>기본 디자인</vt:lpstr>
      <vt:lpstr>패키지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(주)라이거시스템즈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Compass LEAD 소개</dc:title>
  <dc:creator>박경희</dc:creator>
  <cp:lastModifiedBy>user</cp:lastModifiedBy>
  <cp:revision>756</cp:revision>
  <dcterms:created xsi:type="dcterms:W3CDTF">2002-10-02T09:54:12Z</dcterms:created>
  <dcterms:modified xsi:type="dcterms:W3CDTF">2015-09-17T08:47:26Z</dcterms:modified>
</cp:coreProperties>
</file>