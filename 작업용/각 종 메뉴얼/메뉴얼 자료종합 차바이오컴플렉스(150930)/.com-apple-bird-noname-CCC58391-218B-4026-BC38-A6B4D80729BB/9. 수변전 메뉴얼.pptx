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325" r:id="rId5"/>
    <p:sldId id="261" r:id="rId6"/>
    <p:sldId id="329" r:id="rId7"/>
    <p:sldId id="330" r:id="rId8"/>
  </p:sldIdLst>
  <p:sldSz cx="9144000" cy="6858000" type="screen4x3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503E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55" autoAdjust="0"/>
    <p:restoredTop sz="94660"/>
  </p:normalViewPr>
  <p:slideViewPr>
    <p:cSldViewPr>
      <p:cViewPr>
        <p:scale>
          <a:sx n="100" d="100"/>
          <a:sy n="100" d="100"/>
        </p:scale>
        <p:origin x="-438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06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936C99-BA2C-4190-98EC-53EFE017891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66777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0C89A9-D4E2-42D8-95CC-FF1A2E090373}" type="slidenum">
              <a:rPr lang="en-US" altLang="ko-KR" smtClean="0"/>
              <a:pPr/>
              <a:t>3</a:t>
            </a:fld>
            <a:endParaRPr lang="en-US" altLang="ko-KR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4538"/>
            <a:ext cx="4957762" cy="3719512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357" y="4713431"/>
            <a:ext cx="4984962" cy="4468710"/>
          </a:xfrm>
          <a:noFill/>
          <a:ln/>
        </p:spPr>
        <p:txBody>
          <a:bodyPr lIns="82999" tIns="41499" rIns="82999" bIns="41499"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10A23C-3FF8-4AD7-9201-20FA8E157001}" type="slidenum">
              <a:rPr lang="en-US" altLang="ko-KR" smtClean="0"/>
              <a:pPr/>
              <a:t>5</a:t>
            </a:fld>
            <a:endParaRPr lang="en-US" altLang="ko-KR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4538"/>
            <a:ext cx="4957762" cy="3719512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357" y="4713431"/>
            <a:ext cx="4984962" cy="4468710"/>
          </a:xfrm>
          <a:noFill/>
          <a:ln/>
        </p:spPr>
        <p:txBody>
          <a:bodyPr lIns="82999" tIns="41499" rIns="82999" bIns="41499"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15D1C1-83E1-4ED4-B354-38341A46385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E25B4-54CB-4650-8429-7577122BAA1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D08675-3041-4240-BA00-19879D65F79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07A65A-5CEB-4B06-A82B-CBA092158B1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56912E-81CE-4FE7-84CB-4DA8AE04D2B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9F1B2-76F5-4976-9AED-9B29A25F230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CA8FC-6523-45D7-B5D0-2704FD6897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BDDD92-DA3C-4456-88CC-E556BDCB329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100BE9-B6F8-4114-BDDE-EBC2CB72469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F0CA4-84FC-486F-B476-3AFD7AD4AD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E8343-0A73-4568-912C-0089179B11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365FDDA-03BD-4B79-BFC5-6FB2C79687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73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9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1.jpeg"/><Relationship Id="rId7" Type="http://schemas.openxmlformats.org/officeDocument/2006/relationships/image" Target="../media/image1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9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-9525" y="0"/>
            <a:ext cx="2709317" cy="68580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50000"/>
              </a:spcBef>
            </a:pPr>
            <a:endParaRPr lang="ko-KR" altLang="en-US" sz="1800">
              <a:solidFill>
                <a:srgbClr val="000000"/>
              </a:solidFill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-9525" y="692696"/>
            <a:ext cx="9153525" cy="1440904"/>
          </a:xfrm>
          <a:prstGeom prst="rect">
            <a:avLst/>
          </a:prstGeom>
          <a:solidFill>
            <a:srgbClr val="0099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50000"/>
              </a:spcBef>
            </a:pPr>
            <a:endParaRPr lang="ko-KR" altLang="en-US" sz="1800">
              <a:solidFill>
                <a:srgbClr val="000000"/>
              </a:solidFill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836240" y="1124744"/>
            <a:ext cx="7696200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2" rIns="91424" bIns="45712"/>
          <a:lstStyle/>
          <a:p>
            <a:pPr algn="ctr" latinLnBrk="0">
              <a:spcBef>
                <a:spcPct val="0"/>
              </a:spcBef>
            </a:pPr>
            <a:r>
              <a:rPr kumimoji="0" lang="ko-KR" altLang="en-US" sz="3200" b="1" dirty="0" err="1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수변전설비</a:t>
            </a:r>
            <a:r>
              <a:rPr kumimoji="0" lang="ko-KR" altLang="en-US" sz="3200" b="1" dirty="0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kumimoji="0" lang="ko-KR" altLang="en-US" sz="3200" b="1" dirty="0" err="1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운영메뉴얼</a:t>
            </a:r>
            <a:endParaRPr kumimoji="0" lang="en-US" altLang="ko-KR" sz="3200" b="1" dirty="0" smtClean="0">
              <a:solidFill>
                <a:srgbClr val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2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690" y="2489795"/>
            <a:ext cx="511175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4849813" y="2330063"/>
            <a:ext cx="3967162" cy="276999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24" name="Rectangle 9"/>
          <p:cNvSpPr>
            <a:spLocks noChangeArrowheads="1"/>
          </p:cNvSpPr>
          <p:nvPr/>
        </p:nvSpPr>
        <p:spPr bwMode="auto">
          <a:xfrm>
            <a:off x="249238" y="2396738"/>
            <a:ext cx="3968750" cy="276999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25" name="Text Box 10"/>
          <p:cNvSpPr txBox="1">
            <a:spLocks noChangeArrowheads="1"/>
          </p:cNvSpPr>
          <p:nvPr/>
        </p:nvSpPr>
        <p:spPr bwMode="auto">
          <a:xfrm>
            <a:off x="184150" y="1258888"/>
            <a:ext cx="194945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600075">
              <a:spcBef>
                <a:spcPct val="5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■ 22.9 kV </a:t>
            </a: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인입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구성도</a:t>
            </a:r>
            <a:endParaRPr lang="ko-KR" altLang="en-US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26" name="Line 12"/>
          <p:cNvSpPr>
            <a:spLocks noChangeShapeType="1"/>
          </p:cNvSpPr>
          <p:nvPr/>
        </p:nvSpPr>
        <p:spPr bwMode="auto">
          <a:xfrm>
            <a:off x="1397000" y="2533650"/>
            <a:ext cx="1119188" cy="3175"/>
          </a:xfrm>
          <a:prstGeom prst="line">
            <a:avLst/>
          </a:prstGeom>
          <a:noFill/>
          <a:ln w="63500">
            <a:solidFill>
              <a:schemeClr val="tx1"/>
            </a:solidFill>
            <a:prstDash val="sysDot"/>
            <a:round/>
            <a:headEnd/>
            <a:tailEnd type="triangle" w="sm" len="med"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27" name="Text Box 13"/>
          <p:cNvSpPr txBox="1">
            <a:spLocks noChangeArrowheads="1"/>
          </p:cNvSpPr>
          <p:nvPr/>
        </p:nvSpPr>
        <p:spPr bwMode="auto">
          <a:xfrm>
            <a:off x="1349375" y="2759968"/>
            <a:ext cx="109696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600075">
              <a:spcBef>
                <a:spcPct val="50000"/>
              </a:spcBef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고객소유선로</a:t>
            </a:r>
          </a:p>
          <a:p>
            <a:pPr algn="ctr" defTabSz="600075">
              <a:spcBef>
                <a:spcPct val="5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회선 공급</a:t>
            </a:r>
          </a:p>
        </p:txBody>
      </p:sp>
      <p:sp>
        <p:nvSpPr>
          <p:cNvPr id="5128" name="Text Box 14"/>
          <p:cNvSpPr txBox="1">
            <a:spLocks noChangeArrowheads="1"/>
          </p:cNvSpPr>
          <p:nvPr/>
        </p:nvSpPr>
        <p:spPr bwMode="auto">
          <a:xfrm>
            <a:off x="349250" y="2886075"/>
            <a:ext cx="950913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600075">
              <a:lnSpc>
                <a:spcPct val="95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KEPCO</a:t>
            </a:r>
          </a:p>
          <a:p>
            <a:pPr algn="ctr" defTabSz="600075">
              <a:lnSpc>
                <a:spcPct val="95000"/>
              </a:lnSpc>
            </a:pP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동판교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S/S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129" name="Picture 16" descr="한전로고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0875" y="2389188"/>
            <a:ext cx="35401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30" name="Line 17"/>
          <p:cNvSpPr>
            <a:spLocks noChangeShapeType="1"/>
          </p:cNvSpPr>
          <p:nvPr/>
        </p:nvSpPr>
        <p:spPr bwMode="auto">
          <a:xfrm>
            <a:off x="6516216" y="2708920"/>
            <a:ext cx="682625" cy="0"/>
          </a:xfrm>
          <a:prstGeom prst="line">
            <a:avLst/>
          </a:prstGeom>
          <a:noFill/>
          <a:ln w="63500">
            <a:solidFill>
              <a:schemeClr val="tx1"/>
            </a:solidFill>
            <a:prstDash val="sysDot"/>
            <a:round/>
            <a:headEnd/>
            <a:tailEnd type="triangle" w="sm" len="sm"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16" name="Rectangle 20"/>
          <p:cNvSpPr>
            <a:spLocks noChangeArrowheads="1"/>
          </p:cNvSpPr>
          <p:nvPr/>
        </p:nvSpPr>
        <p:spPr bwMode="auto">
          <a:xfrm>
            <a:off x="5019675" y="2166938"/>
            <a:ext cx="1277938" cy="874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379" tIns="34190" rIns="68379" bIns="34190" anchor="ctr"/>
          <a:lstStyle/>
          <a:p>
            <a:pPr algn="ctr" defTabSz="600075" eaLnBrk="0" latinLnBrk="0" hangingPunct="0">
              <a:spcBef>
                <a:spcPct val="50000"/>
              </a:spcBef>
              <a:defRPr/>
            </a:pPr>
            <a:r>
              <a:rPr kumimoji="0" lang="ko-KR" altLang="en-US" sz="100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한전패드개폐기</a:t>
            </a:r>
          </a:p>
          <a:p>
            <a:pPr algn="ctr" defTabSz="600075" eaLnBrk="0" latinLnBrk="0" hangingPunct="0">
              <a:spcBef>
                <a:spcPct val="50000"/>
              </a:spcBef>
              <a:defRPr/>
            </a:pPr>
            <a:r>
              <a:rPr kumimoji="0" lang="en-US" altLang="ko-KR" sz="100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00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지상</a:t>
            </a:r>
            <a:r>
              <a:rPr kumimoji="0" lang="en-US" altLang="ko-KR" sz="100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0" lang="ko-KR" altLang="en-US" sz="100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층</a:t>
            </a:r>
            <a:r>
              <a:rPr kumimoji="0" lang="en-US" altLang="ko-KR" sz="100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5132" name="Text Box 22"/>
          <p:cNvSpPr txBox="1">
            <a:spLocks noChangeArrowheads="1"/>
          </p:cNvSpPr>
          <p:nvPr/>
        </p:nvSpPr>
        <p:spPr bwMode="auto">
          <a:xfrm>
            <a:off x="4683125" y="1258888"/>
            <a:ext cx="1851025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600075">
              <a:spcBef>
                <a:spcPct val="5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■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수변전설비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구성도</a:t>
            </a:r>
          </a:p>
        </p:txBody>
      </p:sp>
      <p:graphicFrame>
        <p:nvGraphicFramePr>
          <p:cNvPr id="4120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114840"/>
              </p:ext>
            </p:extLst>
          </p:nvPr>
        </p:nvGraphicFramePr>
        <p:xfrm>
          <a:off x="650875" y="3933824"/>
          <a:ext cx="7737550" cy="2447503"/>
        </p:xfrm>
        <a:graphic>
          <a:graphicData uri="http://schemas.openxmlformats.org/drawingml/2006/table">
            <a:tbl>
              <a:tblPr/>
              <a:tblGrid>
                <a:gridCol w="1311765"/>
                <a:gridCol w="1613599"/>
                <a:gridCol w="4812186"/>
              </a:tblGrid>
              <a:tr h="339931">
                <a:tc rowSpan="2">
                  <a:txBody>
                    <a:bodyPr/>
                    <a:lstStyle/>
                    <a:p>
                      <a:pPr marL="0" marR="0" lvl="0" indent="0" algn="ctr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시설용량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38175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일반전력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9,000 KVA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38175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9,000 KVA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931">
                <a:tc rowSpan="2">
                  <a:txBody>
                    <a:bodyPr/>
                    <a:lstStyle/>
                    <a:p>
                      <a:pPr marL="0" marR="0" lvl="0" indent="0" algn="ctr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BANK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구성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일반전력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 반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9 [BANK]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실험실용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110V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변압기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기포함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TOTAL: 9 BANK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931">
                <a:tc>
                  <a:txBody>
                    <a:bodyPr/>
                    <a:lstStyle/>
                    <a:p>
                      <a:pPr marL="0" marR="0" lvl="0" indent="0" algn="ctr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수배전반 구성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일반전력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특고압반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변압기반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저압반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7848">
                <a:tc>
                  <a:txBody>
                    <a:bodyPr/>
                    <a:lstStyle/>
                    <a:p>
                      <a:pPr marL="0" marR="0" lvl="0" indent="0" algn="ctr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비상전원 구성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발전설비</a:t>
                      </a:r>
                    </a:p>
                    <a:p>
                      <a:pPr marL="0" marR="0" lvl="0" indent="0" algn="ctr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무정전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전원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1,000KW X 2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공냉식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6381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UPS 200KVA X 2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병렬운전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61" name="Text Box 46"/>
          <p:cNvSpPr txBox="1">
            <a:spLocks noChangeArrowheads="1"/>
          </p:cNvSpPr>
          <p:nvPr/>
        </p:nvSpPr>
        <p:spPr bwMode="auto">
          <a:xfrm>
            <a:off x="127000" y="3645024"/>
            <a:ext cx="1849438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600075">
              <a:spcBef>
                <a:spcPct val="5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■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수변전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설비 규모</a:t>
            </a:r>
          </a:p>
        </p:txBody>
      </p:sp>
      <p:sp>
        <p:nvSpPr>
          <p:cNvPr id="4144" name="Rectangle 48"/>
          <p:cNvSpPr>
            <a:spLocks noChangeArrowheads="1"/>
          </p:cNvSpPr>
          <p:nvPr/>
        </p:nvSpPr>
        <p:spPr bwMode="auto">
          <a:xfrm>
            <a:off x="7413625" y="2162175"/>
            <a:ext cx="1277938" cy="874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379" tIns="34190" rIns="68379" bIns="34190" anchor="ctr"/>
          <a:lstStyle/>
          <a:p>
            <a:pPr algn="ctr" defTabSz="600075" eaLnBrk="0" latinLnBrk="0" hangingPunct="0">
              <a:spcBef>
                <a:spcPct val="50000"/>
              </a:spcBef>
              <a:defRPr/>
            </a:pPr>
            <a:r>
              <a:rPr kumimoji="0" lang="ko-KR" altLang="en-US" sz="100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 전기실</a:t>
            </a:r>
          </a:p>
          <a:p>
            <a:pPr algn="ctr" defTabSz="600075" eaLnBrk="0" latinLnBrk="0" hangingPunct="0">
              <a:spcBef>
                <a:spcPct val="50000"/>
              </a:spcBef>
              <a:defRPr/>
            </a:pPr>
            <a:r>
              <a:rPr kumimoji="0" lang="en-US" altLang="ko-KR" sz="100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00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지하</a:t>
            </a:r>
            <a:r>
              <a:rPr kumimoji="0" lang="en-US" altLang="ko-KR" sz="100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4</a:t>
            </a:r>
            <a:r>
              <a:rPr kumimoji="0" lang="ko-KR" altLang="en-US" sz="100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층</a:t>
            </a:r>
            <a:r>
              <a:rPr kumimoji="0" lang="en-US" altLang="ko-KR" sz="1000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5163" name="Line 51"/>
          <p:cNvSpPr>
            <a:spLocks noChangeShapeType="1"/>
          </p:cNvSpPr>
          <p:nvPr/>
        </p:nvSpPr>
        <p:spPr bwMode="auto">
          <a:xfrm>
            <a:off x="6842125" y="1595438"/>
            <a:ext cx="0" cy="1952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164" name="그림 56" descr="제목 없음.JPG"/>
          <p:cNvPicPr>
            <a:picLocks noChangeAspect="1"/>
          </p:cNvPicPr>
          <p:nvPr/>
        </p:nvPicPr>
        <p:blipFill>
          <a:blip r:embed="rId3" cstate="print">
            <a:lum bright="20000"/>
          </a:blip>
          <a:srcRect/>
          <a:stretch>
            <a:fillRect/>
          </a:stretch>
        </p:blipFill>
        <p:spPr bwMode="auto">
          <a:xfrm>
            <a:off x="2571750" y="2000250"/>
            <a:ext cx="150018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한쪽 모서리가 잘린 사각형 23"/>
          <p:cNvSpPr/>
          <p:nvPr/>
        </p:nvSpPr>
        <p:spPr bwMode="auto">
          <a:xfrm>
            <a:off x="0" y="285728"/>
            <a:ext cx="1952604" cy="285752"/>
          </a:xfrm>
          <a:prstGeom prst="snip1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수변전설비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개요</a:t>
            </a:r>
            <a:endParaRPr kumimoji="1" lang="ko-KR" altLang="en-US" sz="1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142844" y="1142984"/>
            <a:ext cx="1511300" cy="352425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600075" eaLnBrk="0" latinLnBrk="0" hangingPunct="0">
              <a:spcBef>
                <a:spcPct val="50000"/>
              </a:spcBef>
              <a:defRPr/>
            </a:pPr>
            <a:r>
              <a:rPr kumimoji="0" lang="ko-KR" altLang="en-US" sz="1000" dirty="0" err="1">
                <a:latin typeface="맑은 고딕" pitchFamily="50" charset="-127"/>
                <a:ea typeface="맑은 고딕" pitchFamily="50" charset="-127"/>
              </a:rPr>
              <a:t>인입</a:t>
            </a:r>
            <a:r>
              <a:rPr kumimoji="0" lang="ko-KR" altLang="en-US" sz="1000" dirty="0">
                <a:latin typeface="맑은 고딕" pitchFamily="50" charset="-127"/>
                <a:ea typeface="맑은 고딕" pitchFamily="50" charset="-127"/>
              </a:rPr>
              <a:t> 맨홀 위치도</a:t>
            </a:r>
          </a:p>
        </p:txBody>
      </p:sp>
      <p:sp>
        <p:nvSpPr>
          <p:cNvPr id="6148" name="Rectangle 10"/>
          <p:cNvSpPr>
            <a:spLocks noChangeArrowheads="1"/>
          </p:cNvSpPr>
          <p:nvPr/>
        </p:nvSpPr>
        <p:spPr bwMode="auto">
          <a:xfrm>
            <a:off x="250825" y="5373688"/>
            <a:ext cx="8750331" cy="1277937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600075" eaLnBrk="0" latinLnBrk="0" hangingPunct="0">
              <a:spcBef>
                <a:spcPct val="50000"/>
              </a:spcBef>
            </a:pPr>
            <a:r>
              <a:rPr kumimoji="0" lang="en-US" altLang="ko-KR" sz="1300">
                <a:latin typeface="맑은 고딕" pitchFamily="50" charset="-127"/>
                <a:ea typeface="맑은 고딕" pitchFamily="50" charset="-127"/>
              </a:rPr>
              <a:t>`</a:t>
            </a:r>
          </a:p>
        </p:txBody>
      </p:sp>
      <p:sp>
        <p:nvSpPr>
          <p:cNvPr id="6149" name="Text Box 11"/>
          <p:cNvSpPr txBox="1">
            <a:spLocks noChangeArrowheads="1"/>
          </p:cNvSpPr>
          <p:nvPr/>
        </p:nvSpPr>
        <p:spPr bwMode="auto">
          <a:xfrm>
            <a:off x="319088" y="5449888"/>
            <a:ext cx="2593975" cy="153888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300038" indent="-300038" defTabSz="600075" eaLnBrk="0" latinLnBrk="0" hangingPunct="0">
              <a:spcBef>
                <a:spcPct val="50000"/>
              </a:spcBef>
            </a:pPr>
            <a:r>
              <a:rPr kumimoji="0" lang="ko-KR" altLang="en-US" sz="1000" dirty="0" err="1">
                <a:latin typeface="맑은 고딕" pitchFamily="50" charset="-127"/>
                <a:ea typeface="맑은 고딕" pitchFamily="50" charset="-127"/>
              </a:rPr>
              <a:t>한전인입라인</a:t>
            </a:r>
            <a:endParaRPr kumimoji="0" lang="ko-KR" altLang="en-US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50" name="Text Box 12"/>
          <p:cNvSpPr txBox="1">
            <a:spLocks noChangeArrowheads="1"/>
          </p:cNvSpPr>
          <p:nvPr/>
        </p:nvSpPr>
        <p:spPr bwMode="auto">
          <a:xfrm>
            <a:off x="319088" y="5726113"/>
            <a:ext cx="2593975" cy="1524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300038" indent="-300038" defTabSz="600075" eaLnBrk="0" latinLnBrk="0" hangingPunct="0">
              <a:spcBef>
                <a:spcPct val="50000"/>
              </a:spcBef>
            </a:pP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0" lang="ko-KR" altLang="en-US" sz="1000" dirty="0">
                <a:latin typeface="맑은 고딕" pitchFamily="50" charset="-127"/>
                <a:ea typeface="맑은 고딕" pitchFamily="50" charset="-127"/>
              </a:rPr>
              <a:t>상 </a:t>
            </a: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22.9KV 60Hz </a:t>
            </a:r>
          </a:p>
        </p:txBody>
      </p:sp>
      <p:sp>
        <p:nvSpPr>
          <p:cNvPr id="6151" name="Text Box 13"/>
          <p:cNvSpPr txBox="1">
            <a:spLocks noChangeArrowheads="1"/>
          </p:cNvSpPr>
          <p:nvPr/>
        </p:nvSpPr>
        <p:spPr bwMode="auto">
          <a:xfrm>
            <a:off x="327025" y="5922963"/>
            <a:ext cx="3244843" cy="153888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marL="300038" indent="-300038" defTabSz="600075" eaLnBrk="0" latinLnBrk="0" hangingPunct="0">
              <a:spcBef>
                <a:spcPct val="50000"/>
              </a:spcBef>
            </a:pP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ELP 150C ( 22.9KV FR-CNCV-W 150SQ/1C-3 * 2 ) </a:t>
            </a:r>
          </a:p>
        </p:txBody>
      </p:sp>
      <p:sp>
        <p:nvSpPr>
          <p:cNvPr id="6152" name="Text Box 14"/>
          <p:cNvSpPr txBox="1">
            <a:spLocks noChangeArrowheads="1"/>
          </p:cNvSpPr>
          <p:nvPr/>
        </p:nvSpPr>
        <p:spPr bwMode="auto">
          <a:xfrm>
            <a:off x="327025" y="6289675"/>
            <a:ext cx="2593975" cy="1524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300038" indent="-300038" defTabSz="600075" eaLnBrk="0" latinLnBrk="0" hangingPunct="0">
              <a:spcBef>
                <a:spcPct val="50000"/>
              </a:spcBef>
            </a:pPr>
            <a:r>
              <a:rPr kumimoji="0" lang="en-US" altLang="ko-KR" sz="1000">
                <a:latin typeface="맑은 고딕" pitchFamily="50" charset="-127"/>
                <a:ea typeface="맑은 고딕" pitchFamily="50" charset="-127"/>
              </a:rPr>
              <a:t>1</a:t>
            </a: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회선 예비</a:t>
            </a:r>
          </a:p>
        </p:txBody>
      </p:sp>
      <p:sp>
        <p:nvSpPr>
          <p:cNvPr id="6153" name="Line 15"/>
          <p:cNvSpPr>
            <a:spLocks noChangeShapeType="1"/>
          </p:cNvSpPr>
          <p:nvPr/>
        </p:nvSpPr>
        <p:spPr bwMode="auto">
          <a:xfrm>
            <a:off x="4643438" y="5429264"/>
            <a:ext cx="0" cy="1152525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54" name="Text Box 16"/>
          <p:cNvSpPr txBox="1">
            <a:spLocks noChangeArrowheads="1"/>
          </p:cNvSpPr>
          <p:nvPr/>
        </p:nvSpPr>
        <p:spPr bwMode="auto">
          <a:xfrm>
            <a:off x="4932363" y="5848350"/>
            <a:ext cx="3527425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600075" eaLnBrk="0" latinLnBrk="0" hangingPunct="0">
              <a:spcBef>
                <a:spcPct val="50000"/>
              </a:spcBef>
            </a:pP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구조체와 일체로 맨홀 </a:t>
            </a:r>
          </a:p>
          <a:p>
            <a:pPr defTabSz="600075" eaLnBrk="0" latinLnBrk="0" hangingPunct="0">
              <a:spcBef>
                <a:spcPct val="50000"/>
              </a:spcBef>
            </a:pP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외부배관 인출부위 누수사항 점검 </a:t>
            </a:r>
          </a:p>
          <a:p>
            <a:pPr defTabSz="600075" eaLnBrk="0" latinLnBrk="0" hangingPunct="0">
              <a:spcBef>
                <a:spcPct val="50000"/>
              </a:spcBef>
            </a:pP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입선 후 내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외부 배관공간 지수발포제 시공</a:t>
            </a:r>
          </a:p>
        </p:txBody>
      </p:sp>
      <p:sp>
        <p:nvSpPr>
          <p:cNvPr id="6155" name="Text Box 17"/>
          <p:cNvSpPr txBox="1">
            <a:spLocks noChangeArrowheads="1"/>
          </p:cNvSpPr>
          <p:nvPr/>
        </p:nvSpPr>
        <p:spPr bwMode="auto">
          <a:xfrm>
            <a:off x="4932363" y="5445125"/>
            <a:ext cx="2592387" cy="153888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300038" indent="-300038" defTabSz="600075" eaLnBrk="0" latinLnBrk="0" hangingPunct="0">
              <a:spcBef>
                <a:spcPct val="50000"/>
              </a:spcBef>
            </a:pPr>
            <a:r>
              <a:rPr kumimoji="0" lang="en-US" altLang="ko-KR" sz="1000">
                <a:latin typeface="맑은 고딕" pitchFamily="50" charset="-127"/>
                <a:ea typeface="맑은 고딕" pitchFamily="50" charset="-127"/>
              </a:rPr>
              <a:t>MANHOLE </a:t>
            </a: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및 한전</a:t>
            </a:r>
            <a:r>
              <a:rPr kumimoji="0" lang="en-US" altLang="ko-KR" sz="1000">
                <a:latin typeface="맑은 고딕" pitchFamily="50" charset="-127"/>
                <a:ea typeface="맑은 고딕" pitchFamily="50" charset="-127"/>
              </a:rPr>
              <a:t>PAD</a:t>
            </a:r>
          </a:p>
        </p:txBody>
      </p:sp>
      <p:sp>
        <p:nvSpPr>
          <p:cNvPr id="5139" name="Text Box 19"/>
          <p:cNvSpPr txBox="1">
            <a:spLocks noChangeArrowheads="1"/>
          </p:cNvSpPr>
          <p:nvPr/>
        </p:nvSpPr>
        <p:spPr bwMode="auto">
          <a:xfrm>
            <a:off x="7000875" y="1214438"/>
            <a:ext cx="1512888" cy="3540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600075" eaLnBrk="0" latinLnBrk="0" hangingPunct="0">
              <a:spcBef>
                <a:spcPct val="50000"/>
              </a:spcBef>
              <a:defRPr/>
            </a:pPr>
            <a:r>
              <a:rPr kumimoji="0" lang="ko-KR" altLang="en-US" sz="1000" dirty="0">
                <a:latin typeface="맑은 고딕" pitchFamily="50" charset="-127"/>
                <a:ea typeface="맑은 고딕" pitchFamily="50" charset="-127"/>
              </a:rPr>
              <a:t>한전</a:t>
            </a:r>
            <a:r>
              <a:rPr kumimoji="0" lang="ko-KR" altLang="en-US" sz="10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 smtClean="0">
                <a:latin typeface="맑은 고딕" pitchFamily="50" charset="-127"/>
                <a:ea typeface="맑은 고딕" pitchFamily="50" charset="-127"/>
              </a:rPr>
              <a:t>PAD S/W</a:t>
            </a:r>
            <a:endParaRPr kumimoji="0" lang="ko-KR" altLang="en-US" sz="10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" name="직선 연결선 29"/>
          <p:cNvCxnSpPr>
            <a:stCxn id="6165" idx="1"/>
          </p:cNvCxnSpPr>
          <p:nvPr/>
        </p:nvCxnSpPr>
        <p:spPr>
          <a:xfrm rot="10800000" flipH="1" flipV="1">
            <a:off x="3497263" y="3067050"/>
            <a:ext cx="503237" cy="47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rot="5400000">
            <a:off x="3963988" y="3106738"/>
            <a:ext cx="71437" cy="15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60" name="Picture 30"/>
          <p:cNvPicPr>
            <a:picLocks noChangeAspect="1" noChangeArrowheads="1"/>
          </p:cNvPicPr>
          <p:nvPr/>
        </p:nvPicPr>
        <p:blipFill>
          <a:blip r:embed="rId3" cstate="print">
            <a:lum bright="20000"/>
          </a:blip>
          <a:srcRect/>
          <a:stretch>
            <a:fillRect/>
          </a:stretch>
        </p:blipFill>
        <p:spPr bwMode="auto">
          <a:xfrm>
            <a:off x="4714875" y="1643050"/>
            <a:ext cx="4286250" cy="34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61" name="Picture 18" descr="P1010023"/>
          <p:cNvPicPr>
            <a:picLocks noChangeAspect="1" noChangeArrowheads="1"/>
          </p:cNvPicPr>
          <p:nvPr/>
        </p:nvPicPr>
        <p:blipFill>
          <a:blip r:embed="rId4" cstate="print">
            <a:lum bright="20000"/>
          </a:blip>
          <a:srcRect/>
          <a:stretch>
            <a:fillRect/>
          </a:stretch>
        </p:blipFill>
        <p:spPr bwMode="auto">
          <a:xfrm>
            <a:off x="7358063" y="1928813"/>
            <a:ext cx="500062" cy="3365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36" name="아래쪽 화살표 35"/>
          <p:cNvSpPr/>
          <p:nvPr/>
        </p:nvSpPr>
        <p:spPr>
          <a:xfrm>
            <a:off x="7643813" y="1571625"/>
            <a:ext cx="71437" cy="28575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163" name="그룹 49"/>
          <p:cNvGrpSpPr>
            <a:grpSpLocks/>
          </p:cNvGrpSpPr>
          <p:nvPr/>
        </p:nvGrpSpPr>
        <p:grpSpPr bwMode="auto">
          <a:xfrm>
            <a:off x="214313" y="1643063"/>
            <a:ext cx="4357687" cy="3357562"/>
            <a:chOff x="214313" y="1643063"/>
            <a:chExt cx="5214937" cy="3357562"/>
          </a:xfrm>
        </p:grpSpPr>
        <p:pic>
          <p:nvPicPr>
            <p:cNvPr id="6164" name="그림 26" descr="한전패드.JPG"/>
            <p:cNvPicPr>
              <a:picLocks noChangeAspect="1"/>
            </p:cNvPicPr>
            <p:nvPr/>
          </p:nvPicPr>
          <p:blipFill>
            <a:blip r:embed="rId5" cstate="print">
              <a:lum bright="10000"/>
            </a:blip>
            <a:srcRect/>
            <a:stretch>
              <a:fillRect/>
            </a:stretch>
          </p:blipFill>
          <p:spPr bwMode="auto">
            <a:xfrm>
              <a:off x="214313" y="1643063"/>
              <a:ext cx="5214937" cy="33575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65" name="Rectangle 35"/>
            <p:cNvSpPr>
              <a:spLocks noChangeArrowheads="1"/>
            </p:cNvSpPr>
            <p:nvPr/>
          </p:nvSpPr>
          <p:spPr bwMode="auto">
            <a:xfrm>
              <a:off x="4143375" y="2928938"/>
              <a:ext cx="214313" cy="276225"/>
            </a:xfrm>
            <a:prstGeom prst="rect">
              <a:avLst/>
            </a:prstGeom>
            <a:solidFill>
              <a:srgbClr val="CCFFCC">
                <a:alpha val="79999"/>
              </a:srgbClr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9" name="Text Box 36"/>
            <p:cNvSpPr txBox="1">
              <a:spLocks noChangeArrowheads="1"/>
            </p:cNvSpPr>
            <p:nvPr/>
          </p:nvSpPr>
          <p:spPr bwMode="auto">
            <a:xfrm>
              <a:off x="4232371" y="2571750"/>
              <a:ext cx="940405" cy="304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 defTabSz="600075" eaLnBrk="0" latinLnBrk="0" hangingPunct="0">
                <a:spcBef>
                  <a:spcPct val="50000"/>
                </a:spcBef>
                <a:defRPr/>
              </a:pPr>
              <a:r>
                <a:rPr kumimoji="0" lang="ko-KR" altLang="en-US" sz="1000" dirty="0">
                  <a:latin typeface="맑은 고딕" pitchFamily="50" charset="-127"/>
                  <a:ea typeface="맑은 고딕" pitchFamily="50" charset="-127"/>
                </a:rPr>
                <a:t>한전</a:t>
              </a:r>
              <a:r>
                <a:rPr kumimoji="0" lang="en-US" altLang="ko-KR" sz="1000" dirty="0">
                  <a:latin typeface="맑은 고딕" pitchFamily="50" charset="-127"/>
                  <a:ea typeface="맑은 고딕" pitchFamily="50" charset="-127"/>
                </a:rPr>
                <a:t>PAD </a:t>
              </a:r>
            </a:p>
          </p:txBody>
        </p:sp>
        <p:cxnSp>
          <p:nvCxnSpPr>
            <p:cNvPr id="31" name="직선 연결선 30"/>
            <p:cNvCxnSpPr/>
            <p:nvPr/>
          </p:nvCxnSpPr>
          <p:spPr>
            <a:xfrm flipV="1">
              <a:off x="286505" y="2143125"/>
              <a:ext cx="4071260" cy="14287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>
              <a:endCxn id="6165" idx="0"/>
            </p:cNvCxnSpPr>
            <p:nvPr/>
          </p:nvCxnSpPr>
          <p:spPr>
            <a:xfrm rot="5400000">
              <a:off x="3910715" y="2481888"/>
              <a:ext cx="785813" cy="10828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69" name="Line 21"/>
            <p:cNvSpPr>
              <a:spLocks noChangeShapeType="1"/>
            </p:cNvSpPr>
            <p:nvPr/>
          </p:nvSpPr>
          <p:spPr bwMode="auto">
            <a:xfrm flipH="1">
              <a:off x="4357688" y="2857500"/>
              <a:ext cx="285750" cy="21431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lIns="0" tIns="0" rIns="0" bIns="0" anchorCtr="1">
              <a:spAutoFit/>
            </a:bodyPr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170" name="Text Box 22"/>
            <p:cNvSpPr txBox="1">
              <a:spLocks noChangeArrowheads="1"/>
            </p:cNvSpPr>
            <p:nvPr/>
          </p:nvSpPr>
          <p:spPr bwMode="auto">
            <a:xfrm>
              <a:off x="1357312" y="2000250"/>
              <a:ext cx="1250721" cy="153888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wrap="square" lIns="0" tIns="0" rIns="0" bIns="0" anchorCtr="1">
              <a:spAutoFit/>
            </a:bodyPr>
            <a:lstStyle/>
            <a:p>
              <a:pPr algn="ctr" defTabSz="600075" eaLnBrk="0" latinLnBrk="0" hangingPunct="0">
                <a:spcBef>
                  <a:spcPct val="50000"/>
                </a:spcBef>
              </a:pPr>
              <a:r>
                <a:rPr kumimoji="0" lang="ko-KR" altLang="en-US" sz="1000" dirty="0" err="1">
                  <a:latin typeface="맑은 고딕" pitchFamily="50" charset="-127"/>
                  <a:ea typeface="맑은 고딕" pitchFamily="50" charset="-127"/>
                </a:rPr>
                <a:t>한전인입라인</a:t>
              </a:r>
              <a:endParaRPr kumimoji="0" lang="ko-KR" altLang="en-US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9" name="직선 연결선 38"/>
            <p:cNvCxnSpPr/>
            <p:nvPr/>
          </p:nvCxnSpPr>
          <p:spPr>
            <a:xfrm>
              <a:off x="713959" y="3681413"/>
              <a:ext cx="3286646" cy="158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/>
            <p:nvPr/>
          </p:nvCxnSpPr>
          <p:spPr>
            <a:xfrm rot="5400000">
              <a:off x="3750573" y="3464719"/>
              <a:ext cx="500062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/>
            <p:nvPr/>
          </p:nvCxnSpPr>
          <p:spPr>
            <a:xfrm rot="5400000">
              <a:off x="642547" y="3767164"/>
              <a:ext cx="123825" cy="1899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/>
            <p:cNvCxnSpPr/>
            <p:nvPr/>
          </p:nvCxnSpPr>
          <p:spPr>
            <a:xfrm rot="5400000">
              <a:off x="3960123" y="3112294"/>
              <a:ext cx="80962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/>
            <p:nvPr/>
          </p:nvCxnSpPr>
          <p:spPr>
            <a:xfrm>
              <a:off x="4000604" y="3071813"/>
              <a:ext cx="142485" cy="158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직사각형 40"/>
          <p:cNvSpPr/>
          <p:nvPr/>
        </p:nvSpPr>
        <p:spPr>
          <a:xfrm>
            <a:off x="142844" y="1571612"/>
            <a:ext cx="4457731" cy="3500462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662488" y="1571612"/>
            <a:ext cx="4357718" cy="3500462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한쪽 모서리가 잘린 사각형 37"/>
          <p:cNvSpPr/>
          <p:nvPr/>
        </p:nvSpPr>
        <p:spPr bwMode="auto">
          <a:xfrm>
            <a:off x="0" y="285728"/>
            <a:ext cx="1952604" cy="285752"/>
          </a:xfrm>
          <a:prstGeom prst="snip1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한전선로 </a:t>
            </a: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인입계통</a:t>
            </a:r>
            <a:endParaRPr kumimoji="1" lang="ko-KR" altLang="en-US" sz="1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그림 13" descr="수변전결선도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928688"/>
            <a:ext cx="9144000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97" name="Text Box 46"/>
          <p:cNvSpPr txBox="1">
            <a:spLocks noChangeArrowheads="1"/>
          </p:cNvSpPr>
          <p:nvPr/>
        </p:nvSpPr>
        <p:spPr bwMode="auto">
          <a:xfrm>
            <a:off x="1750517" y="908720"/>
            <a:ext cx="1928812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600075">
              <a:spcBef>
                <a:spcPct val="5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■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수변전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설비 규모</a:t>
            </a:r>
          </a:p>
        </p:txBody>
      </p:sp>
      <p:sp>
        <p:nvSpPr>
          <p:cNvPr id="11" name="한쪽 모서리가 잘린 사각형 10"/>
          <p:cNvSpPr/>
          <p:nvPr/>
        </p:nvSpPr>
        <p:spPr bwMode="auto">
          <a:xfrm>
            <a:off x="0" y="285728"/>
            <a:ext cx="1952604" cy="285752"/>
          </a:xfrm>
          <a:prstGeom prst="snip1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수변전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계통도</a:t>
            </a:r>
            <a:endParaRPr kumimoji="1" lang="ko-KR" altLang="en-US" sz="1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338431"/>
              </p:ext>
            </p:extLst>
          </p:nvPr>
        </p:nvGraphicFramePr>
        <p:xfrm>
          <a:off x="2123728" y="1285861"/>
          <a:ext cx="6215105" cy="1984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05"/>
                <a:gridCol w="801171"/>
                <a:gridCol w="4539929"/>
              </a:tblGrid>
              <a:tr h="39941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시설용량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일반용량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9,000KVA,</a:t>
                      </a:r>
                      <a:r>
                        <a:rPr lang="en-US" altLang="ko-KR" sz="1000" b="0" baseline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="0" baseline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비상발전기 </a:t>
                      </a:r>
                      <a:r>
                        <a:rPr lang="en-US" altLang="ko-KR" sz="1000" b="0" baseline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1,000KW * 2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402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계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9,000KVA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941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BANK</a:t>
                      </a:r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구성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일반전력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일반</a:t>
                      </a:r>
                      <a:r>
                        <a:rPr lang="en-US" altLang="ko-KR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9[BANK] (</a:t>
                      </a:r>
                      <a:r>
                        <a:rPr lang="en-US" altLang="ko-KR" sz="1000" b="0" baseline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BACK-UP TR , </a:t>
                      </a:r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실험실용 </a:t>
                      </a:r>
                      <a:r>
                        <a:rPr lang="en-US" altLang="ko-KR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110V </a:t>
                      </a:r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변압기 </a:t>
                      </a:r>
                      <a:r>
                        <a:rPr lang="en-US" altLang="ko-KR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기포함</a:t>
                      </a:r>
                      <a:r>
                        <a:rPr lang="en-US" altLang="ko-KR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9415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계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 [BANK]</a:t>
                      </a:r>
                      <a:r>
                        <a:rPr lang="en-US" altLang="ko-KR" sz="1000" b="0" baseline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( BACK-UP TR , </a:t>
                      </a:r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실험실용 </a:t>
                      </a:r>
                      <a:r>
                        <a:rPr lang="en-US" altLang="ko-KR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110V </a:t>
                      </a:r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변압기 </a:t>
                      </a:r>
                      <a:r>
                        <a:rPr lang="ko-KR" altLang="en-US" sz="1000" b="0" baseline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포함 </a:t>
                      </a:r>
                      <a:r>
                        <a:rPr lang="en-US" altLang="ko-KR" sz="1000" b="0" baseline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94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수배전구성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일반전력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특고압반</a:t>
                      </a:r>
                      <a:r>
                        <a:rPr lang="en-US" altLang="ko-KR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12</a:t>
                      </a:r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면</a:t>
                      </a:r>
                      <a:r>
                        <a:rPr lang="en-US" altLang="ko-KR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</a:t>
                      </a:r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변압기반 </a:t>
                      </a:r>
                      <a:r>
                        <a:rPr lang="en-US" altLang="ko-KR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9</a:t>
                      </a:r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면</a:t>
                      </a:r>
                      <a:r>
                        <a:rPr lang="en-US" altLang="ko-KR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lang="ko-KR" altLang="en-US" sz="1000" b="0" dirty="0" err="1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저압반</a:t>
                      </a:r>
                      <a:r>
                        <a:rPr lang="en-US" altLang="ko-KR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24</a:t>
                      </a:r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면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5" name="그림 42" descr="전기실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50" y="790574"/>
            <a:ext cx="8572500" cy="5567363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</p:pic>
      <p:sp>
        <p:nvSpPr>
          <p:cNvPr id="44" name="직사각형 43"/>
          <p:cNvSpPr/>
          <p:nvPr/>
        </p:nvSpPr>
        <p:spPr>
          <a:xfrm>
            <a:off x="1071563" y="1214438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LBS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071563" y="1428750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071563" y="1643063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MOF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071563" y="1857375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071563" y="2071688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1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071563" y="2286000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2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071563" y="2500313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3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071563" y="2714625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4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071563" y="2928938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5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1071563" y="3143250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6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071563" y="3357563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7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071563" y="3571875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8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214688" y="1214438"/>
            <a:ext cx="571500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TR1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3214688" y="1500188"/>
            <a:ext cx="571500" cy="2857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TR2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3214688" y="1785938"/>
            <a:ext cx="571500" cy="2857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TR3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214688" y="2071688"/>
            <a:ext cx="571500" cy="2857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TR4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214688" y="2357438"/>
            <a:ext cx="571500" cy="2857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TR5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214688" y="2643188"/>
            <a:ext cx="571500" cy="2857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TR6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3214688" y="2928938"/>
            <a:ext cx="571500" cy="2857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TR7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3214688" y="3214688"/>
            <a:ext cx="571500" cy="2857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TR8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6500813" y="3429000"/>
            <a:ext cx="571500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TR9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4500563" y="863600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6500813" y="3786188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LV-20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6500813" y="4000500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LV-21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6500813" y="4214813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LV-21-1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500563" y="1077913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LV-2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500563" y="1292225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LV-3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500563" y="1506538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LV-4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4500563" y="1720850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LV-5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500563" y="1935163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LV-6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4500563" y="2149475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LV-6-1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4500563" y="2363788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LV-7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4500563" y="2578100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LV-8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4500563" y="2792413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LV-9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4500563" y="3006725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LV-10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4500563" y="3221038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LV-11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4500563" y="3435350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LV-12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4500563" y="3649663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LV-13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4500563" y="3863975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LV-15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4500563" y="4078288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LV-17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4500563" y="4292600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LV-18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4500563" y="4513263"/>
            <a:ext cx="571500" cy="201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LV-19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6500813" y="4429125"/>
            <a:ext cx="571500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LV-23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4500563" y="4714875"/>
            <a:ext cx="571500" cy="201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LV-22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7" name="직선 연결선 66"/>
          <p:cNvCxnSpPr/>
          <p:nvPr/>
        </p:nvCxnSpPr>
        <p:spPr>
          <a:xfrm rot="5400000">
            <a:off x="2142332" y="1785144"/>
            <a:ext cx="857250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>
            <a:endCxn id="56" idx="1"/>
          </p:cNvCxnSpPr>
          <p:nvPr/>
        </p:nvCxnSpPr>
        <p:spPr>
          <a:xfrm>
            <a:off x="2571750" y="1357313"/>
            <a:ext cx="642938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>
            <a:off x="2428875" y="1643063"/>
            <a:ext cx="785813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 rot="5400000">
            <a:off x="2072481" y="1999457"/>
            <a:ext cx="714375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1643063" y="2357438"/>
            <a:ext cx="785812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>
            <a:off x="1643063" y="2571750"/>
            <a:ext cx="642937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>
            <a:off x="2286000" y="1928813"/>
            <a:ext cx="928688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 rot="5400000">
            <a:off x="1965325" y="2249488"/>
            <a:ext cx="642937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>
            <a:off x="2928938" y="2214563"/>
            <a:ext cx="285750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/>
          <p:nvPr/>
        </p:nvCxnSpPr>
        <p:spPr>
          <a:xfrm rot="5400000">
            <a:off x="2643982" y="2499519"/>
            <a:ext cx="571500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>
            <a:off x="1643063" y="2786063"/>
            <a:ext cx="1285875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>
            <a:off x="2786063" y="2500313"/>
            <a:ext cx="428625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/>
          <p:nvPr/>
        </p:nvCxnSpPr>
        <p:spPr>
          <a:xfrm rot="5400000">
            <a:off x="2536826" y="2749550"/>
            <a:ext cx="500062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/>
          <p:cNvCxnSpPr/>
          <p:nvPr/>
        </p:nvCxnSpPr>
        <p:spPr>
          <a:xfrm>
            <a:off x="1643063" y="3000375"/>
            <a:ext cx="1143000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/>
          <p:nvPr/>
        </p:nvCxnSpPr>
        <p:spPr>
          <a:xfrm>
            <a:off x="3071813" y="2786063"/>
            <a:ext cx="142875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rot="5400000">
            <a:off x="2858294" y="2999582"/>
            <a:ext cx="428625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/>
          <p:cNvCxnSpPr/>
          <p:nvPr/>
        </p:nvCxnSpPr>
        <p:spPr>
          <a:xfrm>
            <a:off x="1643063" y="3214688"/>
            <a:ext cx="1428750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/>
          <p:cNvCxnSpPr/>
          <p:nvPr/>
        </p:nvCxnSpPr>
        <p:spPr>
          <a:xfrm>
            <a:off x="2928938" y="3071813"/>
            <a:ext cx="280987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/>
          <p:cNvCxnSpPr/>
          <p:nvPr/>
        </p:nvCxnSpPr>
        <p:spPr>
          <a:xfrm rot="5400000">
            <a:off x="2751138" y="3249613"/>
            <a:ext cx="357187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/>
          <p:cNvCxnSpPr/>
          <p:nvPr/>
        </p:nvCxnSpPr>
        <p:spPr>
          <a:xfrm>
            <a:off x="1643063" y="3429000"/>
            <a:ext cx="1285875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/>
          <p:cNvCxnSpPr/>
          <p:nvPr/>
        </p:nvCxnSpPr>
        <p:spPr>
          <a:xfrm>
            <a:off x="2643188" y="3357563"/>
            <a:ext cx="566737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/>
          <p:cNvCxnSpPr/>
          <p:nvPr/>
        </p:nvCxnSpPr>
        <p:spPr>
          <a:xfrm rot="5400000">
            <a:off x="2501107" y="3499644"/>
            <a:ext cx="285750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/>
          <p:cNvCxnSpPr/>
          <p:nvPr/>
        </p:nvCxnSpPr>
        <p:spPr>
          <a:xfrm>
            <a:off x="1643063" y="3643313"/>
            <a:ext cx="1000125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/>
          <p:nvPr/>
        </p:nvCxnSpPr>
        <p:spPr>
          <a:xfrm>
            <a:off x="1643063" y="2214563"/>
            <a:ext cx="928687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>
            <a:off x="3786188" y="1357313"/>
            <a:ext cx="357187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/>
          <p:cNvCxnSpPr/>
          <p:nvPr/>
        </p:nvCxnSpPr>
        <p:spPr>
          <a:xfrm rot="5400000">
            <a:off x="3929856" y="1142207"/>
            <a:ext cx="428625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/>
          <p:cNvCxnSpPr/>
          <p:nvPr/>
        </p:nvCxnSpPr>
        <p:spPr>
          <a:xfrm>
            <a:off x="4143375" y="928688"/>
            <a:ext cx="357188" cy="1587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>
            <a:off x="3786188" y="1643063"/>
            <a:ext cx="642937" cy="1587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/>
          <p:nvPr/>
        </p:nvCxnSpPr>
        <p:spPr>
          <a:xfrm>
            <a:off x="3786188" y="1928813"/>
            <a:ext cx="357187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/>
          <p:cNvCxnSpPr/>
          <p:nvPr/>
        </p:nvCxnSpPr>
        <p:spPr>
          <a:xfrm rot="5400000">
            <a:off x="3858419" y="2213769"/>
            <a:ext cx="571500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/>
          <p:nvPr/>
        </p:nvCxnSpPr>
        <p:spPr>
          <a:xfrm>
            <a:off x="4143375" y="2500313"/>
            <a:ext cx="357188" cy="1587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>
            <a:off x="3786188" y="2214563"/>
            <a:ext cx="214312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/>
          <p:cNvCxnSpPr/>
          <p:nvPr/>
        </p:nvCxnSpPr>
        <p:spPr>
          <a:xfrm rot="5400000">
            <a:off x="3679825" y="2535238"/>
            <a:ext cx="642937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/>
          <p:cNvCxnSpPr/>
          <p:nvPr/>
        </p:nvCxnSpPr>
        <p:spPr>
          <a:xfrm>
            <a:off x="4000500" y="2857500"/>
            <a:ext cx="428625" cy="1588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/>
          <p:cNvCxnSpPr/>
          <p:nvPr/>
        </p:nvCxnSpPr>
        <p:spPr>
          <a:xfrm>
            <a:off x="3786188" y="2500313"/>
            <a:ext cx="285750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/>
          <p:cNvCxnSpPr/>
          <p:nvPr/>
        </p:nvCxnSpPr>
        <p:spPr>
          <a:xfrm rot="5400000">
            <a:off x="3572669" y="2999582"/>
            <a:ext cx="1000125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/>
          <p:cNvCxnSpPr/>
          <p:nvPr/>
        </p:nvCxnSpPr>
        <p:spPr>
          <a:xfrm>
            <a:off x="4071938" y="3500438"/>
            <a:ext cx="428625" cy="1587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/>
          <p:cNvCxnSpPr/>
          <p:nvPr/>
        </p:nvCxnSpPr>
        <p:spPr>
          <a:xfrm>
            <a:off x="3786188" y="2786063"/>
            <a:ext cx="142875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/>
          <p:cNvCxnSpPr/>
          <p:nvPr/>
        </p:nvCxnSpPr>
        <p:spPr>
          <a:xfrm rot="5400000">
            <a:off x="3322638" y="3392488"/>
            <a:ext cx="1214437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/>
          <p:cNvCxnSpPr/>
          <p:nvPr/>
        </p:nvCxnSpPr>
        <p:spPr>
          <a:xfrm>
            <a:off x="3929063" y="4000500"/>
            <a:ext cx="571500" cy="1588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/>
          <p:cNvCxnSpPr/>
          <p:nvPr/>
        </p:nvCxnSpPr>
        <p:spPr>
          <a:xfrm>
            <a:off x="3786188" y="3071813"/>
            <a:ext cx="428625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/>
          <p:nvPr/>
        </p:nvCxnSpPr>
        <p:spPr>
          <a:xfrm rot="5400000">
            <a:off x="3465513" y="3821113"/>
            <a:ext cx="1500187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/>
          <p:nvPr/>
        </p:nvCxnSpPr>
        <p:spPr>
          <a:xfrm>
            <a:off x="4214813" y="4572000"/>
            <a:ext cx="285750" cy="1588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/>
          <p:cNvCxnSpPr/>
          <p:nvPr/>
        </p:nvCxnSpPr>
        <p:spPr>
          <a:xfrm>
            <a:off x="3786188" y="3357563"/>
            <a:ext cx="214312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/>
          <p:cNvCxnSpPr/>
          <p:nvPr/>
        </p:nvCxnSpPr>
        <p:spPr>
          <a:xfrm rot="5400000">
            <a:off x="3286919" y="4071144"/>
            <a:ext cx="1428750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>
            <a:off x="4000500" y="4786313"/>
            <a:ext cx="500063" cy="1587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>
            <a:off x="5072063" y="1428750"/>
            <a:ext cx="357187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/>
          <p:cNvCxnSpPr/>
          <p:nvPr/>
        </p:nvCxnSpPr>
        <p:spPr>
          <a:xfrm rot="5400000">
            <a:off x="4358481" y="2499519"/>
            <a:ext cx="2143125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/>
          <p:cNvCxnSpPr>
            <a:endCxn id="64" idx="1"/>
          </p:cNvCxnSpPr>
          <p:nvPr/>
        </p:nvCxnSpPr>
        <p:spPr>
          <a:xfrm flipV="1">
            <a:off x="5429250" y="3571875"/>
            <a:ext cx="1071563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직사각형 188"/>
          <p:cNvSpPr/>
          <p:nvPr/>
        </p:nvSpPr>
        <p:spPr>
          <a:xfrm>
            <a:off x="3214688" y="1214438"/>
            <a:ext cx="571500" cy="2857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7358063" y="928688"/>
            <a:ext cx="785812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UPS</a:t>
            </a:r>
          </a:p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SYN P/L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7358063" y="1500188"/>
            <a:ext cx="571500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UPS1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8072438" y="1500188"/>
            <a:ext cx="571500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UPS2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3" name="직선 연결선 192"/>
          <p:cNvCxnSpPr/>
          <p:nvPr/>
        </p:nvCxnSpPr>
        <p:spPr>
          <a:xfrm>
            <a:off x="5072063" y="2286000"/>
            <a:ext cx="571500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/>
          <p:cNvCxnSpPr/>
          <p:nvPr/>
        </p:nvCxnSpPr>
        <p:spPr>
          <a:xfrm>
            <a:off x="5643563" y="1071563"/>
            <a:ext cx="1714500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/>
          <p:cNvCxnSpPr/>
          <p:nvPr/>
        </p:nvCxnSpPr>
        <p:spPr>
          <a:xfrm rot="5400000">
            <a:off x="5072857" y="1642269"/>
            <a:ext cx="1143000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/>
          <p:cNvCxnSpPr>
            <a:endCxn id="191" idx="0"/>
          </p:cNvCxnSpPr>
          <p:nvPr/>
        </p:nvCxnSpPr>
        <p:spPr>
          <a:xfrm rot="5400000">
            <a:off x="7501732" y="1356519"/>
            <a:ext cx="285750" cy="1587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연결선 201"/>
          <p:cNvCxnSpPr/>
          <p:nvPr/>
        </p:nvCxnSpPr>
        <p:spPr>
          <a:xfrm rot="5400000">
            <a:off x="8251031" y="1393032"/>
            <a:ext cx="214313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연결선 203"/>
          <p:cNvCxnSpPr/>
          <p:nvPr/>
        </p:nvCxnSpPr>
        <p:spPr>
          <a:xfrm>
            <a:off x="7643813" y="1303338"/>
            <a:ext cx="714375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09" name="그룹 218"/>
          <p:cNvGrpSpPr>
            <a:grpSpLocks/>
          </p:cNvGrpSpPr>
          <p:nvPr/>
        </p:nvGrpSpPr>
        <p:grpSpPr bwMode="auto">
          <a:xfrm>
            <a:off x="7429500" y="2054225"/>
            <a:ext cx="428625" cy="714375"/>
            <a:chOff x="7429520" y="2000240"/>
            <a:chExt cx="428628" cy="714380"/>
          </a:xfrm>
        </p:grpSpPr>
        <p:sp>
          <p:nvSpPr>
            <p:cNvPr id="206" name="직사각형 205"/>
            <p:cNvSpPr/>
            <p:nvPr/>
          </p:nvSpPr>
          <p:spPr>
            <a:xfrm>
              <a:off x="7429520" y="2000240"/>
              <a:ext cx="428628" cy="7143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08" name="직선 연결선 207"/>
            <p:cNvCxnSpPr/>
            <p:nvPr/>
          </p:nvCxnSpPr>
          <p:spPr>
            <a:xfrm>
              <a:off x="7572396" y="2071679"/>
              <a:ext cx="142876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 208"/>
            <p:cNvCxnSpPr/>
            <p:nvPr/>
          </p:nvCxnSpPr>
          <p:spPr>
            <a:xfrm>
              <a:off x="7512071" y="2120891"/>
              <a:ext cx="285752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직선 연결선 210"/>
            <p:cNvCxnSpPr/>
            <p:nvPr/>
          </p:nvCxnSpPr>
          <p:spPr>
            <a:xfrm>
              <a:off x="7561284" y="2165341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연결선 211"/>
            <p:cNvCxnSpPr/>
            <p:nvPr/>
          </p:nvCxnSpPr>
          <p:spPr>
            <a:xfrm>
              <a:off x="7500959" y="2214555"/>
              <a:ext cx="285752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연결선 212"/>
            <p:cNvCxnSpPr/>
            <p:nvPr/>
          </p:nvCxnSpPr>
          <p:spPr>
            <a:xfrm>
              <a:off x="7561284" y="2257417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직선 연결선 213"/>
            <p:cNvCxnSpPr/>
            <p:nvPr/>
          </p:nvCxnSpPr>
          <p:spPr>
            <a:xfrm>
              <a:off x="7500959" y="2308217"/>
              <a:ext cx="285752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 214"/>
            <p:cNvCxnSpPr/>
            <p:nvPr/>
          </p:nvCxnSpPr>
          <p:spPr>
            <a:xfrm>
              <a:off x="7561284" y="2593969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연결선 215"/>
            <p:cNvCxnSpPr/>
            <p:nvPr/>
          </p:nvCxnSpPr>
          <p:spPr>
            <a:xfrm>
              <a:off x="7500959" y="2643183"/>
              <a:ext cx="285752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직선 연결선 217"/>
            <p:cNvCxnSpPr/>
            <p:nvPr/>
          </p:nvCxnSpPr>
          <p:spPr>
            <a:xfrm rot="5400000">
              <a:off x="7500959" y="2428868"/>
              <a:ext cx="285752" cy="3175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10" name="그룹 219"/>
          <p:cNvGrpSpPr>
            <a:grpSpLocks/>
          </p:cNvGrpSpPr>
          <p:nvPr/>
        </p:nvGrpSpPr>
        <p:grpSpPr bwMode="auto">
          <a:xfrm>
            <a:off x="8143875" y="2060575"/>
            <a:ext cx="428625" cy="714375"/>
            <a:chOff x="7429520" y="2000240"/>
            <a:chExt cx="428628" cy="714380"/>
          </a:xfrm>
        </p:grpSpPr>
        <p:sp>
          <p:nvSpPr>
            <p:cNvPr id="221" name="직사각형 220"/>
            <p:cNvSpPr/>
            <p:nvPr/>
          </p:nvSpPr>
          <p:spPr>
            <a:xfrm>
              <a:off x="7429520" y="2000240"/>
              <a:ext cx="428628" cy="7143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22" name="직선 연결선 221"/>
            <p:cNvCxnSpPr/>
            <p:nvPr/>
          </p:nvCxnSpPr>
          <p:spPr>
            <a:xfrm>
              <a:off x="7572396" y="2071679"/>
              <a:ext cx="142876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/>
            <p:cNvCxnSpPr/>
            <p:nvPr/>
          </p:nvCxnSpPr>
          <p:spPr>
            <a:xfrm>
              <a:off x="7512071" y="2120891"/>
              <a:ext cx="285752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/>
            <p:cNvCxnSpPr/>
            <p:nvPr/>
          </p:nvCxnSpPr>
          <p:spPr>
            <a:xfrm>
              <a:off x="7561284" y="2165341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/>
            <p:cNvCxnSpPr/>
            <p:nvPr/>
          </p:nvCxnSpPr>
          <p:spPr>
            <a:xfrm>
              <a:off x="7500959" y="2214555"/>
              <a:ext cx="285752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/>
            <p:cNvCxnSpPr/>
            <p:nvPr/>
          </p:nvCxnSpPr>
          <p:spPr>
            <a:xfrm>
              <a:off x="7561284" y="2257417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연결선 226"/>
            <p:cNvCxnSpPr/>
            <p:nvPr/>
          </p:nvCxnSpPr>
          <p:spPr>
            <a:xfrm>
              <a:off x="7500959" y="2308217"/>
              <a:ext cx="285752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>
              <a:off x="7561284" y="2593969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직선 연결선 228"/>
            <p:cNvCxnSpPr/>
            <p:nvPr/>
          </p:nvCxnSpPr>
          <p:spPr>
            <a:xfrm>
              <a:off x="7500959" y="2643183"/>
              <a:ext cx="285752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연결선 229"/>
            <p:cNvCxnSpPr/>
            <p:nvPr/>
          </p:nvCxnSpPr>
          <p:spPr>
            <a:xfrm rot="5400000">
              <a:off x="7500959" y="2428868"/>
              <a:ext cx="285752" cy="3175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직선 연결선 240"/>
          <p:cNvCxnSpPr>
            <a:stCxn id="191" idx="2"/>
            <a:endCxn id="206" idx="0"/>
          </p:cNvCxnSpPr>
          <p:nvPr/>
        </p:nvCxnSpPr>
        <p:spPr>
          <a:xfrm rot="16200000" flipH="1">
            <a:off x="7509669" y="1920082"/>
            <a:ext cx="2682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/>
          <p:cNvCxnSpPr/>
          <p:nvPr/>
        </p:nvCxnSpPr>
        <p:spPr>
          <a:xfrm rot="16200000" flipH="1">
            <a:off x="8224044" y="1920082"/>
            <a:ext cx="2682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직선 연결선 243"/>
          <p:cNvCxnSpPr/>
          <p:nvPr/>
        </p:nvCxnSpPr>
        <p:spPr>
          <a:xfrm>
            <a:off x="5072063" y="4429125"/>
            <a:ext cx="214312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/>
          <p:cNvCxnSpPr/>
          <p:nvPr/>
        </p:nvCxnSpPr>
        <p:spPr>
          <a:xfrm rot="5400000">
            <a:off x="5001419" y="4144169"/>
            <a:ext cx="571500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연결선 246"/>
          <p:cNvCxnSpPr/>
          <p:nvPr/>
        </p:nvCxnSpPr>
        <p:spPr>
          <a:xfrm>
            <a:off x="5286375" y="3857625"/>
            <a:ext cx="1214438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직사각형 249"/>
          <p:cNvSpPr/>
          <p:nvPr/>
        </p:nvSpPr>
        <p:spPr>
          <a:xfrm>
            <a:off x="6500813" y="4643438"/>
            <a:ext cx="571500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정류반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1" name="직선 연결선 250"/>
          <p:cNvCxnSpPr/>
          <p:nvPr/>
        </p:nvCxnSpPr>
        <p:spPr>
          <a:xfrm>
            <a:off x="7072313" y="3571875"/>
            <a:ext cx="214312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/>
          <p:cNvCxnSpPr/>
          <p:nvPr/>
        </p:nvCxnSpPr>
        <p:spPr>
          <a:xfrm rot="5400000">
            <a:off x="6787356" y="4071144"/>
            <a:ext cx="1000125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직선 연결선 252"/>
          <p:cNvCxnSpPr/>
          <p:nvPr/>
        </p:nvCxnSpPr>
        <p:spPr>
          <a:xfrm>
            <a:off x="7072313" y="4572000"/>
            <a:ext cx="214312" cy="1588"/>
          </a:xfrm>
          <a:prstGeom prst="line">
            <a:avLst/>
          </a:prstGeom>
          <a:ln w="28575">
            <a:solidFill>
              <a:srgbClr val="FF000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/>
          <p:cNvCxnSpPr/>
          <p:nvPr/>
        </p:nvCxnSpPr>
        <p:spPr>
          <a:xfrm>
            <a:off x="5072063" y="2214563"/>
            <a:ext cx="571500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/>
          <p:cNvCxnSpPr/>
          <p:nvPr/>
        </p:nvCxnSpPr>
        <p:spPr>
          <a:xfrm rot="5400000">
            <a:off x="4394200" y="3535363"/>
            <a:ext cx="2500313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/>
          <p:cNvCxnSpPr/>
          <p:nvPr/>
        </p:nvCxnSpPr>
        <p:spPr>
          <a:xfrm>
            <a:off x="5643563" y="4786313"/>
            <a:ext cx="857250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모서리가 둥근 직사각형 261"/>
          <p:cNvSpPr/>
          <p:nvPr/>
        </p:nvSpPr>
        <p:spPr>
          <a:xfrm>
            <a:off x="928688" y="1000125"/>
            <a:ext cx="857250" cy="3000375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7" name="직사각형 266"/>
          <p:cNvSpPr/>
          <p:nvPr/>
        </p:nvSpPr>
        <p:spPr>
          <a:xfrm>
            <a:off x="3035300" y="5072062"/>
            <a:ext cx="893758" cy="2143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호기 기동</a:t>
            </a:r>
          </a:p>
        </p:txBody>
      </p:sp>
      <p:sp>
        <p:nvSpPr>
          <p:cNvPr id="268" name="직사각형 267"/>
          <p:cNvSpPr/>
          <p:nvPr/>
        </p:nvSpPr>
        <p:spPr>
          <a:xfrm>
            <a:off x="3035300" y="5286375"/>
            <a:ext cx="893758" cy="2143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전등</a:t>
            </a: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전열</a:t>
            </a:r>
          </a:p>
        </p:txBody>
      </p:sp>
      <p:sp>
        <p:nvSpPr>
          <p:cNvPr id="269" name="직사각형 268"/>
          <p:cNvSpPr/>
          <p:nvPr/>
        </p:nvSpPr>
        <p:spPr>
          <a:xfrm>
            <a:off x="3035300" y="5500688"/>
            <a:ext cx="893758" cy="2143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TIE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0" name="직사각형 269"/>
          <p:cNvSpPr/>
          <p:nvPr/>
        </p:nvSpPr>
        <p:spPr>
          <a:xfrm>
            <a:off x="3035300" y="5715000"/>
            <a:ext cx="893758" cy="214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비상동력</a:t>
            </a:r>
          </a:p>
        </p:txBody>
      </p:sp>
      <p:sp>
        <p:nvSpPr>
          <p:cNvPr id="271" name="직사각형 270"/>
          <p:cNvSpPr/>
          <p:nvPr/>
        </p:nvSpPr>
        <p:spPr>
          <a:xfrm>
            <a:off x="3035300" y="5929312"/>
            <a:ext cx="893758" cy="2143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호기 기동</a:t>
            </a:r>
          </a:p>
        </p:txBody>
      </p:sp>
      <p:sp>
        <p:nvSpPr>
          <p:cNvPr id="301" name="직사각형 300"/>
          <p:cNvSpPr/>
          <p:nvPr/>
        </p:nvSpPr>
        <p:spPr>
          <a:xfrm>
            <a:off x="5643563" y="4929188"/>
            <a:ext cx="428625" cy="142875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2" name="정육면체 301"/>
          <p:cNvSpPr/>
          <p:nvPr/>
        </p:nvSpPr>
        <p:spPr>
          <a:xfrm>
            <a:off x="857250" y="4286250"/>
            <a:ext cx="642938" cy="428625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331" name="TextBox 302"/>
          <p:cNvSpPr txBox="1">
            <a:spLocks noChangeArrowheads="1"/>
          </p:cNvSpPr>
          <p:nvPr/>
        </p:nvSpPr>
        <p:spPr bwMode="auto">
          <a:xfrm>
            <a:off x="1500188" y="4357688"/>
            <a:ext cx="85725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경유탱크실</a:t>
            </a:r>
          </a:p>
        </p:txBody>
      </p:sp>
      <p:sp>
        <p:nvSpPr>
          <p:cNvPr id="164" name="한쪽 모서리가 잘린 사각형 163"/>
          <p:cNvSpPr/>
          <p:nvPr/>
        </p:nvSpPr>
        <p:spPr bwMode="auto">
          <a:xfrm>
            <a:off x="0" y="285728"/>
            <a:ext cx="1952604" cy="285752"/>
          </a:xfrm>
          <a:prstGeom prst="snip1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수변전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배치도</a:t>
            </a:r>
            <a:endParaRPr kumimoji="1" lang="ko-KR" altLang="en-US" sz="1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1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3" name="그림 15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7"/>
          <p:cNvSpPr>
            <a:spLocks noChangeArrowheads="1"/>
          </p:cNvSpPr>
          <p:nvPr/>
        </p:nvSpPr>
        <p:spPr bwMode="auto">
          <a:xfrm>
            <a:off x="633413" y="5410200"/>
            <a:ext cx="8088312" cy="838200"/>
          </a:xfrm>
          <a:prstGeom prst="roundRect">
            <a:avLst>
              <a:gd name="adj" fmla="val 8500"/>
            </a:avLst>
          </a:prstGeom>
          <a:noFill/>
          <a:ln w="38100">
            <a:solidFill>
              <a:srgbClr val="C0C0C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140000"/>
              </a:lnSpc>
              <a:buFont typeface="HY울릉도L"/>
              <a:buNone/>
            </a:pPr>
            <a:r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※ ATS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부하투입 우선순위를 자동운전 계통의 순번에 따라 순차적으로 투입되게 된다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.(84T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타이머 설정시간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altLang="ko-KR" sz="1000" dirty="0">
                <a:solidFill>
                  <a:srgbClr val="3366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000" dirty="0">
                <a:solidFill>
                  <a:srgbClr val="FF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동시 투입이 될 경우 엔진에 무리가 되며</a:t>
            </a:r>
            <a:r>
              <a:rPr lang="en-US" altLang="ko-KR" sz="1000" dirty="0">
                <a:solidFill>
                  <a:srgbClr val="FF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FF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또한 출력 부족으로 엔진이 정지하게 된다</a:t>
            </a:r>
            <a:r>
              <a:rPr lang="en-US" altLang="ko-KR" sz="1000" dirty="0">
                <a:solidFill>
                  <a:srgbClr val="FF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0243" name="AutoShape 18"/>
          <p:cNvSpPr>
            <a:spLocks noChangeArrowheads="1"/>
          </p:cNvSpPr>
          <p:nvPr/>
        </p:nvSpPr>
        <p:spPr bwMode="auto">
          <a:xfrm>
            <a:off x="422275" y="2590800"/>
            <a:ext cx="1054100" cy="609600"/>
          </a:xfrm>
          <a:prstGeom prst="roundRect">
            <a:avLst>
              <a:gd name="adj" fmla="val 10255"/>
            </a:avLst>
          </a:prstGeom>
          <a:solidFill>
            <a:schemeClr val="bg1"/>
          </a:solidFill>
          <a:ln w="19050">
            <a:solidFill>
              <a:srgbClr val="FF99FF"/>
            </a:solidFill>
            <a:round/>
            <a:headEnd/>
            <a:tailEnd/>
          </a:ln>
        </p:spPr>
        <p:txBody>
          <a:bodyPr wrap="none" lIns="91418" tIns="45710" rIns="91418" bIns="45710" anchor="ctr"/>
          <a:lstStyle/>
          <a:p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44" name="Oval 19"/>
          <p:cNvSpPr>
            <a:spLocks noChangeArrowheads="1"/>
          </p:cNvSpPr>
          <p:nvPr/>
        </p:nvSpPr>
        <p:spPr bwMode="auto">
          <a:xfrm>
            <a:off x="142844" y="2743200"/>
            <a:ext cx="280987" cy="304800"/>
          </a:xfrm>
          <a:prstGeom prst="ellipse">
            <a:avLst/>
          </a:prstGeom>
          <a:noFill/>
          <a:ln w="31750">
            <a:solidFill>
              <a:srgbClr val="FF33CC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130000"/>
              </a:lnSpc>
              <a:spcAft>
                <a:spcPct val="50000"/>
              </a:spcAft>
            </a:pPr>
            <a:r>
              <a:rPr lang="en-US" altLang="ko-KR" sz="100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-윤고딕320"/>
              </a:rPr>
              <a:t>1</a:t>
            </a:r>
          </a:p>
        </p:txBody>
      </p:sp>
      <p:sp>
        <p:nvSpPr>
          <p:cNvPr id="10245" name="Rectangle 20"/>
          <p:cNvSpPr>
            <a:spLocks noChangeArrowheads="1"/>
          </p:cNvSpPr>
          <p:nvPr/>
        </p:nvSpPr>
        <p:spPr bwMode="auto">
          <a:xfrm>
            <a:off x="466725" y="2590800"/>
            <a:ext cx="91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rIns="0" anchor="ctr"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한국전력공사</a:t>
            </a:r>
          </a:p>
          <a:p>
            <a:pPr>
              <a:lnSpc>
                <a:spcPct val="9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9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000" dirty="0">
                <a:solidFill>
                  <a:srgbClr val="FF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정전</a:t>
            </a:r>
          </a:p>
        </p:txBody>
      </p:sp>
      <p:sp>
        <p:nvSpPr>
          <p:cNvPr id="10246" name="AutoShape 21"/>
          <p:cNvSpPr>
            <a:spLocks noChangeArrowheads="1"/>
          </p:cNvSpPr>
          <p:nvPr/>
        </p:nvSpPr>
        <p:spPr bwMode="auto">
          <a:xfrm>
            <a:off x="2039938" y="2590800"/>
            <a:ext cx="1055687" cy="609600"/>
          </a:xfrm>
          <a:prstGeom prst="roundRect">
            <a:avLst>
              <a:gd name="adj" fmla="val 10255"/>
            </a:avLst>
          </a:prstGeom>
          <a:solidFill>
            <a:schemeClr val="bg1"/>
          </a:solidFill>
          <a:ln w="19050">
            <a:solidFill>
              <a:srgbClr val="FF99FF"/>
            </a:solidFill>
            <a:round/>
            <a:headEnd/>
            <a:tailEnd/>
          </a:ln>
        </p:spPr>
        <p:txBody>
          <a:bodyPr wrap="none" lIns="91418" tIns="45710" rIns="91418" bIns="45710" anchor="ctr"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47" name="Oval 22"/>
          <p:cNvSpPr>
            <a:spLocks noChangeArrowheads="1"/>
          </p:cNvSpPr>
          <p:nvPr/>
        </p:nvSpPr>
        <p:spPr bwMode="auto">
          <a:xfrm>
            <a:off x="1760506" y="2743200"/>
            <a:ext cx="280988" cy="304800"/>
          </a:xfrm>
          <a:prstGeom prst="ellipse">
            <a:avLst/>
          </a:prstGeom>
          <a:noFill/>
          <a:ln w="31750">
            <a:solidFill>
              <a:srgbClr val="FF33CC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130000"/>
              </a:lnSpc>
              <a:spcAft>
                <a:spcPct val="50000"/>
              </a:spcAft>
            </a:pPr>
            <a:r>
              <a:rPr lang="en-US" altLang="ko-KR" sz="100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-윤고딕320"/>
              </a:rPr>
              <a:t>2</a:t>
            </a:r>
          </a:p>
        </p:txBody>
      </p:sp>
      <p:sp>
        <p:nvSpPr>
          <p:cNvPr id="10248" name="Rectangle 23"/>
          <p:cNvSpPr>
            <a:spLocks noChangeArrowheads="1"/>
          </p:cNvSpPr>
          <p:nvPr/>
        </p:nvSpPr>
        <p:spPr bwMode="auto">
          <a:xfrm>
            <a:off x="2085975" y="2590800"/>
            <a:ext cx="91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rIns="0" anchor="ctr"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 GIPAM-2000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부족전압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(27)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동작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(OFF)</a:t>
            </a:r>
          </a:p>
        </p:txBody>
      </p:sp>
      <p:sp>
        <p:nvSpPr>
          <p:cNvPr id="10249" name="AutoShape 24"/>
          <p:cNvSpPr>
            <a:spLocks noChangeArrowheads="1"/>
          </p:cNvSpPr>
          <p:nvPr/>
        </p:nvSpPr>
        <p:spPr bwMode="auto">
          <a:xfrm>
            <a:off x="3727450" y="2590800"/>
            <a:ext cx="1125538" cy="609600"/>
          </a:xfrm>
          <a:prstGeom prst="roundRect">
            <a:avLst>
              <a:gd name="adj" fmla="val 10255"/>
            </a:avLst>
          </a:prstGeom>
          <a:solidFill>
            <a:schemeClr val="bg1"/>
          </a:solidFill>
          <a:ln w="19050">
            <a:solidFill>
              <a:srgbClr val="FF99FF"/>
            </a:solidFill>
            <a:round/>
            <a:headEnd/>
            <a:tailEnd/>
          </a:ln>
        </p:spPr>
        <p:txBody>
          <a:bodyPr wrap="none" lIns="91418" tIns="45710" rIns="91418" bIns="45710" anchor="ctr"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50" name="Oval 25"/>
          <p:cNvSpPr>
            <a:spLocks noChangeArrowheads="1"/>
          </p:cNvSpPr>
          <p:nvPr/>
        </p:nvSpPr>
        <p:spPr bwMode="auto">
          <a:xfrm>
            <a:off x="3448019" y="2743200"/>
            <a:ext cx="282575" cy="304800"/>
          </a:xfrm>
          <a:prstGeom prst="ellipse">
            <a:avLst/>
          </a:prstGeom>
          <a:noFill/>
          <a:ln w="31750">
            <a:solidFill>
              <a:srgbClr val="FF33CC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130000"/>
              </a:lnSpc>
              <a:spcAft>
                <a:spcPct val="50000"/>
              </a:spcAft>
            </a:pPr>
            <a:r>
              <a:rPr lang="en-US" altLang="ko-KR" sz="100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-윤고딕320"/>
              </a:rPr>
              <a:t>3</a:t>
            </a:r>
          </a:p>
        </p:txBody>
      </p:sp>
      <p:sp>
        <p:nvSpPr>
          <p:cNvPr id="10251" name="Rectangle 26"/>
          <p:cNvSpPr>
            <a:spLocks noChangeArrowheads="1"/>
          </p:cNvSpPr>
          <p:nvPr/>
        </p:nvSpPr>
        <p:spPr bwMode="auto">
          <a:xfrm>
            <a:off x="3773488" y="2590800"/>
            <a:ext cx="105568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rIns="0" anchor="ctr"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 27R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접점에 의해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  자동 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START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릴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  레이 동작</a:t>
            </a:r>
          </a:p>
        </p:txBody>
      </p:sp>
      <p:sp>
        <p:nvSpPr>
          <p:cNvPr id="10252" name="AutoShape 27"/>
          <p:cNvSpPr>
            <a:spLocks noChangeArrowheads="1"/>
          </p:cNvSpPr>
          <p:nvPr/>
        </p:nvSpPr>
        <p:spPr bwMode="auto">
          <a:xfrm>
            <a:off x="5556250" y="2590800"/>
            <a:ext cx="1125538" cy="609600"/>
          </a:xfrm>
          <a:prstGeom prst="roundRect">
            <a:avLst>
              <a:gd name="adj" fmla="val 10255"/>
            </a:avLst>
          </a:prstGeom>
          <a:solidFill>
            <a:schemeClr val="bg1"/>
          </a:solidFill>
          <a:ln w="19050">
            <a:solidFill>
              <a:srgbClr val="FF99FF"/>
            </a:solidFill>
            <a:round/>
            <a:headEnd/>
            <a:tailEnd/>
          </a:ln>
        </p:spPr>
        <p:txBody>
          <a:bodyPr wrap="none" lIns="91418" tIns="45710" rIns="91418" bIns="45710" anchor="ctr"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53" name="Oval 28"/>
          <p:cNvSpPr>
            <a:spLocks noChangeArrowheads="1"/>
          </p:cNvSpPr>
          <p:nvPr/>
        </p:nvSpPr>
        <p:spPr bwMode="auto">
          <a:xfrm>
            <a:off x="5276819" y="2743200"/>
            <a:ext cx="282575" cy="304800"/>
          </a:xfrm>
          <a:prstGeom prst="ellipse">
            <a:avLst/>
          </a:prstGeom>
          <a:noFill/>
          <a:ln w="31750">
            <a:solidFill>
              <a:srgbClr val="FF33CC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130000"/>
              </a:lnSpc>
              <a:spcAft>
                <a:spcPct val="50000"/>
              </a:spcAft>
            </a:pPr>
            <a:r>
              <a:rPr lang="en-US" altLang="ko-KR" sz="100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-윤고딕320"/>
              </a:rPr>
              <a:t>4</a:t>
            </a:r>
          </a:p>
        </p:txBody>
      </p:sp>
      <p:sp>
        <p:nvSpPr>
          <p:cNvPr id="10254" name="Rectangle 29"/>
          <p:cNvSpPr>
            <a:spLocks noChangeArrowheads="1"/>
          </p:cNvSpPr>
          <p:nvPr/>
        </p:nvSpPr>
        <p:spPr bwMode="auto">
          <a:xfrm>
            <a:off x="5602288" y="2590800"/>
            <a:ext cx="105568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rIns="0" anchor="ctr"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발전기 운전</a:t>
            </a:r>
          </a:p>
          <a:p>
            <a:pPr>
              <a:lnSpc>
                <a:spcPct val="9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전압 확립</a:t>
            </a:r>
          </a:p>
        </p:txBody>
      </p:sp>
      <p:sp>
        <p:nvSpPr>
          <p:cNvPr id="10255" name="AutoShape 30"/>
          <p:cNvSpPr>
            <a:spLocks noChangeArrowheads="1"/>
          </p:cNvSpPr>
          <p:nvPr/>
        </p:nvSpPr>
        <p:spPr bwMode="auto">
          <a:xfrm>
            <a:off x="7315200" y="2590800"/>
            <a:ext cx="1195388" cy="609600"/>
          </a:xfrm>
          <a:prstGeom prst="roundRect">
            <a:avLst>
              <a:gd name="adj" fmla="val 10255"/>
            </a:avLst>
          </a:prstGeom>
          <a:solidFill>
            <a:schemeClr val="bg1"/>
          </a:solidFill>
          <a:ln w="19050">
            <a:solidFill>
              <a:srgbClr val="FF99FF"/>
            </a:solidFill>
            <a:round/>
            <a:headEnd/>
            <a:tailEnd/>
          </a:ln>
        </p:spPr>
        <p:txBody>
          <a:bodyPr wrap="none" lIns="91418" tIns="45710" rIns="91418" bIns="45710" anchor="ctr"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56" name="Oval 31"/>
          <p:cNvSpPr>
            <a:spLocks noChangeArrowheads="1"/>
          </p:cNvSpPr>
          <p:nvPr/>
        </p:nvSpPr>
        <p:spPr bwMode="auto">
          <a:xfrm>
            <a:off x="7035769" y="2743200"/>
            <a:ext cx="280987" cy="304800"/>
          </a:xfrm>
          <a:prstGeom prst="ellipse">
            <a:avLst/>
          </a:prstGeom>
          <a:noFill/>
          <a:ln w="31750">
            <a:solidFill>
              <a:srgbClr val="FF33CC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130000"/>
              </a:lnSpc>
              <a:spcAft>
                <a:spcPct val="50000"/>
              </a:spcAft>
            </a:pPr>
            <a:r>
              <a:rPr lang="en-US" altLang="ko-KR" sz="100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-윤고딕320"/>
              </a:rPr>
              <a:t>5</a:t>
            </a:r>
          </a:p>
        </p:txBody>
      </p:sp>
      <p:sp>
        <p:nvSpPr>
          <p:cNvPr id="10257" name="Rectangle 32"/>
          <p:cNvSpPr>
            <a:spLocks noChangeArrowheads="1"/>
          </p:cNvSpPr>
          <p:nvPr/>
        </p:nvSpPr>
        <p:spPr bwMode="auto">
          <a:xfrm>
            <a:off x="7361238" y="2590800"/>
            <a:ext cx="1054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rIns="0" anchor="ctr"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저압배전반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ATS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발전측으로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  자동 절체</a:t>
            </a:r>
          </a:p>
        </p:txBody>
      </p:sp>
      <p:sp>
        <p:nvSpPr>
          <p:cNvPr id="10258" name="AutoShape 33"/>
          <p:cNvSpPr>
            <a:spLocks noChangeArrowheads="1"/>
          </p:cNvSpPr>
          <p:nvPr/>
        </p:nvSpPr>
        <p:spPr bwMode="auto">
          <a:xfrm rot="-5400000">
            <a:off x="1605757" y="1916906"/>
            <a:ext cx="304800" cy="280987"/>
          </a:xfrm>
          <a:prstGeom prst="downArrow">
            <a:avLst>
              <a:gd name="adj1" fmla="val 59380"/>
              <a:gd name="adj2" fmla="val 3646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>
              <a:spcBef>
                <a:spcPct val="30000"/>
              </a:spcBef>
              <a:buSzPct val="60000"/>
              <a:buFontTx/>
              <a:buChar char="•"/>
            </a:pPr>
            <a:endParaRPr lang="ko-KR" altLang="ko-KR" sz="1600">
              <a:latin typeface="맑은 고딕" panose="020B0503020000020004" pitchFamily="50" charset="-127"/>
              <a:ea typeface="맑은 고딕" panose="020B0503020000020004" pitchFamily="50" charset="-127"/>
              <a:cs typeface="-윤고딕320"/>
            </a:endParaRPr>
          </a:p>
        </p:txBody>
      </p:sp>
      <p:sp>
        <p:nvSpPr>
          <p:cNvPr id="10259" name="AutoShape 37"/>
          <p:cNvSpPr>
            <a:spLocks noChangeArrowheads="1"/>
          </p:cNvSpPr>
          <p:nvPr/>
        </p:nvSpPr>
        <p:spPr bwMode="auto">
          <a:xfrm rot="-5400000">
            <a:off x="3153569" y="1916906"/>
            <a:ext cx="304800" cy="280988"/>
          </a:xfrm>
          <a:prstGeom prst="downArrow">
            <a:avLst>
              <a:gd name="adj1" fmla="val 59380"/>
              <a:gd name="adj2" fmla="val 3646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>
              <a:spcBef>
                <a:spcPct val="30000"/>
              </a:spcBef>
              <a:buSzPct val="60000"/>
              <a:buFontTx/>
              <a:buChar char="•"/>
            </a:pPr>
            <a:endParaRPr lang="ko-KR" altLang="ko-KR" sz="1600">
              <a:latin typeface="맑은 고딕" panose="020B0503020000020004" pitchFamily="50" charset="-127"/>
              <a:ea typeface="맑은 고딕" panose="020B0503020000020004" pitchFamily="50" charset="-127"/>
              <a:cs typeface="-윤고딕320"/>
            </a:endParaRPr>
          </a:p>
        </p:txBody>
      </p:sp>
      <p:sp>
        <p:nvSpPr>
          <p:cNvPr id="10260" name="AutoShape 38"/>
          <p:cNvSpPr>
            <a:spLocks noChangeArrowheads="1"/>
          </p:cNvSpPr>
          <p:nvPr/>
        </p:nvSpPr>
        <p:spPr bwMode="auto">
          <a:xfrm rot="-5400000">
            <a:off x="4982369" y="1916906"/>
            <a:ext cx="304800" cy="280988"/>
          </a:xfrm>
          <a:prstGeom prst="downArrow">
            <a:avLst>
              <a:gd name="adj1" fmla="val 59380"/>
              <a:gd name="adj2" fmla="val 3646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>
              <a:spcBef>
                <a:spcPct val="30000"/>
              </a:spcBef>
              <a:buSzPct val="60000"/>
              <a:buFontTx/>
              <a:buChar char="•"/>
            </a:pPr>
            <a:endParaRPr lang="ko-KR" altLang="ko-KR" sz="1600">
              <a:latin typeface="맑은 고딕" panose="020B0503020000020004" pitchFamily="50" charset="-127"/>
              <a:ea typeface="맑은 고딕" panose="020B0503020000020004" pitchFamily="50" charset="-127"/>
              <a:cs typeface="-윤고딕320"/>
            </a:endParaRPr>
          </a:p>
        </p:txBody>
      </p:sp>
      <p:sp>
        <p:nvSpPr>
          <p:cNvPr id="10261" name="AutoShape 39"/>
          <p:cNvSpPr>
            <a:spLocks noChangeArrowheads="1"/>
          </p:cNvSpPr>
          <p:nvPr/>
        </p:nvSpPr>
        <p:spPr bwMode="auto">
          <a:xfrm rot="-5400000">
            <a:off x="6951663" y="1916112"/>
            <a:ext cx="304800" cy="282575"/>
          </a:xfrm>
          <a:prstGeom prst="downArrow">
            <a:avLst>
              <a:gd name="adj1" fmla="val 59380"/>
              <a:gd name="adj2" fmla="val 3646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>
              <a:spcBef>
                <a:spcPct val="30000"/>
              </a:spcBef>
              <a:buSzPct val="60000"/>
              <a:buFontTx/>
              <a:buChar char="•"/>
            </a:pPr>
            <a:endParaRPr lang="ko-KR" altLang="ko-KR" sz="1600">
              <a:latin typeface="맑은 고딕" panose="020B0503020000020004" pitchFamily="50" charset="-127"/>
              <a:ea typeface="맑은 고딕" panose="020B0503020000020004" pitchFamily="50" charset="-127"/>
              <a:cs typeface="-윤고딕320"/>
            </a:endParaRPr>
          </a:p>
        </p:txBody>
      </p:sp>
      <p:pic>
        <p:nvPicPr>
          <p:cNvPr id="10262" name="Picture 96" descr="폐쇄배전반"/>
          <p:cNvPicPr>
            <a:picLocks noChangeAspect="1" noChangeArrowheads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1247775" y="3500438"/>
            <a:ext cx="728663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3" name="AutoShape 97"/>
          <p:cNvSpPr>
            <a:spLocks noChangeArrowheads="1"/>
          </p:cNvSpPr>
          <p:nvPr/>
        </p:nvSpPr>
        <p:spPr bwMode="auto">
          <a:xfrm>
            <a:off x="1476375" y="4495800"/>
            <a:ext cx="1196975" cy="609600"/>
          </a:xfrm>
          <a:prstGeom prst="roundRect">
            <a:avLst>
              <a:gd name="adj" fmla="val 10255"/>
            </a:avLst>
          </a:prstGeom>
          <a:solidFill>
            <a:schemeClr val="bg1"/>
          </a:solidFill>
          <a:ln w="19050">
            <a:solidFill>
              <a:srgbClr val="FF99FF"/>
            </a:solidFill>
            <a:round/>
            <a:headEnd/>
            <a:tailEnd/>
          </a:ln>
        </p:spPr>
        <p:txBody>
          <a:bodyPr wrap="none" lIns="91418" tIns="45710" rIns="91418" bIns="45710" anchor="ctr"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64" name="Oval 98"/>
          <p:cNvSpPr>
            <a:spLocks noChangeArrowheads="1"/>
          </p:cNvSpPr>
          <p:nvPr/>
        </p:nvSpPr>
        <p:spPr bwMode="auto">
          <a:xfrm>
            <a:off x="1198531" y="4648200"/>
            <a:ext cx="280988" cy="304800"/>
          </a:xfrm>
          <a:prstGeom prst="ellipse">
            <a:avLst/>
          </a:prstGeom>
          <a:noFill/>
          <a:ln w="31750">
            <a:solidFill>
              <a:srgbClr val="FF33CC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130000"/>
              </a:lnSpc>
              <a:spcAft>
                <a:spcPct val="50000"/>
              </a:spcAft>
            </a:pPr>
            <a:r>
              <a:rPr lang="en-US" altLang="ko-KR" sz="100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-윤고딕320"/>
              </a:rPr>
              <a:t>6</a:t>
            </a:r>
          </a:p>
        </p:txBody>
      </p:sp>
      <p:sp>
        <p:nvSpPr>
          <p:cNvPr id="10265" name="Rectangle 99"/>
          <p:cNvSpPr>
            <a:spLocks noChangeArrowheads="1"/>
          </p:cNvSpPr>
          <p:nvPr/>
        </p:nvSpPr>
        <p:spPr bwMode="auto">
          <a:xfrm>
            <a:off x="1552575" y="4508500"/>
            <a:ext cx="1054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rIns="0" anchor="ctr"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특고압 배전반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VCB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모두 상태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  유지됨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0266" name="AutoShape 100"/>
          <p:cNvSpPr>
            <a:spLocks noChangeArrowheads="1"/>
          </p:cNvSpPr>
          <p:nvPr/>
        </p:nvSpPr>
        <p:spPr bwMode="auto">
          <a:xfrm rot="-5400000">
            <a:off x="704851" y="3800475"/>
            <a:ext cx="304800" cy="282575"/>
          </a:xfrm>
          <a:prstGeom prst="downArrow">
            <a:avLst>
              <a:gd name="adj1" fmla="val 59380"/>
              <a:gd name="adj2" fmla="val 3646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>
              <a:spcBef>
                <a:spcPct val="30000"/>
              </a:spcBef>
              <a:buSzPct val="60000"/>
              <a:buFontTx/>
              <a:buChar char="•"/>
            </a:pPr>
            <a:endParaRPr lang="ko-KR" altLang="ko-KR" sz="1600">
              <a:latin typeface="맑은 고딕" panose="020B0503020000020004" pitchFamily="50" charset="-127"/>
              <a:ea typeface="맑은 고딕" panose="020B0503020000020004" pitchFamily="50" charset="-127"/>
              <a:cs typeface="-윤고딕320"/>
            </a:endParaRPr>
          </a:p>
        </p:txBody>
      </p:sp>
      <p:pic>
        <p:nvPicPr>
          <p:cNvPr id="10267" name="Picture 103" descr="P1010023"/>
          <p:cNvPicPr>
            <a:picLocks noChangeAspect="1" noChangeArrowheads="1"/>
          </p:cNvPicPr>
          <p:nvPr/>
        </p:nvPicPr>
        <p:blipFill>
          <a:blip r:embed="rId3" cstate="print">
            <a:lum bright="20000"/>
          </a:blip>
          <a:srcRect/>
          <a:stretch>
            <a:fillRect/>
          </a:stretch>
        </p:blipFill>
        <p:spPr bwMode="auto">
          <a:xfrm>
            <a:off x="517525" y="1484313"/>
            <a:ext cx="798513" cy="8636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</p:spPr>
      </p:pic>
      <p:pic>
        <p:nvPicPr>
          <p:cNvPr id="10268" name="Picture 104" descr="CIMG0838"/>
          <p:cNvPicPr>
            <a:picLocks noChangeAspect="1" noChangeArrowheads="1"/>
          </p:cNvPicPr>
          <p:nvPr/>
        </p:nvPicPr>
        <p:blipFill>
          <a:blip r:embed="rId4" cstate="print">
            <a:lum bright="20000"/>
          </a:blip>
          <a:srcRect/>
          <a:stretch>
            <a:fillRect/>
          </a:stretch>
        </p:blipFill>
        <p:spPr bwMode="auto">
          <a:xfrm>
            <a:off x="1979613" y="1484313"/>
            <a:ext cx="1001712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9" name="그림 105" descr="사진 065.jpg"/>
          <p:cNvPicPr>
            <a:picLocks noChangeAspect="1"/>
          </p:cNvPicPr>
          <p:nvPr/>
        </p:nvPicPr>
        <p:blipFill>
          <a:blip r:embed="rId5" cstate="print">
            <a:lum bright="20000"/>
          </a:blip>
          <a:srcRect/>
          <a:stretch>
            <a:fillRect/>
          </a:stretch>
        </p:blipFill>
        <p:spPr bwMode="auto">
          <a:xfrm>
            <a:off x="5495925" y="1571625"/>
            <a:ext cx="1317625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0" name="그림 36" descr="사진 063.jpg"/>
          <p:cNvPicPr>
            <a:picLocks noChangeAspect="1"/>
          </p:cNvPicPr>
          <p:nvPr/>
        </p:nvPicPr>
        <p:blipFill>
          <a:blip r:embed="rId6" cstate="print">
            <a:lum bright="20000"/>
          </a:blip>
          <a:srcRect/>
          <a:stretch>
            <a:fillRect/>
          </a:stretch>
        </p:blipFill>
        <p:spPr bwMode="auto">
          <a:xfrm>
            <a:off x="3648075" y="1500188"/>
            <a:ext cx="1181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1" name="Picture 104" descr="CIMG0838"/>
          <p:cNvPicPr>
            <a:picLocks noChangeAspect="1" noChangeArrowheads="1"/>
          </p:cNvPicPr>
          <p:nvPr/>
        </p:nvPicPr>
        <p:blipFill>
          <a:blip r:embed="rId7" cstate="print">
            <a:lum bright="20000"/>
          </a:blip>
          <a:srcRect/>
          <a:stretch>
            <a:fillRect/>
          </a:stretch>
        </p:blipFill>
        <p:spPr bwMode="auto">
          <a:xfrm>
            <a:off x="2066925" y="3571875"/>
            <a:ext cx="658813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3" name="그림 40" descr="사진 042.jpg"/>
          <p:cNvPicPr>
            <a:picLocks noChangeAspect="1"/>
          </p:cNvPicPr>
          <p:nvPr/>
        </p:nvPicPr>
        <p:blipFill>
          <a:blip r:embed="rId8" cstate="print">
            <a:lum bright="20000"/>
          </a:blip>
          <a:srcRect/>
          <a:stretch>
            <a:fillRect/>
          </a:stretch>
        </p:blipFill>
        <p:spPr bwMode="auto">
          <a:xfrm>
            <a:off x="7358063" y="1571625"/>
            <a:ext cx="1071562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한쪽 모서리가 잘린 사각형 37"/>
          <p:cNvSpPr/>
          <p:nvPr/>
        </p:nvSpPr>
        <p:spPr bwMode="auto">
          <a:xfrm>
            <a:off x="0" y="285728"/>
            <a:ext cx="1952604" cy="285752"/>
          </a:xfrm>
          <a:prstGeom prst="snip1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정전 시 자동운전 계통</a:t>
            </a:r>
            <a:endParaRPr kumimoji="1" lang="ko-KR" altLang="en-US" sz="1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7"/>
          <p:cNvSpPr>
            <a:spLocks noChangeArrowheads="1"/>
          </p:cNvSpPr>
          <p:nvPr/>
        </p:nvSpPr>
        <p:spPr bwMode="auto">
          <a:xfrm>
            <a:off x="633413" y="5301208"/>
            <a:ext cx="8088312" cy="947192"/>
          </a:xfrm>
          <a:prstGeom prst="roundRect">
            <a:avLst>
              <a:gd name="adj" fmla="val 8500"/>
            </a:avLst>
          </a:prstGeom>
          <a:noFill/>
          <a:ln w="38100">
            <a:solidFill>
              <a:srgbClr val="C0C0C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140000"/>
              </a:lnSpc>
              <a:buFont typeface="HY견고딕" pitchFamily="18" charset="-127"/>
              <a:buNone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※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엔진의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과열부분을 냉각시키기 위해서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10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분 이상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무부하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운전시간을 설정한다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140000"/>
              </a:lnSpc>
              <a:buFont typeface="HY견고딕" pitchFamily="18" charset="-127"/>
              <a:buNone/>
            </a:pPr>
            <a:r>
              <a:rPr lang="en-US" altLang="ko-KR" sz="1000" dirty="0">
                <a:solidFill>
                  <a:srgbClr val="3366CC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ko-KR" altLang="en-US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엔진 과열 시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엔진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내부의 냉각수 온도상승에 따른 엔진 윤활유로 작용하던 오일이 타는 현상이 발생하며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또한 엔진 냉각수 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40000"/>
              </a:lnSpc>
              <a:buFont typeface="HY견고딕" pitchFamily="18" charset="-127"/>
              <a:buNone/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온도의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안전스위치가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동작되어 엔진을 재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시동할 수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없다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1267" name="AutoShape 12"/>
          <p:cNvSpPr>
            <a:spLocks noChangeArrowheads="1"/>
          </p:cNvSpPr>
          <p:nvPr/>
        </p:nvSpPr>
        <p:spPr bwMode="auto">
          <a:xfrm>
            <a:off x="492125" y="2590800"/>
            <a:ext cx="1055688" cy="609600"/>
          </a:xfrm>
          <a:prstGeom prst="roundRect">
            <a:avLst>
              <a:gd name="adj" fmla="val 10255"/>
            </a:avLst>
          </a:prstGeom>
          <a:solidFill>
            <a:schemeClr val="bg1"/>
          </a:solidFill>
          <a:ln w="19050">
            <a:solidFill>
              <a:srgbClr val="35AFC3"/>
            </a:solidFill>
            <a:round/>
            <a:headEnd/>
            <a:tailEnd/>
          </a:ln>
        </p:spPr>
        <p:txBody>
          <a:bodyPr wrap="none" lIns="91418" tIns="45710" rIns="91418" bIns="45710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68" name="Oval 13"/>
          <p:cNvSpPr>
            <a:spLocks noChangeArrowheads="1"/>
          </p:cNvSpPr>
          <p:nvPr/>
        </p:nvSpPr>
        <p:spPr bwMode="auto">
          <a:xfrm>
            <a:off x="176182" y="2743200"/>
            <a:ext cx="280987" cy="304800"/>
          </a:xfrm>
          <a:prstGeom prst="ellipse">
            <a:avLst/>
          </a:prstGeom>
          <a:noFill/>
          <a:ln w="31750">
            <a:solidFill>
              <a:srgbClr val="35AFC3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130000"/>
              </a:lnSpc>
              <a:spcAft>
                <a:spcPct val="50000"/>
              </a:spcAft>
            </a:pPr>
            <a:r>
              <a:rPr lang="en-US" altLang="ko-KR" sz="1000" dirty="0">
                <a:solidFill>
                  <a:schemeClr val="accent2"/>
                </a:solidFill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11269" name="Rectangle 14"/>
          <p:cNvSpPr>
            <a:spLocks noChangeArrowheads="1"/>
          </p:cNvSpPr>
          <p:nvPr/>
        </p:nvSpPr>
        <p:spPr bwMode="auto">
          <a:xfrm>
            <a:off x="571472" y="2590800"/>
            <a:ext cx="91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rIns="0" anchor="ctr"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V-METER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로</a:t>
            </a:r>
          </a:p>
          <a:p>
            <a:pPr>
              <a:lnSpc>
                <a:spcPct val="90000"/>
              </a:lnSpc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 한국전력공사</a:t>
            </a:r>
          </a:p>
          <a:p>
            <a:pPr>
              <a:lnSpc>
                <a:spcPct val="90000"/>
              </a:lnSpc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1000" dirty="0" err="1">
                <a:solidFill>
                  <a:srgbClr val="0099CC"/>
                </a:solidFill>
                <a:latin typeface="맑은 고딕" pitchFamily="50" charset="-127"/>
                <a:ea typeface="맑은 고딕" pitchFamily="50" charset="-127"/>
              </a:rPr>
              <a:t>복전</a:t>
            </a:r>
            <a:r>
              <a:rPr lang="ko-KR" altLang="en-US" sz="1000" dirty="0">
                <a:solidFill>
                  <a:srgbClr val="0099CC"/>
                </a:solidFill>
                <a:latin typeface="맑은 고딕" pitchFamily="50" charset="-127"/>
                <a:ea typeface="맑은 고딕" pitchFamily="50" charset="-127"/>
              </a:rPr>
              <a:t> 확인</a:t>
            </a:r>
          </a:p>
        </p:txBody>
      </p:sp>
      <p:sp>
        <p:nvSpPr>
          <p:cNvPr id="11270" name="AutoShape 15"/>
          <p:cNvSpPr>
            <a:spLocks noChangeArrowheads="1"/>
          </p:cNvSpPr>
          <p:nvPr/>
        </p:nvSpPr>
        <p:spPr bwMode="auto">
          <a:xfrm>
            <a:off x="2109788" y="2590800"/>
            <a:ext cx="1055687" cy="609600"/>
          </a:xfrm>
          <a:prstGeom prst="roundRect">
            <a:avLst>
              <a:gd name="adj" fmla="val 10255"/>
            </a:avLst>
          </a:prstGeom>
          <a:solidFill>
            <a:schemeClr val="bg1"/>
          </a:solidFill>
          <a:ln w="19050">
            <a:solidFill>
              <a:srgbClr val="35AFC3"/>
            </a:solidFill>
            <a:round/>
            <a:headEnd/>
            <a:tailEnd/>
          </a:ln>
        </p:spPr>
        <p:txBody>
          <a:bodyPr wrap="none" lIns="91418" tIns="45710" rIns="91418" bIns="45710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71" name="Oval 16"/>
          <p:cNvSpPr>
            <a:spLocks noChangeArrowheads="1"/>
          </p:cNvSpPr>
          <p:nvPr/>
        </p:nvSpPr>
        <p:spPr bwMode="auto">
          <a:xfrm>
            <a:off x="1793844" y="2743200"/>
            <a:ext cx="282575" cy="304800"/>
          </a:xfrm>
          <a:prstGeom prst="ellipse">
            <a:avLst/>
          </a:prstGeom>
          <a:noFill/>
          <a:ln w="31750">
            <a:solidFill>
              <a:srgbClr val="35AFC3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130000"/>
              </a:lnSpc>
              <a:spcAft>
                <a:spcPct val="50000"/>
              </a:spcAft>
            </a:pPr>
            <a:r>
              <a:rPr lang="en-US" altLang="ko-KR" sz="1000">
                <a:solidFill>
                  <a:schemeClr val="accent2"/>
                </a:solidFill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11272" name="Rectangle 17"/>
          <p:cNvSpPr>
            <a:spLocks noChangeArrowheads="1"/>
          </p:cNvSpPr>
          <p:nvPr/>
        </p:nvSpPr>
        <p:spPr bwMode="auto">
          <a:xfrm>
            <a:off x="2143108" y="2590800"/>
            <a:ext cx="91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rIns="0" anchor="ctr"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GIPAM-2000</a:t>
            </a:r>
          </a:p>
          <a:p>
            <a:pPr>
              <a:lnSpc>
                <a:spcPct val="9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부족전압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(27)</a:t>
            </a:r>
          </a:p>
          <a:p>
            <a:pPr>
              <a:lnSpc>
                <a:spcPct val="9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 RESET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후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ON</a:t>
            </a:r>
          </a:p>
        </p:txBody>
      </p:sp>
      <p:sp>
        <p:nvSpPr>
          <p:cNvPr id="11273" name="AutoShape 18"/>
          <p:cNvSpPr>
            <a:spLocks noChangeArrowheads="1"/>
          </p:cNvSpPr>
          <p:nvPr/>
        </p:nvSpPr>
        <p:spPr bwMode="auto">
          <a:xfrm>
            <a:off x="3798888" y="2590800"/>
            <a:ext cx="1195387" cy="609600"/>
          </a:xfrm>
          <a:prstGeom prst="roundRect">
            <a:avLst>
              <a:gd name="adj" fmla="val 10255"/>
            </a:avLst>
          </a:prstGeom>
          <a:solidFill>
            <a:schemeClr val="bg1"/>
          </a:solidFill>
          <a:ln w="19050">
            <a:solidFill>
              <a:srgbClr val="35AFC3"/>
            </a:solidFill>
            <a:round/>
            <a:headEnd/>
            <a:tailEnd/>
          </a:ln>
        </p:spPr>
        <p:txBody>
          <a:bodyPr wrap="none" lIns="91418" tIns="45710" rIns="91418" bIns="45710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74" name="Oval 19"/>
          <p:cNvSpPr>
            <a:spLocks noChangeArrowheads="1"/>
          </p:cNvSpPr>
          <p:nvPr/>
        </p:nvSpPr>
        <p:spPr bwMode="auto">
          <a:xfrm>
            <a:off x="3482944" y="2743200"/>
            <a:ext cx="280988" cy="304800"/>
          </a:xfrm>
          <a:prstGeom prst="ellipse">
            <a:avLst/>
          </a:prstGeom>
          <a:noFill/>
          <a:ln w="31750">
            <a:solidFill>
              <a:srgbClr val="35AFC3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130000"/>
              </a:lnSpc>
              <a:spcAft>
                <a:spcPct val="50000"/>
              </a:spcAft>
            </a:pPr>
            <a:r>
              <a:rPr lang="en-US" altLang="ko-KR" sz="1000">
                <a:solidFill>
                  <a:schemeClr val="accent2"/>
                </a:solidFill>
                <a:latin typeface="맑은 고딕" pitchFamily="50" charset="-127"/>
                <a:ea typeface="맑은 고딕" pitchFamily="50" charset="-127"/>
              </a:rPr>
              <a:t>3</a:t>
            </a:r>
          </a:p>
        </p:txBody>
      </p:sp>
      <p:sp>
        <p:nvSpPr>
          <p:cNvPr id="11275" name="Rectangle 20"/>
          <p:cNvSpPr>
            <a:spLocks noChangeArrowheads="1"/>
          </p:cNvSpPr>
          <p:nvPr/>
        </p:nvSpPr>
        <p:spPr bwMode="auto">
          <a:xfrm>
            <a:off x="3938588" y="2590800"/>
            <a:ext cx="105568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rIns="0" anchor="ctr"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MAIN VCB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부터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FEEDER VCB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투입상태 유지</a:t>
            </a:r>
          </a:p>
        </p:txBody>
      </p:sp>
      <p:sp>
        <p:nvSpPr>
          <p:cNvPr id="11276" name="AutoShape 21"/>
          <p:cNvSpPr>
            <a:spLocks noChangeArrowheads="1"/>
          </p:cNvSpPr>
          <p:nvPr/>
        </p:nvSpPr>
        <p:spPr bwMode="auto">
          <a:xfrm>
            <a:off x="5627688" y="2590800"/>
            <a:ext cx="1125537" cy="609600"/>
          </a:xfrm>
          <a:prstGeom prst="roundRect">
            <a:avLst>
              <a:gd name="adj" fmla="val 10255"/>
            </a:avLst>
          </a:prstGeom>
          <a:solidFill>
            <a:schemeClr val="bg1"/>
          </a:solidFill>
          <a:ln w="19050">
            <a:solidFill>
              <a:srgbClr val="35AFC3"/>
            </a:solidFill>
            <a:round/>
            <a:headEnd/>
            <a:tailEnd/>
          </a:ln>
        </p:spPr>
        <p:txBody>
          <a:bodyPr wrap="none" lIns="91418" tIns="45710" rIns="91418" bIns="45710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77" name="Oval 22"/>
          <p:cNvSpPr>
            <a:spLocks noChangeArrowheads="1"/>
          </p:cNvSpPr>
          <p:nvPr/>
        </p:nvSpPr>
        <p:spPr bwMode="auto">
          <a:xfrm>
            <a:off x="5311744" y="2743200"/>
            <a:ext cx="280988" cy="304800"/>
          </a:xfrm>
          <a:prstGeom prst="ellipse">
            <a:avLst/>
          </a:prstGeom>
          <a:noFill/>
          <a:ln w="31750">
            <a:solidFill>
              <a:srgbClr val="35AFC3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130000"/>
              </a:lnSpc>
              <a:spcAft>
                <a:spcPct val="50000"/>
              </a:spcAft>
            </a:pPr>
            <a:r>
              <a:rPr lang="en-US" altLang="ko-KR" sz="1000">
                <a:solidFill>
                  <a:schemeClr val="accent2"/>
                </a:solidFill>
                <a:latin typeface="맑은 고딕" pitchFamily="50" charset="-127"/>
                <a:ea typeface="맑은 고딕" pitchFamily="50" charset="-127"/>
              </a:rPr>
              <a:t>4</a:t>
            </a:r>
          </a:p>
        </p:txBody>
      </p:sp>
      <p:sp>
        <p:nvSpPr>
          <p:cNvPr id="11278" name="Rectangle 23"/>
          <p:cNvSpPr>
            <a:spLocks noChangeArrowheads="1"/>
          </p:cNvSpPr>
          <p:nvPr/>
        </p:nvSpPr>
        <p:spPr bwMode="auto">
          <a:xfrm>
            <a:off x="5767388" y="2590800"/>
            <a:ext cx="105568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rIns="0" anchor="ctr"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저압배전반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ATS 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한전측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  자동절체 확인</a:t>
            </a:r>
          </a:p>
        </p:txBody>
      </p:sp>
      <p:sp>
        <p:nvSpPr>
          <p:cNvPr id="11279" name="AutoShape 24"/>
          <p:cNvSpPr>
            <a:spLocks noChangeArrowheads="1"/>
          </p:cNvSpPr>
          <p:nvPr/>
        </p:nvSpPr>
        <p:spPr bwMode="auto">
          <a:xfrm>
            <a:off x="7385050" y="2590800"/>
            <a:ext cx="1196975" cy="609600"/>
          </a:xfrm>
          <a:prstGeom prst="roundRect">
            <a:avLst>
              <a:gd name="adj" fmla="val 10255"/>
            </a:avLst>
          </a:prstGeom>
          <a:solidFill>
            <a:schemeClr val="bg1"/>
          </a:solidFill>
          <a:ln w="19050">
            <a:solidFill>
              <a:srgbClr val="35AFC3"/>
            </a:solidFill>
            <a:round/>
            <a:headEnd/>
            <a:tailEnd/>
          </a:ln>
        </p:spPr>
        <p:txBody>
          <a:bodyPr wrap="none" lIns="91418" tIns="45710" rIns="91418" bIns="45710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80" name="Oval 25"/>
          <p:cNvSpPr>
            <a:spLocks noChangeArrowheads="1"/>
          </p:cNvSpPr>
          <p:nvPr/>
        </p:nvSpPr>
        <p:spPr bwMode="auto">
          <a:xfrm>
            <a:off x="7069107" y="2743200"/>
            <a:ext cx="282575" cy="304800"/>
          </a:xfrm>
          <a:prstGeom prst="ellipse">
            <a:avLst/>
          </a:prstGeom>
          <a:noFill/>
          <a:ln w="31750">
            <a:solidFill>
              <a:srgbClr val="35AFC3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130000"/>
              </a:lnSpc>
              <a:spcAft>
                <a:spcPct val="50000"/>
              </a:spcAft>
            </a:pPr>
            <a:r>
              <a:rPr lang="en-US" altLang="ko-KR" sz="1000">
                <a:solidFill>
                  <a:schemeClr val="accent2"/>
                </a:solidFill>
                <a:latin typeface="맑은 고딕" pitchFamily="50" charset="-127"/>
                <a:ea typeface="맑은 고딕" pitchFamily="50" charset="-127"/>
              </a:rPr>
              <a:t>5</a:t>
            </a:r>
          </a:p>
        </p:txBody>
      </p:sp>
      <p:sp>
        <p:nvSpPr>
          <p:cNvPr id="11281" name="Rectangle 26"/>
          <p:cNvSpPr>
            <a:spLocks noChangeArrowheads="1"/>
          </p:cNvSpPr>
          <p:nvPr/>
        </p:nvSpPr>
        <p:spPr bwMode="auto">
          <a:xfrm>
            <a:off x="7429520" y="2590800"/>
            <a:ext cx="105568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rIns="0" anchor="ctr"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27R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소자로</a:t>
            </a:r>
          </a:p>
          <a:p>
            <a:pPr>
              <a:lnSpc>
                <a:spcPct val="90000"/>
              </a:lnSpc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T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초후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발전기용</a:t>
            </a:r>
          </a:p>
          <a:p>
            <a:pPr>
              <a:lnSpc>
                <a:spcPct val="90000"/>
              </a:lnSpc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ACB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자동차단</a:t>
            </a:r>
          </a:p>
        </p:txBody>
      </p:sp>
      <p:sp>
        <p:nvSpPr>
          <p:cNvPr id="11282" name="AutoShape 27"/>
          <p:cNvSpPr>
            <a:spLocks noChangeArrowheads="1"/>
          </p:cNvSpPr>
          <p:nvPr/>
        </p:nvSpPr>
        <p:spPr bwMode="auto">
          <a:xfrm rot="-5400000">
            <a:off x="1676401" y="1916112"/>
            <a:ext cx="304800" cy="282575"/>
          </a:xfrm>
          <a:prstGeom prst="downArrow">
            <a:avLst>
              <a:gd name="adj1" fmla="val 59380"/>
              <a:gd name="adj2" fmla="val 3646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>
              <a:spcBef>
                <a:spcPct val="30000"/>
              </a:spcBef>
              <a:buSzPct val="60000"/>
              <a:buFontTx/>
              <a:buChar char="•"/>
            </a:pPr>
            <a:endParaRPr lang="ko-KR" altLang="ko-KR" sz="1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83" name="AutoShape 28"/>
          <p:cNvSpPr>
            <a:spLocks noChangeArrowheads="1"/>
          </p:cNvSpPr>
          <p:nvPr/>
        </p:nvSpPr>
        <p:spPr bwMode="auto">
          <a:xfrm rot="-5400000">
            <a:off x="3175794" y="1916906"/>
            <a:ext cx="304800" cy="280988"/>
          </a:xfrm>
          <a:prstGeom prst="downArrow">
            <a:avLst>
              <a:gd name="adj1" fmla="val 59380"/>
              <a:gd name="adj2" fmla="val 3646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>
              <a:spcBef>
                <a:spcPct val="30000"/>
              </a:spcBef>
              <a:buSzPct val="60000"/>
              <a:buFontTx/>
              <a:buChar char="•"/>
            </a:pPr>
            <a:endParaRPr lang="ko-KR" altLang="ko-KR" sz="1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84" name="AutoShape 29"/>
          <p:cNvSpPr>
            <a:spLocks noChangeArrowheads="1"/>
          </p:cNvSpPr>
          <p:nvPr/>
        </p:nvSpPr>
        <p:spPr bwMode="auto">
          <a:xfrm rot="-5400000">
            <a:off x="5143202" y="1928019"/>
            <a:ext cx="304800" cy="280987"/>
          </a:xfrm>
          <a:prstGeom prst="downArrow">
            <a:avLst>
              <a:gd name="adj1" fmla="val 59380"/>
              <a:gd name="adj2" fmla="val 3646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>
              <a:spcBef>
                <a:spcPct val="30000"/>
              </a:spcBef>
              <a:buSzPct val="60000"/>
              <a:buFontTx/>
              <a:buChar char="•"/>
            </a:pPr>
            <a:endParaRPr lang="ko-KR" altLang="ko-KR" sz="1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85" name="AutoShape 30"/>
          <p:cNvSpPr>
            <a:spLocks noChangeArrowheads="1"/>
          </p:cNvSpPr>
          <p:nvPr/>
        </p:nvSpPr>
        <p:spPr bwMode="auto">
          <a:xfrm rot="-5400000">
            <a:off x="6941393" y="1916906"/>
            <a:ext cx="304800" cy="280988"/>
          </a:xfrm>
          <a:prstGeom prst="downArrow">
            <a:avLst>
              <a:gd name="adj1" fmla="val 59380"/>
              <a:gd name="adj2" fmla="val 3646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>
              <a:spcBef>
                <a:spcPct val="30000"/>
              </a:spcBef>
              <a:buSzPct val="60000"/>
              <a:buFontTx/>
              <a:buChar char="•"/>
            </a:pPr>
            <a:endParaRPr lang="ko-KR" altLang="ko-KR" sz="160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286" name="Picture 31" descr="폐쇄배전반"/>
          <p:cNvPicPr>
            <a:picLocks noChangeAspect="1" noChangeArrowheads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3648323" y="1588021"/>
            <a:ext cx="728663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87" name="AutoShape 32"/>
          <p:cNvSpPr>
            <a:spLocks noChangeArrowheads="1"/>
          </p:cNvSpPr>
          <p:nvPr/>
        </p:nvSpPr>
        <p:spPr bwMode="auto">
          <a:xfrm>
            <a:off x="1502817" y="4495800"/>
            <a:ext cx="1196975" cy="609600"/>
          </a:xfrm>
          <a:prstGeom prst="roundRect">
            <a:avLst>
              <a:gd name="adj" fmla="val 10255"/>
            </a:avLst>
          </a:prstGeom>
          <a:solidFill>
            <a:schemeClr val="bg1"/>
          </a:solidFill>
          <a:ln w="19050">
            <a:solidFill>
              <a:srgbClr val="35AFC3"/>
            </a:solidFill>
            <a:round/>
            <a:headEnd/>
            <a:tailEnd/>
          </a:ln>
        </p:spPr>
        <p:txBody>
          <a:bodyPr wrap="none" lIns="91418" tIns="45710" rIns="91418" bIns="45710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88" name="Oval 33"/>
          <p:cNvSpPr>
            <a:spLocks noChangeArrowheads="1"/>
          </p:cNvSpPr>
          <p:nvPr/>
        </p:nvSpPr>
        <p:spPr bwMode="auto">
          <a:xfrm>
            <a:off x="1200119" y="4648200"/>
            <a:ext cx="280988" cy="304800"/>
          </a:xfrm>
          <a:prstGeom prst="ellipse">
            <a:avLst/>
          </a:prstGeom>
          <a:noFill/>
          <a:ln w="31750">
            <a:solidFill>
              <a:srgbClr val="35AFC3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130000"/>
              </a:lnSpc>
              <a:spcAft>
                <a:spcPct val="50000"/>
              </a:spcAft>
            </a:pPr>
            <a:r>
              <a:rPr lang="en-US" altLang="ko-KR" sz="1000" dirty="0">
                <a:solidFill>
                  <a:schemeClr val="accent2"/>
                </a:solidFill>
                <a:latin typeface="맑은 고딕" pitchFamily="50" charset="-127"/>
                <a:ea typeface="맑은 고딕" pitchFamily="50" charset="-127"/>
              </a:rPr>
              <a:t>6</a:t>
            </a:r>
          </a:p>
        </p:txBody>
      </p:sp>
      <p:sp>
        <p:nvSpPr>
          <p:cNvPr id="11289" name="Rectangle 34"/>
          <p:cNvSpPr>
            <a:spLocks noChangeArrowheads="1"/>
          </p:cNvSpPr>
          <p:nvPr/>
        </p:nvSpPr>
        <p:spPr bwMode="auto">
          <a:xfrm>
            <a:off x="1540930" y="4495800"/>
            <a:ext cx="116838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rIns="0" anchor="ctr"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ACB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차단 후</a:t>
            </a:r>
          </a:p>
          <a:p>
            <a:pPr>
              <a:lnSpc>
                <a:spcPct val="90000"/>
              </a:lnSpc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 워밍업 타이머에</a:t>
            </a:r>
          </a:p>
          <a:p>
            <a:pPr>
              <a:lnSpc>
                <a:spcPct val="90000"/>
              </a:lnSpc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 의해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T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초후</a:t>
            </a:r>
            <a:endParaRPr lang="ko-KR" altLang="en-US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90000"/>
              </a:lnSpc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 자동 엔진정지</a:t>
            </a:r>
          </a:p>
        </p:txBody>
      </p:sp>
      <p:sp>
        <p:nvSpPr>
          <p:cNvPr id="11290" name="AutoShape 35"/>
          <p:cNvSpPr>
            <a:spLocks noChangeArrowheads="1"/>
          </p:cNvSpPr>
          <p:nvPr/>
        </p:nvSpPr>
        <p:spPr bwMode="auto">
          <a:xfrm rot="-5400000">
            <a:off x="1043782" y="3821906"/>
            <a:ext cx="304800" cy="280987"/>
          </a:xfrm>
          <a:prstGeom prst="downArrow">
            <a:avLst>
              <a:gd name="adj1" fmla="val 59380"/>
              <a:gd name="adj2" fmla="val 3646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>
              <a:spcBef>
                <a:spcPct val="30000"/>
              </a:spcBef>
              <a:buSzPct val="60000"/>
              <a:buFontTx/>
              <a:buChar char="•"/>
            </a:pPr>
            <a:endParaRPr lang="ko-KR" altLang="ko-KR" sz="160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291" name="Picture 38" descr="P1010023"/>
          <p:cNvPicPr>
            <a:picLocks noChangeAspect="1" noChangeArrowheads="1"/>
          </p:cNvPicPr>
          <p:nvPr/>
        </p:nvPicPr>
        <p:blipFill>
          <a:blip r:embed="rId3" cstate="print">
            <a:lum bright="20000"/>
          </a:blip>
          <a:srcRect/>
          <a:stretch>
            <a:fillRect/>
          </a:stretch>
        </p:blipFill>
        <p:spPr bwMode="auto">
          <a:xfrm>
            <a:off x="611560" y="1629296"/>
            <a:ext cx="798513" cy="8636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</p:spPr>
      </p:pic>
      <p:pic>
        <p:nvPicPr>
          <p:cNvPr id="11292" name="Picture 39" descr="CIMG0838"/>
          <p:cNvPicPr>
            <a:picLocks noChangeAspect="1" noChangeArrowheads="1"/>
          </p:cNvPicPr>
          <p:nvPr/>
        </p:nvPicPr>
        <p:blipFill>
          <a:blip r:embed="rId4" cstate="print">
            <a:lum bright="20000"/>
          </a:blip>
          <a:srcRect/>
          <a:stretch>
            <a:fillRect/>
          </a:stretch>
        </p:blipFill>
        <p:spPr bwMode="auto">
          <a:xfrm>
            <a:off x="2099345" y="1530871"/>
            <a:ext cx="1001712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93" name="그림 105" descr="사진 065.jpg"/>
          <p:cNvPicPr>
            <a:picLocks noChangeAspect="1"/>
          </p:cNvPicPr>
          <p:nvPr/>
        </p:nvPicPr>
        <p:blipFill>
          <a:blip r:embed="rId5" cstate="print">
            <a:lum bright="20000"/>
          </a:blip>
          <a:srcRect/>
          <a:stretch>
            <a:fillRect/>
          </a:stretch>
        </p:blipFill>
        <p:spPr bwMode="auto">
          <a:xfrm>
            <a:off x="1406525" y="3571875"/>
            <a:ext cx="131921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94" name="그림 36" descr="사진 063.jpg"/>
          <p:cNvPicPr>
            <a:picLocks noChangeAspect="1"/>
          </p:cNvPicPr>
          <p:nvPr/>
        </p:nvPicPr>
        <p:blipFill>
          <a:blip r:embed="rId6" cstate="print">
            <a:lum bright="20000"/>
          </a:blip>
          <a:srcRect/>
          <a:stretch>
            <a:fillRect/>
          </a:stretch>
        </p:blipFill>
        <p:spPr bwMode="auto">
          <a:xfrm>
            <a:off x="7407275" y="1571625"/>
            <a:ext cx="1179513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95" name="Picture 39" descr="CIMG0838"/>
          <p:cNvPicPr>
            <a:picLocks noChangeAspect="1" noChangeArrowheads="1"/>
          </p:cNvPicPr>
          <p:nvPr/>
        </p:nvPicPr>
        <p:blipFill>
          <a:blip r:embed="rId7" cstate="print">
            <a:lum bright="20000"/>
          </a:blip>
          <a:srcRect/>
          <a:stretch>
            <a:fillRect/>
          </a:stretch>
        </p:blipFill>
        <p:spPr bwMode="auto">
          <a:xfrm>
            <a:off x="4448423" y="1603896"/>
            <a:ext cx="52705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97" name="그림 40" descr="사진 042.jpg"/>
          <p:cNvPicPr>
            <a:picLocks noChangeAspect="1"/>
          </p:cNvPicPr>
          <p:nvPr/>
        </p:nvPicPr>
        <p:blipFill>
          <a:blip r:embed="rId8" cstate="print">
            <a:lum bright="20000"/>
          </a:blip>
          <a:srcRect/>
          <a:stretch>
            <a:fillRect/>
          </a:stretch>
        </p:blipFill>
        <p:spPr bwMode="auto">
          <a:xfrm>
            <a:off x="5580112" y="1635646"/>
            <a:ext cx="1214437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한쪽 모서리가 잘린 사각형 37"/>
          <p:cNvSpPr/>
          <p:nvPr/>
        </p:nvSpPr>
        <p:spPr bwMode="auto">
          <a:xfrm>
            <a:off x="0" y="285728"/>
            <a:ext cx="1952604" cy="285752"/>
          </a:xfrm>
          <a:prstGeom prst="snip1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복전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시 자동운전 계통</a:t>
            </a:r>
            <a:endParaRPr kumimoji="1" lang="ko-KR" altLang="en-US" sz="1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1690</TotalTime>
  <Words>499</Words>
  <Application>Microsoft Office PowerPoint</Application>
  <PresentationFormat>화면 슬라이드 쇼(4:3)</PresentationFormat>
  <Paragraphs>179</Paragraphs>
  <Slides>7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shinsegae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shinsegae</dc:creator>
  <cp:lastModifiedBy>user</cp:lastModifiedBy>
  <cp:revision>121</cp:revision>
  <cp:lastPrinted>2015-07-28T05:54:49Z</cp:lastPrinted>
  <dcterms:created xsi:type="dcterms:W3CDTF">2006-11-20T02:30:17Z</dcterms:created>
  <dcterms:modified xsi:type="dcterms:W3CDTF">2015-07-28T09:22:36Z</dcterms:modified>
</cp:coreProperties>
</file>